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30275213" cy="42803763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0" d="100"/>
          <a:sy n="50" d="100"/>
        </p:scale>
        <p:origin x="24" y="-708"/>
      </p:cViewPr>
      <p:guideLst>
        <p:guide pos="9536"/>
        <p:guide pos="13482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22775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156113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15.04.2025</a:t>
            </a:fld>
            <a:endParaRPr lang="ru-RU"/>
          </a:p>
        </p:txBody>
      </p:sp>
      <p:sp>
        <p:nvSpPr>
          <p:cNvPr id="1933803571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423688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65027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7577501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11612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338388" y="1143000"/>
            <a:ext cx="2181225" cy="3086100"/>
          </a:xfrm>
        </p:spPr>
      </p:sp>
      <p:sp>
        <p:nvSpPr>
          <p:cNvPr id="766339960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92623987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18102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3784500" y="7005194"/>
            <a:ext cx="22707000" cy="14902133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7148260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3784500" y="22482011"/>
            <a:ext cx="22707000" cy="1033438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204431855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146490157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3192366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707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6623727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5100746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52402124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3123755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474984" name="Заголовок 1"/>
          <p:cNvSpPr>
            <a:spLocks noGrp="1"/>
          </p:cNvSpPr>
          <p:nvPr>
            <p:ph type="title"/>
          </p:nvPr>
        </p:nvSpPr>
        <p:spPr bwMode="auto">
          <a:xfrm>
            <a:off x="2065706" y="10671278"/>
            <a:ext cx="26113050" cy="17805271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38531012" name="Текст 2"/>
          <p:cNvSpPr>
            <a:spLocks noGrp="1"/>
          </p:cNvSpPr>
          <p:nvPr>
            <p:ph type="body" idx="1"/>
          </p:nvPr>
        </p:nvSpPr>
        <p:spPr bwMode="auto">
          <a:xfrm>
            <a:off x="2065706" y="28644994"/>
            <a:ext cx="26113050" cy="93633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025556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201293032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7816207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2110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46793442" name="Объект 2"/>
          <p:cNvSpPr>
            <a:spLocks noGrp="1"/>
          </p:cNvSpPr>
          <p:nvPr>
            <p:ph sz="half" idx="1"/>
          </p:nvPr>
        </p:nvSpPr>
        <p:spPr bwMode="auto">
          <a:xfrm>
            <a:off x="2081475" y="11394583"/>
            <a:ext cx="12867299" cy="2715874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89554650" name="Объект 3"/>
          <p:cNvSpPr>
            <a:spLocks noGrp="1"/>
          </p:cNvSpPr>
          <p:nvPr>
            <p:ph sz="half" idx="2"/>
          </p:nvPr>
        </p:nvSpPr>
        <p:spPr bwMode="auto">
          <a:xfrm>
            <a:off x="15327224" y="11394583"/>
            <a:ext cx="12867299" cy="2715874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7820407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174210333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3520159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948613" name="Заголовок 1"/>
          <p:cNvSpPr>
            <a:spLocks noGrp="1"/>
          </p:cNvSpPr>
          <p:nvPr>
            <p:ph type="title"/>
          </p:nvPr>
        </p:nvSpPr>
        <p:spPr bwMode="auto">
          <a:xfrm>
            <a:off x="2085418" y="2278916"/>
            <a:ext cx="26113050" cy="8273461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71583239" name="Текст 2"/>
          <p:cNvSpPr>
            <a:spLocks noGrp="1"/>
          </p:cNvSpPr>
          <p:nvPr>
            <p:ph type="body" idx="1"/>
          </p:nvPr>
        </p:nvSpPr>
        <p:spPr bwMode="auto">
          <a:xfrm>
            <a:off x="2085418" y="10492928"/>
            <a:ext cx="12808165" cy="51424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57975346" name="Объект 3"/>
          <p:cNvSpPr>
            <a:spLocks noGrp="1"/>
          </p:cNvSpPr>
          <p:nvPr>
            <p:ph sz="half" idx="2"/>
          </p:nvPr>
        </p:nvSpPr>
        <p:spPr bwMode="auto">
          <a:xfrm>
            <a:off x="2085418" y="15635349"/>
            <a:ext cx="12808165" cy="2299724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628629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15327224" y="10492928"/>
            <a:ext cx="12871243" cy="51424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8897965" name="Объект 5"/>
          <p:cNvSpPr>
            <a:spLocks noGrp="1"/>
          </p:cNvSpPr>
          <p:nvPr>
            <p:ph sz="quarter" idx="4"/>
          </p:nvPr>
        </p:nvSpPr>
        <p:spPr bwMode="auto">
          <a:xfrm>
            <a:off x="15327224" y="15635349"/>
            <a:ext cx="12871243" cy="2299724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7722342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14355196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7440856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2910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4627244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483349655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4614339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709641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205670573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2389474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28330" name="Заголовок 1"/>
          <p:cNvSpPr>
            <a:spLocks noGrp="1"/>
          </p:cNvSpPr>
          <p:nvPr>
            <p:ph type="title"/>
          </p:nvPr>
        </p:nvSpPr>
        <p:spPr bwMode="auto">
          <a:xfrm>
            <a:off x="2085418" y="2853600"/>
            <a:ext cx="9764797" cy="99876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22236255" name="Объект 2"/>
          <p:cNvSpPr>
            <a:spLocks noGrp="1"/>
          </p:cNvSpPr>
          <p:nvPr>
            <p:ph idx="1"/>
          </p:nvPr>
        </p:nvSpPr>
        <p:spPr bwMode="auto">
          <a:xfrm>
            <a:off x="12871243" y="6162983"/>
            <a:ext cx="15327224" cy="30418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992305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085418" y="12841200"/>
            <a:ext cx="9764797" cy="237899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625113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177805068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74460323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069" name="Заголовок 1"/>
          <p:cNvSpPr>
            <a:spLocks noGrp="1"/>
          </p:cNvSpPr>
          <p:nvPr>
            <p:ph type="title"/>
          </p:nvPr>
        </p:nvSpPr>
        <p:spPr bwMode="auto">
          <a:xfrm>
            <a:off x="2085418" y="2853600"/>
            <a:ext cx="9764797" cy="99876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586929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12871243" y="6162983"/>
            <a:ext cx="15327224" cy="3041858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/>
          </a:p>
        </p:txBody>
      </p:sp>
      <p:sp>
        <p:nvSpPr>
          <p:cNvPr id="24036757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085418" y="12841200"/>
            <a:ext cx="9764797" cy="237899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5080413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184611135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8654030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2270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4742138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0542164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423013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7690130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880991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21666262" y="2278916"/>
            <a:ext cx="6528262" cy="36274411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72719710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2081475" y="2278916"/>
            <a:ext cx="19206337" cy="36274411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7411908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98358587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1368947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588853" name="Заголовок 1"/>
          <p:cNvSpPr>
            <a:spLocks noGrp="1"/>
          </p:cNvSpPr>
          <p:nvPr>
            <p:ph type="title"/>
          </p:nvPr>
        </p:nvSpPr>
        <p:spPr bwMode="auto">
          <a:xfrm>
            <a:off x="2081475" y="2278916"/>
            <a:ext cx="26113050" cy="8273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7607557" name="Текст 2"/>
          <p:cNvSpPr>
            <a:spLocks noGrp="1"/>
          </p:cNvSpPr>
          <p:nvPr>
            <p:ph type="body" idx="1"/>
          </p:nvPr>
        </p:nvSpPr>
        <p:spPr bwMode="auto">
          <a:xfrm>
            <a:off x="2081475" y="11394583"/>
            <a:ext cx="26113050" cy="27158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684002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2081475" y="39672966"/>
            <a:ext cx="6812100" cy="2278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15.04.2025</a:t>
            </a:fld>
            <a:endParaRPr lang="ru-RU"/>
          </a:p>
        </p:txBody>
      </p:sp>
      <p:sp>
        <p:nvSpPr>
          <p:cNvPr id="61912639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0028925" y="39672966"/>
            <a:ext cx="10218150" cy="2278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9887252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1382425" y="39672966"/>
            <a:ext cx="6812100" cy="2278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507007" name="Рисунок 86224122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784001" y="41197315"/>
            <a:ext cx="5719747" cy="1455679"/>
          </a:xfrm>
          <a:prstGeom prst="rect">
            <a:avLst/>
          </a:prstGeom>
        </p:spPr>
      </p:pic>
      <p:sp>
        <p:nvSpPr>
          <p:cNvPr id="366022879" name="TextBox 1892377531"/>
          <p:cNvSpPr txBox="1"/>
          <p:nvPr/>
        </p:nvSpPr>
        <p:spPr bwMode="auto">
          <a:xfrm>
            <a:off x="1097033" y="288084"/>
            <a:ext cx="28082853" cy="3139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10000" i="0">
                <a:solidFill>
                  <a:srgbClr val="000080"/>
                </a:solidFill>
                <a:latin typeface="Times New Roman"/>
                <a:cs typeface="Times New Roman"/>
              </a:rPr>
              <a:t>Создание </a:t>
            </a:r>
            <a:r>
              <a:rPr lang="ru-RU" sz="10000" i="0">
                <a:solidFill>
                  <a:srgbClr val="000080"/>
                </a:solidFill>
                <a:latin typeface="Times New Roman"/>
                <a:cs typeface="Times New Roman"/>
              </a:rPr>
              <a:t>децентрализованной сети на основе </a:t>
            </a:r>
            <a:br>
              <a:rPr lang="ru-RU" sz="10000" i="0">
                <a:solidFill>
                  <a:srgbClr val="000080"/>
                </a:solidFill>
                <a:latin typeface="Times New Roman"/>
                <a:cs typeface="Times New Roman"/>
              </a:rPr>
            </a:br>
            <a:r>
              <a:rPr lang="en-US" sz="10000" i="0">
                <a:solidFill>
                  <a:srgbClr val="000080"/>
                </a:solidFill>
                <a:latin typeface="Times New Roman"/>
                <a:cs typeface="Times New Roman"/>
              </a:rPr>
              <a:t>IPv6 </a:t>
            </a:r>
            <a:r>
              <a:rPr lang="ru-RU" sz="10000" i="0">
                <a:solidFill>
                  <a:srgbClr val="000080"/>
                </a:solidFill>
                <a:latin typeface="Times New Roman"/>
                <a:cs typeface="Times New Roman"/>
              </a:rPr>
              <a:t>и концепциях </a:t>
            </a:r>
            <a:r>
              <a:rPr lang="en-US" sz="10000" i="0">
                <a:solidFill>
                  <a:srgbClr val="000080"/>
                </a:solidFill>
                <a:latin typeface="Times New Roman"/>
                <a:cs typeface="Times New Roman"/>
              </a:rPr>
              <a:t>Web3</a:t>
            </a:r>
            <a:endParaRPr sz="10000" i="0">
              <a:solidFill>
                <a:srgbClr val="000080"/>
              </a:solidFill>
              <a:latin typeface="Times New Roman"/>
              <a:cs typeface="Times New Roman"/>
            </a:endParaRPr>
          </a:p>
        </p:txBody>
      </p:sp>
      <p:sp>
        <p:nvSpPr>
          <p:cNvPr id="1655651620" name="TextBox 269432276"/>
          <p:cNvSpPr txBox="1"/>
          <p:nvPr/>
        </p:nvSpPr>
        <p:spPr bwMode="auto">
          <a:xfrm flipH="0" flipV="0">
            <a:off x="414153" y="3284035"/>
            <a:ext cx="14725786" cy="187272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4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Актуальность и проблема</a:t>
            </a:r>
            <a:endParaRPr sz="4800" b="1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sz="3600" b="1">
                <a:solidFill>
                  <a:srgbClr val="3B5C7E"/>
                </a:solidFill>
                <a:latin typeface="Times New Roman"/>
                <a:ea typeface="Times New Roman"/>
                <a:cs typeface="Times New Roman"/>
              </a:rPr>
              <a:t>Современные сетевые сервисы зависят от: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sz="3600" b="0">
                <a:latin typeface="Times New Roman"/>
                <a:ea typeface="Times New Roman"/>
                <a:cs typeface="Times New Roman"/>
              </a:rPr>
              <a:t>Централизованных серверов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 b="0">
                <a:latin typeface="Times New Roman"/>
                <a:ea typeface="Times New Roman"/>
                <a:cs typeface="Times New Roman"/>
              </a:rPr>
              <a:t>NAT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и прокси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Нестабильной адресации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Доверия к посредникам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6" indent="-482136">
              <a:buFont typeface="Arial"/>
              <a:buChar char="•"/>
              <a:defRPr/>
            </a:pP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00000"/>
              </a:lnSpc>
              <a:defRPr/>
            </a:pPr>
            <a:r>
              <a:rPr lang="ru-RU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Почему это критично?</a:t>
            </a:r>
            <a:br>
              <a:rPr lang="ru-RU" sz="3600" b="0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Проблемы данных: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Данные концентрируются у компаний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Пользователи </a:t>
            </a:r>
            <a:r>
              <a:rPr lang="ru-RU" sz="3600" b="0" i="1">
                <a:latin typeface="Times New Roman"/>
                <a:ea typeface="Times New Roman"/>
                <a:cs typeface="Times New Roman"/>
              </a:rPr>
              <a:t>не контралируют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, где</a:t>
            </a:r>
            <a:r>
              <a:rPr lang="en-US" sz="3600" b="0">
                <a:latin typeface="Times New Roman"/>
                <a:ea typeface="Times New Roman"/>
                <a:cs typeface="Times New Roman"/>
              </a:rPr>
              <a:t>/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как их информация используется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Утечки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 персональных данных и мошеннечество - </a:t>
            </a:r>
            <a:r>
              <a:rPr lang="ru-RU" sz="3600" b="0" i="1">
                <a:latin typeface="Times New Roman"/>
                <a:ea typeface="Times New Roman"/>
                <a:cs typeface="Times New Roman"/>
              </a:rPr>
              <a:t>массовое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явления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14999"/>
              </a:lnSpc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Централизированные узлы - </a:t>
            </a:r>
            <a:r>
              <a:rPr lang="ru-RU" sz="3600" b="0" i="1">
                <a:latin typeface="Times New Roman"/>
                <a:ea typeface="Times New Roman"/>
                <a:cs typeface="Times New Roman"/>
              </a:rPr>
              <a:t>удобная цель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для атаки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ru-RU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Ограничения сетевой инфраструктуры: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Требует доверия к посредникам, которые могут быть скомпроментированы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Плохо масштабируется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ru-RU" sz="4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Что такое </a:t>
            </a:r>
            <a:r>
              <a:rPr lang="en-US" sz="4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Web3?</a:t>
            </a:r>
            <a:endParaRPr lang="en-US" sz="4800" b="1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00000"/>
              </a:lnSpc>
              <a:defRPr/>
            </a:pPr>
            <a:r>
              <a:rPr lang="en-US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Web3</a:t>
            </a:r>
            <a:r>
              <a:rPr lang="en-US" sz="3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- </a:t>
            </a:r>
            <a:r>
              <a:rPr lang="en-US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</a:t>
            </a:r>
            <a:r>
              <a:rPr lang="ru-RU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е </a:t>
            </a:r>
            <a:r>
              <a:rPr lang="en-US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lang="ru-RU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криптовалюта</a:t>
            </a:r>
            <a:r>
              <a:rPr lang="en-US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lang="ru-RU" sz="3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36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</a:t>
            </a:r>
            <a:r>
              <a:rPr lang="ru-RU" sz="3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концепция </a:t>
            </a:r>
            <a:r>
              <a:rPr lang="ru-RU" sz="3600" b="1" i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будущего </a:t>
            </a:r>
            <a:r>
              <a:rPr lang="ru-RU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интернета</a:t>
            </a:r>
            <a:endParaRPr lang="ru-RU" sz="3600" b="1">
              <a:solidFill>
                <a:srgbClr val="39526B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00000"/>
              </a:lnSpc>
              <a:defRPr/>
            </a:pP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sz="3600" b="0">
                <a:latin typeface="Times New Roman"/>
                <a:ea typeface="Times New Roman"/>
                <a:cs typeface="Times New Roman"/>
              </a:rPr>
              <a:t>Аккау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нт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Доверие компании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Сервера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Ключевые принцицы: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sz="3600" b="0">
                <a:latin typeface="Times New Roman"/>
                <a:ea typeface="Times New Roman"/>
                <a:cs typeface="Times New Roman"/>
              </a:rPr>
              <a:t>Пользователь </a:t>
            </a:r>
            <a:r>
              <a:rPr sz="3600" b="0" i="1">
                <a:latin typeface="Times New Roman"/>
                <a:ea typeface="Times New Roman"/>
                <a:cs typeface="Times New Roman"/>
              </a:rPr>
              <a:t>сам 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владеет своей идентичностью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•"/>
              <a:defRPr/>
            </a:pPr>
            <a:r>
              <a:rPr sz="3600" b="0" i="1">
                <a:latin typeface="Times New Roman"/>
                <a:ea typeface="Times New Roman"/>
                <a:cs typeface="Times New Roman"/>
              </a:rPr>
              <a:t>Проверка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 вместо доверия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 b="0">
                <a:latin typeface="Times New Roman"/>
                <a:ea typeface="Times New Roman"/>
                <a:cs typeface="Times New Roman"/>
              </a:rPr>
              <a:t>Данные </a:t>
            </a:r>
            <a:r>
              <a:rPr sz="3600" b="0" i="1">
                <a:latin typeface="Times New Roman"/>
                <a:ea typeface="Times New Roman"/>
                <a:cs typeface="Times New Roman"/>
              </a:rPr>
              <a:t>не завися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т от одного узла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lnSpc>
                <a:spcPct val="114999"/>
              </a:lnSpc>
              <a:buFont typeface="Arial"/>
              <a:buChar char="•"/>
              <a:defRPr/>
            </a:pPr>
            <a:r>
              <a:rPr sz="3600" b="0">
                <a:latin typeface="Times New Roman"/>
                <a:ea typeface="Times New Roman"/>
                <a:cs typeface="Times New Roman"/>
              </a:rPr>
              <a:t>Любые действия можно </a:t>
            </a:r>
            <a:r>
              <a:rPr sz="3600" b="0" i="1">
                <a:latin typeface="Times New Roman"/>
                <a:ea typeface="Times New Roman"/>
                <a:cs typeface="Times New Roman"/>
              </a:rPr>
              <a:t>доказать</a:t>
            </a:r>
            <a:endParaRPr sz="3600" b="0"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00000"/>
              </a:lnSpc>
              <a:defRPr/>
            </a:pPr>
            <a:r>
              <a:rPr lang="en-US"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Web3 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позволяет строить </a:t>
            </a:r>
            <a:r>
              <a:rPr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устойчивые</a:t>
            </a:r>
            <a:r>
              <a:rPr sz="3600" b="0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безопасные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 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и </a:t>
            </a:r>
            <a:r>
              <a:rPr sz="3600" b="1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независимые </a:t>
            </a:r>
            <a:r>
              <a:rPr sz="3600" b="0">
                <a:latin typeface="Times New Roman"/>
                <a:ea typeface="Times New Roman"/>
                <a:cs typeface="Times New Roman"/>
              </a:rPr>
              <a:t>распределённые системы</a:t>
            </a:r>
            <a:r>
              <a:rPr lang="en-US" sz="3600" b="0">
                <a:latin typeface="Times New Roman"/>
                <a:ea typeface="Times New Roman"/>
                <a:cs typeface="Times New Roman"/>
              </a:rPr>
              <a:t>`</a:t>
            </a:r>
            <a:endParaRPr sz="3200" b="0"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47193259" name="Прямая соединительная линия 2012731489"/>
          <p:cNvCxnSpPr/>
          <p:nvPr/>
        </p:nvCxnSpPr>
        <p:spPr bwMode="auto">
          <a:xfrm flipH="0" flipV="0">
            <a:off x="15138280" y="3314849"/>
            <a:ext cx="246196" cy="19610092"/>
          </a:xfrm>
          <a:prstGeom prst="line">
            <a:avLst/>
          </a:prstGeom>
          <a:ln w="761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237956" name=""/>
          <p:cNvSpPr txBox="1"/>
          <p:nvPr/>
        </p:nvSpPr>
        <p:spPr bwMode="auto">
          <a:xfrm rot="0" flipH="0" flipV="0">
            <a:off x="6752651" y="5167102"/>
            <a:ext cx="204014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7200">
                <a:latin typeface="Times New Roman"/>
                <a:ea typeface="Times New Roman"/>
                <a:cs typeface="Times New Roman"/>
              </a:rPr>
              <a:t>=&gt;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505376156" name=""/>
          <p:cNvSpPr txBox="1"/>
          <p:nvPr/>
        </p:nvSpPr>
        <p:spPr bwMode="auto">
          <a:xfrm rot="0" flipH="0" flipV="0">
            <a:off x="9765833" y="4933276"/>
            <a:ext cx="46747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endParaRPr/>
          </a:p>
        </p:txBody>
      </p:sp>
      <p:sp>
        <p:nvSpPr>
          <p:cNvPr id="1638303697" name=""/>
          <p:cNvSpPr txBox="1"/>
          <p:nvPr/>
        </p:nvSpPr>
        <p:spPr bwMode="auto">
          <a:xfrm rot="0" flipH="0" flipV="0">
            <a:off x="8351654" y="4748067"/>
            <a:ext cx="5856991" cy="2834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Arial"/>
              <a:buChar char="•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Центральные точки отказа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Множество уязвимостей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Утечки конф.данных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Блокировки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3600">
              <a:latin typeface="Times New Roman"/>
              <a:cs typeface="Times New Roman"/>
            </a:endParaRPr>
          </a:p>
        </p:txBody>
      </p:sp>
      <p:sp>
        <p:nvSpPr>
          <p:cNvPr id="73189984" name=""/>
          <p:cNvSpPr txBox="1"/>
          <p:nvPr/>
        </p:nvSpPr>
        <p:spPr bwMode="auto">
          <a:xfrm rot="0" flipH="0" flipV="0">
            <a:off x="15577961" y="3284035"/>
            <a:ext cx="14630984" cy="178768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ru-RU" sz="4800" b="1" i="0" u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Цели и задачи</a:t>
            </a:r>
            <a:endParaRPr lang="ru-RU" sz="13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r>
              <a:rPr lang="ru-RU" sz="3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Создать </a:t>
            </a: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архитектуру </a:t>
            </a:r>
            <a:r>
              <a:rPr lang="ru-RU" sz="3600" b="0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и </a:t>
            </a: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прототип </a:t>
            </a:r>
            <a:r>
              <a:rPr lang="ru-RU" sz="3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децентрализованной </a:t>
            </a:r>
            <a:r>
              <a:rPr lang="en-US" sz="3600" b="0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p2p</a:t>
            </a:r>
            <a:r>
              <a:rPr lang="ru-RU" sz="3600" b="0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-сети</a:t>
            </a:r>
            <a:r>
              <a:rPr lang="ru-RU" sz="3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узлы</a:t>
            </a:r>
            <a:r>
              <a:rPr lang="ru-RU" sz="3600" b="0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Имеют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криптографическую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индентичность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Находят друг друга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 сервера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Устанавливают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прямые защищённые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каналы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14999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Строят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меш-граф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Основные задачи:</a:t>
            </a:r>
            <a:endParaRPr lang="ru-RU" sz="3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Разработать модель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идентификации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блокчейне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Реализовать распределённое обнаружение </a:t>
            </a: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DHT)</a:t>
            </a:r>
            <a:endParaRPr lang="en-US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Реализовать алгоритм установления защищённого </a:t>
            </a:r>
            <a:r>
              <a:rPr lang="en-US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p2p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-соединения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Обеспечить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отказоустойчивость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</a:t>
            </a:r>
            <a:endParaRPr lang="ru-RU" sz="1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r>
              <a:rPr lang="ru-RU" sz="4800" b="1" i="0" u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Новизна и значимость</a:t>
            </a:r>
            <a:endParaRPr lang="ru-RU" sz="13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Прямых конкурентов проекту нет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</a:t>
            </a:r>
            <a:r>
              <a:rPr lang="en-US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Yggdrasil, Matrix, libp2p</a:t>
            </a: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другие идеи и задачи. Проект предлагает </a:t>
            </a: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оригинальную архитектуру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сети: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en-US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IPv6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основной транспорт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Блокчейн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реестр идентичностей, 	а не платёжная система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en-US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DHT</a:t>
            </a: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 маршрутизации</a:t>
            </a:r>
            <a:endParaRPr lang="ru-RU" sz="1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lnSpc>
                <a:spcPct val="114999"/>
              </a:lnSpc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Минимум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централизованной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инфраструктуры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14999"/>
              </a:lnSpc>
              <a:defRPr/>
            </a:pPr>
            <a:r>
              <a:rPr lang="ru-RU" sz="3600" b="1" i="0" u="none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В отличие от существующих решений: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 требует постоянной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серверной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инфраструктуры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 привязан к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конкретному</a:t>
            </a: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протоколу или платформе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Ориентирован на </a:t>
            </a:r>
            <a:r>
              <a:rPr lang="ru-RU"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сетевой уровень</a:t>
            </a:r>
            <a:endParaRPr lang="ru-RU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ru-RU" sz="3600" b="1" i="0" u="none" strike="noStrike" cap="none" spc="0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Безопасноть (</a:t>
            </a:r>
            <a:r>
              <a:rPr lang="en-US" sz="3600" b="1" i="0" u="none" strike="noStrike" cap="none" spc="0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MITRE ATT&amp;CK</a:t>
            </a:r>
            <a:r>
              <a:rPr lang="ru-RU" sz="3600" b="1" i="0" u="none" strike="noStrike" cap="none" spc="0">
                <a:solidFill>
                  <a:srgbClr val="39526B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3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T1557 (MITM)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проверка ключей через блокчейн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T1040 (Sniffing)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end-to-end ш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ифрование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T1498/T1499 (Dos)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отсутствие сервера</a:t>
            </a:r>
            <a:endParaRPr lang="ru-RU" sz="3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T1016 (Recon)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минимум раскрываемых метаданных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4457916" name="TextBox 269432276"/>
          <p:cNvSpPr txBox="1"/>
          <p:nvPr/>
        </p:nvSpPr>
        <p:spPr bwMode="auto">
          <a:xfrm flipH="0" flipV="0">
            <a:off x="506048" y="31807130"/>
            <a:ext cx="14883465" cy="9784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4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Целевая аудитория</a:t>
            </a:r>
            <a:endParaRPr lang="ru-RU" sz="4800" b="1">
              <a:latin typeface="Times New Roman"/>
              <a:ea typeface="Times New Roman"/>
              <a:cs typeface="Times New Roman"/>
            </a:endParaRPr>
          </a:p>
          <a:p>
            <a:pPr marL="614310" indent="-614310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Разработчики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распределённх и </a:t>
            </a:r>
            <a:r>
              <a:rPr lang="en-US" sz="3600" b="0">
                <a:latin typeface="Times New Roman"/>
                <a:ea typeface="Times New Roman"/>
                <a:cs typeface="Times New Roman"/>
              </a:rPr>
              <a:t>Web3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приложений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614310" indent="-614310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Инженеры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 сетевой и информационной безопасности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614310" indent="-614310">
              <a:buFont typeface="Arial"/>
              <a:buChar char="•"/>
              <a:defRPr/>
            </a:pPr>
            <a:r>
              <a:rPr lang="en-US" sz="3600" b="0" i="1">
                <a:latin typeface="Times New Roman"/>
                <a:ea typeface="Times New Roman"/>
                <a:cs typeface="Times New Roman"/>
              </a:rPr>
              <a:t>IoT</a:t>
            </a:r>
            <a:r>
              <a:rPr lang="en-US" sz="3600" b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и автономные системы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614309" indent="-614309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Организации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, создающие закрытые распределённые сети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614310" indent="-614310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Государственные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и </a:t>
            </a:r>
            <a:r>
              <a:rPr lang="ru-RU" sz="3600" b="0" i="1">
                <a:latin typeface="Times New Roman"/>
                <a:ea typeface="Times New Roman"/>
                <a:cs typeface="Times New Roman"/>
              </a:rPr>
              <a:t>корпаративные 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заказчики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614310" indent="-614310">
              <a:buFont typeface="Arial"/>
              <a:buChar char="•"/>
              <a:defRPr/>
            </a:pP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ru-RU" sz="4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Итоги и перспективы</a:t>
            </a:r>
            <a:endParaRPr lang="ru-RU" sz="4800" b="1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Обеспечена </a:t>
            </a:r>
            <a:r>
              <a:rPr lang="ru-RU" sz="3600" b="0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криптографическая идентификация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узлов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Разработана защищённая </a:t>
            </a:r>
            <a:r>
              <a:rPr lang="en-US" sz="3600" b="0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p2p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>
                <a:latin typeface="Times New Roman"/>
                <a:ea typeface="Times New Roman"/>
                <a:cs typeface="Times New Roman"/>
              </a:rPr>
              <a:t>Устранены </a:t>
            </a:r>
            <a:r>
              <a:rPr lang="ru-RU" sz="3600" b="0" i="1">
                <a:latin typeface="Times New Roman"/>
                <a:ea typeface="Times New Roman"/>
                <a:cs typeface="Times New Roman"/>
              </a:rPr>
              <a:t>центральные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 точки отказа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1">
                <a:latin typeface="Times New Roman"/>
                <a:ea typeface="Times New Roman"/>
                <a:cs typeface="Times New Roman"/>
              </a:rPr>
              <a:t>Начата</a:t>
            </a:r>
            <a:r>
              <a:rPr lang="ru-RU" sz="3600" b="0">
                <a:latin typeface="Times New Roman"/>
                <a:ea typeface="Times New Roman"/>
                <a:cs typeface="Times New Roman"/>
              </a:rPr>
              <a:t> программная разработка</a:t>
            </a:r>
            <a:endParaRPr lang="ru-RU" sz="3600" b="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—————————————————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——————————————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dMessengers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IoT-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сети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Web3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-приложения без серверов</a:t>
            </a:r>
            <a:endParaRPr sz="3600">
              <a:latin typeface="Times New Roman"/>
              <a:ea typeface="Times New Roman"/>
              <a:cs typeface="Times New Roman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Корпоративные и ггосударственные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mesh-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сети</a:t>
            </a:r>
            <a:endParaRPr sz="3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3714603" name=""/>
          <p:cNvSpPr txBox="1"/>
          <p:nvPr/>
        </p:nvSpPr>
        <p:spPr bwMode="auto">
          <a:xfrm rot="0" flipH="0" flipV="0">
            <a:off x="12103523" y="35701041"/>
            <a:ext cx="74257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31862473" name=""/>
          <p:cNvSpPr txBox="1"/>
          <p:nvPr/>
        </p:nvSpPr>
        <p:spPr bwMode="auto">
          <a:xfrm rot="0" flipH="0" flipV="0">
            <a:off x="18311501" y="41645415"/>
            <a:ext cx="5526134" cy="7623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200" b="1" i="1"/>
              <a:t>ИНФОРМАЦИОННАЯ БЕЗОПАСНОСТЬ</a:t>
            </a:r>
            <a:endParaRPr sz="2200" b="1" i="1"/>
          </a:p>
          <a:p>
            <a:pPr algn="r">
              <a:defRPr/>
            </a:pPr>
            <a:r>
              <a:rPr sz="2200" b="1" i="1"/>
              <a:t>РЕГИОНАЛЬНЫЙ ЭТАП</a:t>
            </a:r>
            <a:endParaRPr sz="2200" b="1" i="1"/>
          </a:p>
        </p:txBody>
      </p:sp>
      <p:sp>
        <p:nvSpPr>
          <p:cNvPr id="1700237663" name=""/>
          <p:cNvSpPr txBox="1"/>
          <p:nvPr/>
        </p:nvSpPr>
        <p:spPr bwMode="auto">
          <a:xfrm rot="0" flipH="0" flipV="0">
            <a:off x="8854361" y="15638991"/>
            <a:ext cx="4040386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r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Ключ</a:t>
            </a:r>
            <a:endParaRPr sz="3600">
              <a:latin typeface="Times New Roman"/>
              <a:cs typeface="Times New Roman"/>
            </a:endParaRPr>
          </a:p>
          <a:p>
            <a:pPr marL="283878" indent="-283878" algn="r">
              <a:buFont typeface="Arial"/>
              <a:buChar char="•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Криптография</a:t>
            </a:r>
            <a:endParaRPr lang="ru-RU"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 algn="r">
              <a:buFont typeface="Arial"/>
              <a:buChar char="•"/>
              <a:defRPr/>
            </a:pPr>
            <a:r>
              <a:rPr lang="en-US" sz="3600">
                <a:latin typeface="Times New Roman"/>
                <a:ea typeface="Times New Roman"/>
                <a:cs typeface="Times New Roman"/>
              </a:rPr>
              <a:t>P2P</a:t>
            </a:r>
            <a:endParaRPr lang="ru-RU" sz="3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3480659" name=""/>
          <p:cNvSpPr txBox="1"/>
          <p:nvPr/>
        </p:nvSpPr>
        <p:spPr bwMode="auto">
          <a:xfrm rot="0" flipH="0" flipV="0">
            <a:off x="4791666" y="16187631"/>
            <a:ext cx="4870047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1">
                <a:latin typeface="Times New Roman"/>
                <a:ea typeface="Times New Roman"/>
                <a:cs typeface="Times New Roman"/>
              </a:rPr>
              <a:t>Web2        </a:t>
            </a:r>
            <a:r>
              <a:rPr lang="en-US" sz="3600" b="1" i="1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3600" i="1">
                <a:latin typeface="Times New Roman"/>
                <a:ea typeface="Times New Roman"/>
                <a:cs typeface="Times New Roman"/>
              </a:rPr>
              <a:t>=&gt;</a:t>
            </a:r>
            <a:r>
              <a:rPr lang="en-US" sz="3600">
                <a:latin typeface="Times New Roman"/>
                <a:ea typeface="Times New Roman"/>
                <a:cs typeface="Times New Roman"/>
              </a:rPr>
              <a:t>     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Web3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93551541" name=""/>
          <p:cNvSpPr txBox="1"/>
          <p:nvPr/>
        </p:nvSpPr>
        <p:spPr bwMode="auto">
          <a:xfrm rot="0" flipH="0" flipV="0">
            <a:off x="8277600" y="16271874"/>
            <a:ext cx="137655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6934707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7253541" y="22283784"/>
            <a:ext cx="12839492" cy="19184121"/>
          </a:xfrm>
          <a:prstGeom prst="rect">
            <a:avLst/>
          </a:prstGeom>
        </p:spPr>
      </p:pic>
      <p:pic>
        <p:nvPicPr>
          <p:cNvPr id="93763264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992" y="22381677"/>
            <a:ext cx="19757090" cy="9130197"/>
          </a:xfrm>
          <a:prstGeom prst="rect">
            <a:avLst/>
          </a:prstGeom>
        </p:spPr>
      </p:pic>
      <p:pic>
        <p:nvPicPr>
          <p:cNvPr id="25877599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2411666" y="31991512"/>
            <a:ext cx="7971904" cy="3892587"/>
          </a:xfrm>
          <a:prstGeom prst="rect">
            <a:avLst/>
          </a:prstGeom>
        </p:spPr>
      </p:pic>
      <p:sp>
        <p:nvSpPr>
          <p:cNvPr id="254318109" name=""/>
          <p:cNvSpPr txBox="1"/>
          <p:nvPr/>
        </p:nvSpPr>
        <p:spPr bwMode="auto">
          <a:xfrm rot="0" flipH="0" flipV="0">
            <a:off x="15040898" y="31486910"/>
            <a:ext cx="2212642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Меш-граф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12</cp:revision>
  <dcterms:modified xsi:type="dcterms:W3CDTF">2026-01-17T05:53:14Z</dcterms:modified>
</cp:coreProperties>
</file>