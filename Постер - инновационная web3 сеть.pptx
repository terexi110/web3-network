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.xml" ContentType="application/vnd.openxmlformats-officedocument.presentationml.notes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4"/>
  </p:notesMasterIdLst>
  <p:sldIdLst>
    <p:sldId id="256" r:id="rId3"/>
  </p:sldIdLst>
  <p:sldSz cx="30275784" cy="42803064"/>
  <p:notesSz cx="42803064" cy="30275784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9535"/>
        <p:guide pos="13481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 /><Relationship Id="rId6" Type="http://schemas.openxmlformats.org/officeDocument/2006/relationships/tableStyles" Target="tableStyles.xml" /><Relationship Id="rId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17368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9146618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21990746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793767127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9232336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6908729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45292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878478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8209451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978937" name="Shape 34"/>
          <p:cNvSpPr/>
          <p:nvPr/>
        </p:nvSpPr>
        <p:spPr bwMode="auto">
          <a:xfrm flipH="0" flipV="0">
            <a:off x="10602744" y="25439980"/>
            <a:ext cx="8983703" cy="8442538"/>
          </a:xfrm>
          <a:prstGeom prst="roundRect">
            <a:avLst>
              <a:gd name="adj" fmla="val 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2700" dist="3810" dir="27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anchor="ctr"/>
          <a:p>
            <a:pPr algn="ctr">
              <a:defRPr/>
            </a:pPr>
            <a:endParaRPr>
              <a:latin typeface="Roboto"/>
              <a:cs typeface="Roboto"/>
            </a:endParaRPr>
          </a:p>
        </p:txBody>
      </p:sp>
      <p:sp>
        <p:nvSpPr>
          <p:cNvPr id="1648716797" name="Shape 34"/>
          <p:cNvSpPr/>
          <p:nvPr/>
        </p:nvSpPr>
        <p:spPr bwMode="auto">
          <a:xfrm flipH="0" flipV="0">
            <a:off x="1019277" y="15242423"/>
            <a:ext cx="8743424" cy="18640094"/>
          </a:xfrm>
          <a:prstGeom prst="roundRect">
            <a:avLst>
              <a:gd name="adj" fmla="val 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2700" dist="3810" dir="27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anchor="ctr"/>
          <a:p>
            <a:pPr algn="ctr">
              <a:defRPr/>
            </a:pPr>
            <a:endParaRPr>
              <a:latin typeface="Roboto"/>
              <a:cs typeface="Roboto"/>
            </a:endParaRPr>
          </a:p>
        </p:txBody>
      </p:sp>
      <p:sp>
        <p:nvSpPr>
          <p:cNvPr id="1697265776" name="Shape 34"/>
          <p:cNvSpPr/>
          <p:nvPr/>
        </p:nvSpPr>
        <p:spPr bwMode="auto">
          <a:xfrm flipH="0" flipV="0">
            <a:off x="20341864" y="15424285"/>
            <a:ext cx="8897111" cy="18433608"/>
          </a:xfrm>
          <a:prstGeom prst="roundRect">
            <a:avLst>
              <a:gd name="adj" fmla="val 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2700" dist="3810" dir="27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anchor="ctr"/>
          <a:p>
            <a:pPr algn="ctr">
              <a:defRPr/>
            </a:pPr>
            <a:endParaRPr>
              <a:latin typeface="Roboto"/>
              <a:cs typeface="Roboto"/>
            </a:endParaRPr>
          </a:p>
        </p:txBody>
      </p:sp>
      <p:sp>
        <p:nvSpPr>
          <p:cNvPr id="106412304" name="Shape 34"/>
          <p:cNvSpPr/>
          <p:nvPr/>
        </p:nvSpPr>
        <p:spPr bwMode="auto">
          <a:xfrm flipH="0" flipV="0">
            <a:off x="10602744" y="34796874"/>
            <a:ext cx="8983703" cy="6343705"/>
          </a:xfrm>
          <a:prstGeom prst="roundRect">
            <a:avLst>
              <a:gd name="adj" fmla="val 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2700" dist="3810" dir="27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anchor="ctr"/>
          <a:p>
            <a:pPr algn="ctr">
              <a:defRPr/>
            </a:pPr>
            <a:endParaRPr>
              <a:latin typeface="Roboto"/>
              <a:cs typeface="Roboto"/>
            </a:endParaRPr>
          </a:p>
        </p:txBody>
      </p:sp>
      <p:sp>
        <p:nvSpPr>
          <p:cNvPr id="696134539" name="Shape 34"/>
          <p:cNvSpPr/>
          <p:nvPr/>
        </p:nvSpPr>
        <p:spPr bwMode="auto">
          <a:xfrm flipH="0" flipV="0">
            <a:off x="1019277" y="34796874"/>
            <a:ext cx="8743424" cy="6343705"/>
          </a:xfrm>
          <a:prstGeom prst="roundRect">
            <a:avLst>
              <a:gd name="adj" fmla="val 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2700" dist="3810" dir="27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anchor="ctr"/>
          <a:p>
            <a:pPr algn="ctr">
              <a:defRPr/>
            </a:pPr>
            <a:endParaRPr>
              <a:latin typeface="Roboto"/>
              <a:cs typeface="Roboto"/>
            </a:endParaRPr>
          </a:p>
        </p:txBody>
      </p:sp>
      <p:sp>
        <p:nvSpPr>
          <p:cNvPr id="1696139730" name="Shape 34"/>
          <p:cNvSpPr/>
          <p:nvPr/>
        </p:nvSpPr>
        <p:spPr bwMode="auto">
          <a:xfrm flipH="0" flipV="0">
            <a:off x="20341864" y="34796874"/>
            <a:ext cx="8897111" cy="6343705"/>
          </a:xfrm>
          <a:prstGeom prst="roundRect">
            <a:avLst>
              <a:gd name="adj" fmla="val 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2700" dist="3810" dir="27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anchor="ctr"/>
          <a:p>
            <a:pPr algn="ctr">
              <a:defRPr/>
            </a:pPr>
            <a:endParaRPr>
              <a:latin typeface="Roboto"/>
              <a:cs typeface="Roboto"/>
            </a:endParaRPr>
          </a:p>
        </p:txBody>
      </p:sp>
      <p:sp>
        <p:nvSpPr>
          <p:cNvPr id="1604666846" name="Shape 34"/>
          <p:cNvSpPr/>
          <p:nvPr/>
        </p:nvSpPr>
        <p:spPr bwMode="auto">
          <a:xfrm flipH="0" flipV="0">
            <a:off x="10734422" y="4618567"/>
            <a:ext cx="8852025" cy="10043716"/>
          </a:xfrm>
          <a:prstGeom prst="roundRect">
            <a:avLst>
              <a:gd name="adj" fmla="val 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2700" dist="3810" dir="27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anchor="ctr"/>
          <a:p>
            <a:pPr algn="ctr">
              <a:defRPr/>
            </a:pPr>
            <a:endParaRPr>
              <a:latin typeface="Roboto"/>
              <a:cs typeface="Roboto"/>
            </a:endParaRPr>
          </a:p>
        </p:txBody>
      </p:sp>
      <p:sp>
        <p:nvSpPr>
          <p:cNvPr id="1500224339" name="Shape 34"/>
          <p:cNvSpPr/>
          <p:nvPr/>
        </p:nvSpPr>
        <p:spPr bwMode="auto">
          <a:xfrm flipH="0" flipV="0">
            <a:off x="1057335" y="4471457"/>
            <a:ext cx="8762860" cy="10198307"/>
          </a:xfrm>
          <a:prstGeom prst="roundRect">
            <a:avLst>
              <a:gd name="adj" fmla="val 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2700" dist="3810" dir="27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anchor="ctr"/>
          <a:p>
            <a:pPr algn="ctr">
              <a:defRPr/>
            </a:pPr>
            <a:endParaRPr>
              <a:latin typeface="Roboto"/>
              <a:cs typeface="Roboto"/>
            </a:endParaRPr>
          </a:p>
        </p:txBody>
      </p:sp>
      <p:sp>
        <p:nvSpPr>
          <p:cNvPr id="662247132" name=""/>
          <p:cNvSpPr/>
          <p:nvPr/>
        </p:nvSpPr>
        <p:spPr bwMode="auto">
          <a:xfrm rot="0" flipH="0" flipV="0">
            <a:off x="11737035" y="5642212"/>
            <a:ext cx="6818312" cy="5281933"/>
          </a:xfrm>
          <a:prstGeom prst="roundRect">
            <a:avLst>
              <a:gd name="adj" fmla="val 16667"/>
            </a:avLst>
          </a:prstGeom>
          <a:solidFill>
            <a:schemeClr val="tx1">
              <a:alpha val="0"/>
            </a:schemeClr>
          </a:solidFill>
          <a:ln w="381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969400573" name=""/>
          <p:cNvCxnSpPr/>
          <p:nvPr/>
        </p:nvCxnSpPr>
        <p:spPr bwMode="auto">
          <a:xfrm flipH="0" flipV="1">
            <a:off x="14187237" y="5637741"/>
            <a:ext cx="1873249" cy="0"/>
          </a:xfrm>
          <a:prstGeom prst="line">
            <a:avLst/>
          </a:prstGeom>
          <a:ln w="76200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6760275" name="Text 1"/>
          <p:cNvSpPr/>
          <p:nvPr/>
        </p:nvSpPr>
        <p:spPr bwMode="auto">
          <a:xfrm flipH="0" flipV="0">
            <a:off x="-32938" y="317610"/>
            <a:ext cx="30334642" cy="3455726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759" tIns="759" rIns="759" bIns="759" numCol="1" spcCol="0" rtlCol="0" fromWordArt="0" anchor="ctr" anchorCtr="0" forceAA="0" upright="0" compatLnSpc="0">
            <a:normAutofit fontScale="90000" lnSpcReduction="2000"/>
          </a:bodyPr>
          <a:lstStyle/>
          <a:p>
            <a:pPr algn="ctr">
              <a:defRPr/>
            </a:pPr>
            <a:r>
              <a:rPr lang="en-US" sz="9000" b="1" i="0" u="none" strike="noStrike" cap="none" spc="0">
                <a:solidFill>
                  <a:srgbClr val="1F53C2"/>
                </a:solidFill>
                <a:latin typeface="Roboto"/>
                <a:ea typeface="Roboto"/>
                <a:cs typeface="Roboto"/>
              </a:rPr>
              <a:t>P2P-</a:t>
            </a:r>
            <a:r>
              <a:rPr lang="ru-RU" sz="9000" b="1" i="0" u="none" strike="noStrike" cap="none" spc="0">
                <a:solidFill>
                  <a:srgbClr val="1F53C2"/>
                </a:solidFill>
                <a:latin typeface="Roboto"/>
                <a:ea typeface="Roboto"/>
                <a:cs typeface="Roboto"/>
              </a:rPr>
              <a:t>сеть нового поколения для </a:t>
            </a:r>
            <a:r>
              <a:rPr lang="en-US" sz="9000" b="1" i="0" u="none" strike="noStrike" cap="none" spc="0">
                <a:solidFill>
                  <a:srgbClr val="1F53C2"/>
                </a:solidFill>
                <a:latin typeface="Roboto"/>
                <a:ea typeface="Roboto"/>
                <a:cs typeface="Roboto"/>
              </a:rPr>
              <a:t>dApps </a:t>
            </a:r>
            <a:r>
              <a:rPr lang="ru-RU" sz="9000" b="1" i="0" u="none" strike="noStrike" cap="none" spc="0">
                <a:solidFill>
                  <a:srgbClr val="1F53C2"/>
                </a:solidFill>
                <a:latin typeface="Roboto"/>
                <a:ea typeface="Roboto"/>
                <a:cs typeface="Roboto"/>
              </a:rPr>
              <a:t>и пользовательской идентификации на основе D</a:t>
            </a:r>
            <a:r>
              <a:rPr lang="en-US" sz="9000" b="1" i="0" u="none" strike="noStrike" cap="none" spc="0">
                <a:solidFill>
                  <a:srgbClr val="1F53C2"/>
                </a:solidFill>
                <a:latin typeface="Roboto"/>
                <a:ea typeface="Roboto"/>
                <a:cs typeface="Roboto"/>
              </a:rPr>
              <a:t>AG</a:t>
            </a:r>
            <a:r>
              <a:rPr lang="ru-RU" sz="9000" b="1" i="0" u="none" strike="noStrike" cap="none" spc="0">
                <a:solidFill>
                  <a:srgbClr val="1F53C2"/>
                </a:solidFill>
                <a:latin typeface="Roboto"/>
                <a:ea typeface="Roboto"/>
                <a:cs typeface="Roboto"/>
              </a:rPr>
              <a:t> и </a:t>
            </a:r>
            <a:r>
              <a:rPr lang="en-US" sz="9000" b="1" i="0" u="none" strike="noStrike" cap="none" spc="0">
                <a:solidFill>
                  <a:srgbClr val="1F53C2"/>
                </a:solidFill>
                <a:latin typeface="Roboto"/>
                <a:ea typeface="Roboto"/>
                <a:cs typeface="Roboto"/>
              </a:rPr>
              <a:t>Web3</a:t>
            </a:r>
            <a:r>
              <a:rPr lang="ru-RU" sz="9000" b="1" i="0" u="none" strike="noStrike" cap="none" spc="0">
                <a:solidFill>
                  <a:srgbClr val="1F53C2"/>
                </a:solidFill>
                <a:latin typeface="Roboto"/>
                <a:ea typeface="Roboto"/>
                <a:cs typeface="Roboto"/>
              </a:rPr>
              <a:t>-подходов</a:t>
            </a:r>
            <a:endParaRPr sz="9000" b="1">
              <a:solidFill>
                <a:srgbClr val="1F53C2"/>
              </a:solidFill>
              <a:latin typeface="Roboto"/>
              <a:cs typeface="Roboto"/>
            </a:endParaRPr>
          </a:p>
        </p:txBody>
      </p:sp>
      <p:sp>
        <p:nvSpPr>
          <p:cNvPr id="953692426" name="Text 4"/>
          <p:cNvSpPr/>
          <p:nvPr/>
        </p:nvSpPr>
        <p:spPr bwMode="auto">
          <a:xfrm>
            <a:off x="1019278" y="4237431"/>
            <a:ext cx="8897112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  <a:defRPr/>
            </a:pPr>
            <a:r>
              <a:rPr lang="ru-RU" sz="4800" b="1">
                <a:solidFill>
                  <a:srgbClr val="0F172A"/>
                </a:solidFill>
                <a:latin typeface="Roboto"/>
                <a:ea typeface="Roboto"/>
                <a:cs typeface="Roboto"/>
              </a:rPr>
              <a:t>Актуальность и проблема</a:t>
            </a:r>
            <a:endParaRPr sz="4800">
              <a:latin typeface="Roboto"/>
              <a:cs typeface="Roboto"/>
            </a:endParaRPr>
          </a:p>
        </p:txBody>
      </p:sp>
      <p:sp>
        <p:nvSpPr>
          <p:cNvPr id="1198283534" name="Shape 6"/>
          <p:cNvSpPr/>
          <p:nvPr/>
        </p:nvSpPr>
        <p:spPr bwMode="auto">
          <a:xfrm flipH="0" flipV="0">
            <a:off x="1186832" y="9405364"/>
            <a:ext cx="3902412" cy="288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Roboto"/>
              <a:cs typeface="Roboto"/>
            </a:endParaRPr>
          </a:p>
        </p:txBody>
      </p:sp>
      <p:sp>
        <p:nvSpPr>
          <p:cNvPr id="1918553290" name="Shape 8"/>
          <p:cNvSpPr/>
          <p:nvPr/>
        </p:nvSpPr>
        <p:spPr bwMode="auto">
          <a:xfrm flipH="0" flipV="0">
            <a:off x="5225594" y="9405364"/>
            <a:ext cx="4576952" cy="288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Roboto"/>
              <a:cs typeface="Roboto"/>
            </a:endParaRPr>
          </a:p>
        </p:txBody>
      </p:sp>
      <p:sp>
        <p:nvSpPr>
          <p:cNvPr id="961632739" name="Text 12"/>
          <p:cNvSpPr/>
          <p:nvPr/>
        </p:nvSpPr>
        <p:spPr bwMode="auto">
          <a:xfrm>
            <a:off x="10689336" y="4237431"/>
            <a:ext cx="8897112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  <a:defRPr/>
            </a:pPr>
            <a:r>
              <a:rPr lang="ru-RU" sz="4800" b="1">
                <a:solidFill>
                  <a:srgbClr val="0F172A"/>
                </a:solidFill>
                <a:latin typeface="Roboto"/>
                <a:ea typeface="Roboto"/>
                <a:cs typeface="Roboto"/>
              </a:rPr>
              <a:t>Архитектура узла</a:t>
            </a:r>
            <a:endParaRPr sz="4800">
              <a:latin typeface="Roboto"/>
              <a:cs typeface="Roboto"/>
            </a:endParaRPr>
          </a:p>
        </p:txBody>
      </p:sp>
      <p:sp>
        <p:nvSpPr>
          <p:cNvPr id="373043351" name="Shape 32"/>
          <p:cNvSpPr/>
          <p:nvPr/>
        </p:nvSpPr>
        <p:spPr bwMode="auto">
          <a:xfrm>
            <a:off x="16340328" y="12006921"/>
            <a:ext cx="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079697651" name="Shape 34"/>
          <p:cNvSpPr/>
          <p:nvPr/>
        </p:nvSpPr>
        <p:spPr bwMode="auto">
          <a:xfrm flipH="0" flipV="0">
            <a:off x="20359391" y="4143080"/>
            <a:ext cx="8897112" cy="10524567"/>
          </a:xfrm>
          <a:prstGeom prst="roundRect">
            <a:avLst>
              <a:gd name="adj" fmla="val 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2700" dist="3810" dir="27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anchor="ctr"/>
          <a:p>
            <a:pPr algn="ctr">
              <a:defRPr/>
            </a:pPr>
            <a:endParaRPr>
              <a:latin typeface="Roboto"/>
              <a:cs typeface="Roboto"/>
            </a:endParaRPr>
          </a:p>
        </p:txBody>
      </p:sp>
      <p:sp>
        <p:nvSpPr>
          <p:cNvPr id="2062734751" name="Text 35"/>
          <p:cNvSpPr/>
          <p:nvPr/>
        </p:nvSpPr>
        <p:spPr bwMode="auto">
          <a:xfrm>
            <a:off x="20359392" y="4289385"/>
            <a:ext cx="8897112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  <a:defRPr/>
            </a:pPr>
            <a:r>
              <a:rPr lang="ru-RU" sz="4800" b="1">
                <a:solidFill>
                  <a:srgbClr val="0F172A"/>
                </a:solidFill>
                <a:latin typeface="Roboto"/>
                <a:ea typeface="Roboto"/>
                <a:cs typeface="Roboto"/>
              </a:rPr>
              <a:t>Новизна и значимость</a:t>
            </a:r>
            <a:endParaRPr sz="4800">
              <a:latin typeface="Roboto"/>
              <a:cs typeface="Roboto"/>
            </a:endParaRPr>
          </a:p>
        </p:txBody>
      </p:sp>
      <p:sp>
        <p:nvSpPr>
          <p:cNvPr id="195207446" name="Text 36"/>
          <p:cNvSpPr/>
          <p:nvPr/>
        </p:nvSpPr>
        <p:spPr bwMode="auto">
          <a:xfrm flipH="0" flipV="0">
            <a:off x="20725151" y="5348001"/>
            <a:ext cx="8321801" cy="2147498"/>
          </a:xfrm>
          <a:prstGeom prst="rect">
            <a:avLst/>
          </a:prstGeom>
          <a:noFill/>
          <a:ln/>
        </p:spPr>
        <p:txBody>
          <a:bodyPr wrap="square" lIns="760" tIns="760" rIns="760" bIns="76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ru-RU" sz="3200" b="1">
                <a:solidFill>
                  <a:srgbClr val="0F172A"/>
                </a:solidFill>
                <a:latin typeface="Roboto"/>
                <a:ea typeface="Roboto"/>
                <a:cs typeface="Roboto"/>
              </a:rPr>
              <a:t>Новизна </a:t>
            </a:r>
            <a:r>
              <a:rPr lang="ru-RU" sz="3200" b="1" i="1">
                <a:solidFill>
                  <a:srgbClr val="0F172A"/>
                </a:solidFill>
                <a:latin typeface="Roboto"/>
                <a:ea typeface="Roboto"/>
                <a:cs typeface="Roboto"/>
              </a:rPr>
              <a:t>проекта </a:t>
            </a:r>
            <a:r>
              <a:rPr lang="en-US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—</a:t>
            </a:r>
            <a:r>
              <a:rPr lang="ru-RU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 собственный алгоритм WIDAG и архитектура, объединяющая DID, Kad-DHT, p2p и DAG для dApps и имеющая высокую способность к интеграции.</a:t>
            </a:r>
            <a:endParaRPr lang="ru-RU" sz="3200">
              <a:solidFill>
                <a:srgbClr val="0F172A"/>
              </a:solidFill>
              <a:latin typeface="Roboto"/>
              <a:ea typeface="Roboto"/>
              <a:cs typeface="Roboto"/>
            </a:endParaRPr>
          </a:p>
          <a:p>
            <a:pPr marL="0" indent="0" algn="l">
              <a:buNone/>
              <a:defRPr/>
            </a:pPr>
            <a:endParaRPr sz="1200">
              <a:latin typeface="Roboto"/>
              <a:cs typeface="Roboto"/>
            </a:endParaRPr>
          </a:p>
        </p:txBody>
      </p:sp>
      <p:sp>
        <p:nvSpPr>
          <p:cNvPr id="291433635" name="Text 97"/>
          <p:cNvSpPr/>
          <p:nvPr/>
        </p:nvSpPr>
        <p:spPr bwMode="auto">
          <a:xfrm flipH="0" flipV="0">
            <a:off x="20647976" y="12212788"/>
            <a:ext cx="8284888" cy="2547137"/>
          </a:xfrm>
          <a:prstGeom prst="rect">
            <a:avLst/>
          </a:prstGeom>
          <a:noFill/>
          <a:ln/>
        </p:spPr>
        <p:txBody>
          <a:bodyPr wrap="square" lIns="760" tIns="760" rIns="760" bIns="760" rtlCol="0" anchor="t">
            <a:normAutofit/>
          </a:bodyPr>
          <a:lstStyle/>
          <a:p>
            <a:pPr marL="0" indent="0" algn="l">
              <a:buNone/>
              <a:defRPr/>
            </a:pPr>
            <a:endParaRPr sz="1200">
              <a:latin typeface="Roboto"/>
              <a:cs typeface="Roboto"/>
            </a:endParaRPr>
          </a:p>
          <a:p>
            <a:pPr marL="0" indent="0" algn="l">
              <a:buNone/>
              <a:defRPr/>
            </a:pPr>
            <a:r>
              <a:rPr lang="ru-RU" sz="3200" b="1">
                <a:solidFill>
                  <a:srgbClr val="0F172A"/>
                </a:solidFill>
                <a:latin typeface="Roboto"/>
                <a:ea typeface="Roboto"/>
                <a:cs typeface="Roboto"/>
              </a:rPr>
              <a:t>Значимость: </a:t>
            </a:r>
            <a:r>
              <a:rPr lang="ru-RU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 обеспечивает значительное повышение безопасности и вводит инновационные возможности для пользователей и разработчиков.</a:t>
            </a:r>
            <a:endParaRPr lang="ru-RU" sz="3200">
              <a:solidFill>
                <a:srgbClr val="0F172A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33697443" name="Text 122"/>
          <p:cNvSpPr/>
          <p:nvPr/>
        </p:nvSpPr>
        <p:spPr bwMode="auto">
          <a:xfrm>
            <a:off x="10524110" y="25113500"/>
            <a:ext cx="8897112" cy="65836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>
              <a:buNone/>
              <a:defRPr/>
            </a:pPr>
            <a:r>
              <a:rPr lang="ru-RU" sz="4800" b="1">
                <a:solidFill>
                  <a:srgbClr val="0F172A"/>
                </a:solidFill>
                <a:latin typeface="Roboto"/>
                <a:ea typeface="Roboto"/>
                <a:cs typeface="Roboto"/>
              </a:rPr>
              <a:t>Результаты и тестирование</a:t>
            </a:r>
            <a:endParaRPr sz="4800">
              <a:latin typeface="Roboto"/>
              <a:cs typeface="Roboto"/>
            </a:endParaRPr>
          </a:p>
        </p:txBody>
      </p:sp>
      <p:sp>
        <p:nvSpPr>
          <p:cNvPr id="688182040" name="Shape 123"/>
          <p:cNvSpPr/>
          <p:nvPr/>
        </p:nvSpPr>
        <p:spPr bwMode="auto">
          <a:xfrm>
            <a:off x="10793792" y="26218600"/>
            <a:ext cx="2743200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Roboto"/>
              <a:cs typeface="Roboto"/>
            </a:endParaRPr>
          </a:p>
        </p:txBody>
      </p:sp>
      <p:sp>
        <p:nvSpPr>
          <p:cNvPr id="194020199" name="Text 124"/>
          <p:cNvSpPr/>
          <p:nvPr/>
        </p:nvSpPr>
        <p:spPr bwMode="auto">
          <a:xfrm>
            <a:off x="10793792" y="26538640"/>
            <a:ext cx="274320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  <a:defRPr/>
            </a:pPr>
            <a:r>
              <a:rPr lang="ru-RU" sz="4000" b="1">
                <a:solidFill>
                  <a:srgbClr val="2563EB"/>
                </a:solidFill>
                <a:latin typeface="Roboto"/>
                <a:ea typeface="Roboto"/>
                <a:cs typeface="Roboto"/>
              </a:rPr>
              <a:t>0,29 c</a:t>
            </a:r>
            <a:endParaRPr sz="4000">
              <a:latin typeface="Roboto"/>
              <a:cs typeface="Roboto"/>
            </a:endParaRPr>
          </a:p>
        </p:txBody>
      </p:sp>
      <p:sp>
        <p:nvSpPr>
          <p:cNvPr id="1189662816" name="Text 125"/>
          <p:cNvSpPr/>
          <p:nvPr/>
        </p:nvSpPr>
        <p:spPr bwMode="auto">
          <a:xfrm>
            <a:off x="10885232" y="27151288"/>
            <a:ext cx="25603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  <a:defRPr/>
            </a:pPr>
            <a:r>
              <a:rPr lang="ru-RU" sz="24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поиск DHT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207983662" name="Shape 126"/>
          <p:cNvSpPr/>
          <p:nvPr/>
        </p:nvSpPr>
        <p:spPr bwMode="auto">
          <a:xfrm>
            <a:off x="13738160" y="26218600"/>
            <a:ext cx="2743200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Roboto"/>
              <a:cs typeface="Roboto"/>
            </a:endParaRPr>
          </a:p>
        </p:txBody>
      </p:sp>
      <p:sp>
        <p:nvSpPr>
          <p:cNvPr id="1547905943" name="Text 127"/>
          <p:cNvSpPr/>
          <p:nvPr/>
        </p:nvSpPr>
        <p:spPr bwMode="auto">
          <a:xfrm>
            <a:off x="13738160" y="26556927"/>
            <a:ext cx="274320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  <a:defRPr/>
            </a:pPr>
            <a:r>
              <a:rPr lang="ru-RU" sz="4000" b="1">
                <a:solidFill>
                  <a:srgbClr val="2563EB"/>
                </a:solidFill>
                <a:latin typeface="Roboto"/>
                <a:ea typeface="Roboto"/>
                <a:cs typeface="Roboto"/>
              </a:rPr>
              <a:t>1,28 c</a:t>
            </a:r>
            <a:endParaRPr sz="4000">
              <a:latin typeface="Roboto"/>
              <a:cs typeface="Roboto"/>
            </a:endParaRPr>
          </a:p>
        </p:txBody>
      </p:sp>
      <p:sp>
        <p:nvSpPr>
          <p:cNvPr id="1086420697" name="Text 128"/>
          <p:cNvSpPr/>
          <p:nvPr/>
        </p:nvSpPr>
        <p:spPr bwMode="auto">
          <a:xfrm>
            <a:off x="13829600" y="27151288"/>
            <a:ext cx="25603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  <a:defRPr/>
            </a:pPr>
            <a:r>
              <a:rPr lang="ru-RU" sz="24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кворум WIDAG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1315857121" name="Shape 129"/>
          <p:cNvSpPr/>
          <p:nvPr/>
        </p:nvSpPr>
        <p:spPr bwMode="auto">
          <a:xfrm>
            <a:off x="16682528" y="26218600"/>
            <a:ext cx="2743200" cy="1828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Roboto"/>
              <a:cs typeface="Roboto"/>
            </a:endParaRPr>
          </a:p>
        </p:txBody>
      </p:sp>
      <p:sp>
        <p:nvSpPr>
          <p:cNvPr id="330122467" name="Text 130"/>
          <p:cNvSpPr/>
          <p:nvPr/>
        </p:nvSpPr>
        <p:spPr bwMode="auto">
          <a:xfrm>
            <a:off x="16618520" y="26538640"/>
            <a:ext cx="2743200" cy="594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  <a:defRPr/>
            </a:pPr>
            <a:r>
              <a:rPr lang="ru-RU" sz="4000" b="1">
                <a:solidFill>
                  <a:srgbClr val="2563EB"/>
                </a:solidFill>
                <a:latin typeface="Roboto"/>
                <a:ea typeface="Roboto"/>
                <a:cs typeface="Roboto"/>
              </a:rPr>
              <a:t>95%</a:t>
            </a:r>
            <a:endParaRPr sz="4000">
              <a:latin typeface="Roboto"/>
              <a:cs typeface="Roboto"/>
            </a:endParaRPr>
          </a:p>
        </p:txBody>
      </p:sp>
      <p:sp>
        <p:nvSpPr>
          <p:cNvPr id="700554211" name="Text 131"/>
          <p:cNvSpPr/>
          <p:nvPr/>
        </p:nvSpPr>
        <p:spPr bwMode="auto">
          <a:xfrm>
            <a:off x="16773968" y="27151288"/>
            <a:ext cx="25603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marL="0" indent="0" algn="ctr">
              <a:buNone/>
              <a:defRPr/>
            </a:pPr>
            <a:r>
              <a:rPr lang="ru-RU" sz="24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отклонение ошибок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668736413" name="Shape 133"/>
          <p:cNvSpPr/>
          <p:nvPr/>
        </p:nvSpPr>
        <p:spPr bwMode="auto">
          <a:xfrm>
            <a:off x="10899331" y="31499714"/>
            <a:ext cx="8385048" cy="224028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Roboto"/>
              <a:cs typeface="Roboto"/>
            </a:endParaRPr>
          </a:p>
        </p:txBody>
      </p:sp>
      <p:sp>
        <p:nvSpPr>
          <p:cNvPr id="807351387" name="Text 137"/>
          <p:cNvSpPr/>
          <p:nvPr/>
        </p:nvSpPr>
        <p:spPr bwMode="auto">
          <a:xfrm flipH="0" flipV="0">
            <a:off x="1148774" y="35399835"/>
            <a:ext cx="8714232" cy="5740742"/>
          </a:xfrm>
          <a:prstGeom prst="rect">
            <a:avLst/>
          </a:prstGeom>
          <a:noFill/>
          <a:ln/>
        </p:spPr>
        <p:txBody>
          <a:bodyPr wrap="square" lIns="760" tIns="760" rIns="760" bIns="760" rtlCol="0" anchor="t">
            <a:normAutofit/>
          </a:bodyPr>
          <a:lstStyle/>
          <a:p>
            <a:pPr marL="0" indent="0">
              <a:buNone/>
              <a:defRPr/>
            </a:pPr>
            <a:r>
              <a:rPr lang="ru-RU" sz="3200" b="1">
                <a:solidFill>
                  <a:srgbClr val="0F172A"/>
                </a:solidFill>
                <a:latin typeface="Roboto"/>
                <a:ea typeface="Roboto"/>
                <a:cs typeface="Roboto"/>
              </a:rPr>
              <a:t>Целевая аудитория:</a:t>
            </a:r>
            <a:endParaRPr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ru-RU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разработчики dApps;</a:t>
            </a:r>
            <a:endParaRPr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ru-RU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Web3-проекты;</a:t>
            </a:r>
            <a:endParaRPr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ru-RU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IoT и автономные системы;</a:t>
            </a:r>
            <a:endParaRPr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ru-RU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корпоративные распределённые сети;</a:t>
            </a:r>
            <a:endParaRPr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ru-RU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государственные</a:t>
            </a:r>
            <a:r>
              <a:rPr lang="ru-RU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 заказчики.</a:t>
            </a:r>
            <a:endParaRPr sz="3200">
              <a:latin typeface="Roboto"/>
              <a:cs typeface="Roboto"/>
            </a:endParaRPr>
          </a:p>
          <a:p>
            <a:pPr marL="0" indent="0">
              <a:buNone/>
              <a:defRPr/>
            </a:pPr>
            <a:endParaRPr sz="1200">
              <a:latin typeface="Roboto"/>
              <a:cs typeface="Roboto"/>
            </a:endParaRPr>
          </a:p>
          <a:p>
            <a:pPr marL="0" indent="0">
              <a:buNone/>
              <a:defRPr/>
            </a:pPr>
            <a:r>
              <a:rPr lang="ru-RU" sz="3200" b="1">
                <a:solidFill>
                  <a:srgbClr val="0F172A"/>
                </a:solidFill>
                <a:latin typeface="Roboto"/>
                <a:ea typeface="Roboto"/>
                <a:cs typeface="Roboto"/>
              </a:rPr>
              <a:t>Сценарии применения:</a:t>
            </a:r>
            <a:endParaRPr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ru-RU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децентрализованные мессенджеры;</a:t>
            </a:r>
            <a:endParaRPr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ru-RU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p2p-сервисы;</a:t>
            </a:r>
            <a:endParaRPr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ru-RU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IoT-сети;</a:t>
            </a:r>
            <a:endParaRPr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ru-RU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распределённые платформы.</a:t>
            </a:r>
            <a:endParaRPr lang="ru-RU" sz="3200">
              <a:solidFill>
                <a:srgbClr val="0F172A"/>
              </a:solidFill>
              <a:latin typeface="Roboto"/>
              <a:ea typeface="Roboto"/>
              <a:cs typeface="Roboto"/>
            </a:endParaRPr>
          </a:p>
          <a:p>
            <a:pPr marL="0" indent="0">
              <a:buNone/>
              <a:defRPr/>
            </a:pPr>
            <a:endParaRPr sz="1200">
              <a:latin typeface="Roboto"/>
              <a:cs typeface="Roboto"/>
            </a:endParaRPr>
          </a:p>
        </p:txBody>
      </p:sp>
      <p:sp>
        <p:nvSpPr>
          <p:cNvPr id="1936622512" name="Text 140"/>
          <p:cNvSpPr/>
          <p:nvPr/>
        </p:nvSpPr>
        <p:spPr bwMode="auto">
          <a:xfrm flipH="0" flipV="0">
            <a:off x="10793792" y="35399836"/>
            <a:ext cx="8627429" cy="7296339"/>
          </a:xfrm>
          <a:prstGeom prst="rect">
            <a:avLst/>
          </a:prstGeom>
          <a:noFill/>
          <a:ln/>
        </p:spPr>
        <p:txBody>
          <a:bodyPr wrap="square" lIns="760" tIns="760" rIns="760" bIns="760" rtlCol="0" anchor="t">
            <a:normAutofit/>
          </a:bodyPr>
          <a:lstStyle/>
          <a:p>
            <a:pPr marL="0" indent="0">
              <a:buNone/>
              <a:defRPr/>
            </a:pPr>
            <a:r>
              <a:rPr lang="ru-RU" sz="3200" b="1">
                <a:solidFill>
                  <a:srgbClr val="0F172A"/>
                </a:solidFill>
                <a:latin typeface="Roboto"/>
                <a:ea typeface="Roboto"/>
                <a:cs typeface="Roboto"/>
              </a:rPr>
              <a:t>Противодействие </a:t>
            </a:r>
            <a:r>
              <a:rPr lang="ru-RU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нескольким тактикам:</a:t>
            </a:r>
            <a:endParaRPr lang="ru-RU" sz="3200">
              <a:solidFill>
                <a:srgbClr val="0F172A"/>
              </a:solidFill>
              <a:latin typeface="Roboto"/>
              <a:ea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en-US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</a:t>
            </a:r>
            <a:r>
              <a:rPr lang="en-US" sz="3200" b="1">
                <a:solidFill>
                  <a:srgbClr val="0F172A"/>
                </a:solidFill>
                <a:latin typeface="Roboto"/>
                <a:ea typeface="Roboto"/>
                <a:cs typeface="Roboto"/>
              </a:rPr>
              <a:t>TA0001 </a:t>
            </a:r>
            <a:r>
              <a:rPr lang="en-US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— Initial Access;</a:t>
            </a:r>
            <a:endParaRPr lang="en-US"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en-US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</a:t>
            </a:r>
            <a:r>
              <a:rPr lang="en-US" sz="3200" b="1">
                <a:solidFill>
                  <a:srgbClr val="0F172A"/>
                </a:solidFill>
                <a:latin typeface="Roboto"/>
                <a:ea typeface="Roboto"/>
                <a:cs typeface="Roboto"/>
              </a:rPr>
              <a:t>TA0003</a:t>
            </a:r>
            <a:r>
              <a:rPr lang="en-US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 — Persistence;</a:t>
            </a:r>
            <a:endParaRPr lang="en-US"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en-US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</a:t>
            </a:r>
            <a:r>
              <a:rPr lang="en-US" sz="3200" b="1">
                <a:solidFill>
                  <a:srgbClr val="0F172A"/>
                </a:solidFill>
                <a:latin typeface="Roboto"/>
                <a:ea typeface="Roboto"/>
                <a:cs typeface="Roboto"/>
              </a:rPr>
              <a:t>TA0005 </a:t>
            </a:r>
            <a:r>
              <a:rPr lang="en-US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— Defense Evasion;</a:t>
            </a:r>
            <a:endParaRPr lang="en-US"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en-US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</a:t>
            </a:r>
            <a:r>
              <a:rPr lang="en-US" sz="3200" b="1">
                <a:solidFill>
                  <a:srgbClr val="0F172A"/>
                </a:solidFill>
                <a:latin typeface="Roboto"/>
                <a:ea typeface="Roboto"/>
                <a:cs typeface="Roboto"/>
              </a:rPr>
              <a:t>TA0008 </a:t>
            </a:r>
            <a:r>
              <a:rPr lang="en-US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— Lateral Movement;</a:t>
            </a:r>
            <a:endParaRPr lang="en-US"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en-US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</a:t>
            </a:r>
            <a:r>
              <a:rPr lang="en-US" sz="3200" b="1">
                <a:solidFill>
                  <a:srgbClr val="0F172A"/>
                </a:solidFill>
                <a:latin typeface="Roboto"/>
                <a:ea typeface="Roboto"/>
                <a:cs typeface="Roboto"/>
              </a:rPr>
              <a:t>TA0011</a:t>
            </a:r>
            <a:r>
              <a:rPr lang="en-US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 — Command and Control.</a:t>
            </a:r>
            <a:endParaRPr sz="3200">
              <a:latin typeface="Roboto"/>
              <a:cs typeface="Roboto"/>
            </a:endParaRPr>
          </a:p>
          <a:p>
            <a:pPr marL="0" indent="0">
              <a:buNone/>
              <a:defRPr/>
            </a:pPr>
            <a:endParaRPr sz="1100">
              <a:latin typeface="Roboto"/>
              <a:cs typeface="Roboto"/>
            </a:endParaRPr>
          </a:p>
          <a:p>
            <a:pPr marL="0" indent="0">
              <a:buNone/>
              <a:defRPr/>
            </a:pPr>
            <a:r>
              <a:rPr lang="ru-RU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Комплексная защита обеспечивается </a:t>
            </a:r>
            <a:r>
              <a:rPr lang="ru-RU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за счёт использования DID, проверкой DAG, распределённой валидации и отсутствием единого управляющего узла, предотвращая использования всех перечисленных тактик.</a:t>
            </a:r>
            <a:endParaRPr sz="3200">
              <a:latin typeface="Roboto"/>
              <a:cs typeface="Roboto"/>
            </a:endParaRPr>
          </a:p>
        </p:txBody>
      </p:sp>
      <p:sp>
        <p:nvSpPr>
          <p:cNvPr id="44319901" name="Text 145"/>
          <p:cNvSpPr/>
          <p:nvPr/>
        </p:nvSpPr>
        <p:spPr bwMode="auto">
          <a:xfrm flipH="0" flipV="0">
            <a:off x="20561767" y="35399836"/>
            <a:ext cx="8677209" cy="6390298"/>
          </a:xfrm>
          <a:prstGeom prst="rect">
            <a:avLst/>
          </a:prstGeom>
          <a:noFill/>
          <a:ln/>
        </p:spPr>
        <p:txBody>
          <a:bodyPr wrap="square" lIns="760" tIns="760" rIns="760" bIns="760" rtlCol="0" anchor="t">
            <a:normAutofit/>
          </a:bodyPr>
          <a:lstStyle/>
          <a:p>
            <a:pPr marL="0" indent="0">
              <a:buNone/>
              <a:defRPr/>
            </a:pPr>
            <a:r>
              <a:rPr lang="ru-RU" sz="3200" b="1">
                <a:solidFill>
                  <a:srgbClr val="0F172A"/>
                </a:solidFill>
                <a:latin typeface="Roboto"/>
                <a:ea typeface="Roboto"/>
                <a:cs typeface="Roboto"/>
              </a:rPr>
              <a:t>Итоги:</a:t>
            </a:r>
            <a:endParaRPr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ru-RU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предложена архитектура P2P-сети;</a:t>
            </a:r>
            <a:endParaRPr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ru-RU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разработан алгоритм WIDAG;</a:t>
            </a:r>
            <a:endParaRPr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ru-RU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создан прототип узла;</a:t>
            </a:r>
            <a:endParaRPr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ru-RU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подтверждена работоспособность </a:t>
            </a:r>
            <a:br>
              <a:rPr lang="ru-RU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</a:br>
            <a:r>
              <a:rPr lang="en-US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  </a:t>
            </a:r>
            <a:r>
              <a:rPr lang="ru-RU" sz="1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 </a:t>
            </a:r>
            <a:r>
              <a:rPr lang="ru-RU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и эффективность защиты.</a:t>
            </a:r>
            <a:endParaRPr sz="3200">
              <a:latin typeface="Roboto"/>
              <a:cs typeface="Roboto"/>
            </a:endParaRPr>
          </a:p>
          <a:p>
            <a:pPr marL="0" indent="0">
              <a:buNone/>
              <a:defRPr/>
            </a:pPr>
            <a:endParaRPr sz="1200">
              <a:latin typeface="Roboto"/>
              <a:cs typeface="Roboto"/>
            </a:endParaRPr>
          </a:p>
          <a:p>
            <a:pPr marL="0" indent="0">
              <a:buNone/>
              <a:defRPr/>
            </a:pPr>
            <a:r>
              <a:rPr lang="ru-RU" sz="3200" b="1">
                <a:solidFill>
                  <a:srgbClr val="0F172A"/>
                </a:solidFill>
                <a:latin typeface="Roboto"/>
                <a:ea typeface="Roboto"/>
                <a:cs typeface="Roboto"/>
              </a:rPr>
              <a:t>Перспективы:</a:t>
            </a:r>
            <a:endParaRPr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ru-RU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глобальной P2P-сеть;</a:t>
            </a:r>
            <a:endParaRPr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ru-RU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интеграция IoT-устройств;</a:t>
            </a:r>
            <a:endParaRPr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ru-RU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развитие WIDAG и сети комитетов;</a:t>
            </a:r>
            <a:endParaRPr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ru-RU" sz="320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государственная интеграция.</a:t>
            </a:r>
            <a:endParaRPr sz="3200">
              <a:solidFill>
                <a:srgbClr val="0F172A"/>
              </a:solidFill>
              <a:latin typeface="Roboto"/>
              <a:cs typeface="Roboto"/>
            </a:endParaRPr>
          </a:p>
        </p:txBody>
      </p:sp>
      <p:sp>
        <p:nvSpPr>
          <p:cNvPr id="980332545" name="Shape 146"/>
          <p:cNvSpPr/>
          <p:nvPr/>
        </p:nvSpPr>
        <p:spPr bwMode="auto">
          <a:xfrm flipH="0" flipV="0">
            <a:off x="0" y="41404843"/>
            <a:ext cx="30275784" cy="1418175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 anchor="ctr"/>
          <a:p>
            <a:pPr algn="ctr">
              <a:defRPr/>
            </a:pPr>
            <a:endParaRPr>
              <a:latin typeface="Roboto"/>
              <a:cs typeface="Roboto"/>
            </a:endParaRPr>
          </a:p>
        </p:txBody>
      </p:sp>
      <p:sp>
        <p:nvSpPr>
          <p:cNvPr id="1664653357" name=""/>
          <p:cNvSpPr/>
          <p:nvPr/>
        </p:nvSpPr>
        <p:spPr bwMode="auto">
          <a:xfrm rot="0" flipH="0" flipV="0">
            <a:off x="818110" y="4125001"/>
            <a:ext cx="9299448" cy="883227"/>
          </a:xfrm>
          <a:prstGeom prst="roundRect">
            <a:avLst>
              <a:gd name="adj" fmla="val 16667"/>
            </a:avLst>
          </a:prstGeom>
          <a:solidFill>
            <a:srgbClr val="1F53C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indent="0" algn="ctr">
              <a:buNone/>
              <a:defRPr/>
            </a:pPr>
            <a:r>
              <a:rPr lang="ru-RU" sz="4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Актуальность и проблема</a:t>
            </a:r>
            <a:endParaRPr sz="4800">
              <a:solidFill>
                <a:schemeClr val="bg1"/>
              </a:solidFill>
              <a:latin typeface="Roboto"/>
              <a:cs typeface="Roboto"/>
            </a:endParaRPr>
          </a:p>
        </p:txBody>
      </p:sp>
      <p:sp>
        <p:nvSpPr>
          <p:cNvPr id="1675854846" name=""/>
          <p:cNvSpPr/>
          <p:nvPr/>
        </p:nvSpPr>
        <p:spPr bwMode="auto">
          <a:xfrm rot="0" flipH="0" flipV="0">
            <a:off x="10488167" y="4143081"/>
            <a:ext cx="9299447" cy="883226"/>
          </a:xfrm>
          <a:prstGeom prst="roundRect">
            <a:avLst>
              <a:gd name="adj" fmla="val 16667"/>
            </a:avLst>
          </a:prstGeom>
          <a:solidFill>
            <a:srgbClr val="1F53C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indent="0" algn="ctr">
              <a:buNone/>
              <a:defRPr/>
            </a:pPr>
            <a:r>
              <a:rPr lang="ru-RU" sz="4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Архитектура узла</a:t>
            </a:r>
            <a:endParaRPr sz="4800">
              <a:solidFill>
                <a:schemeClr val="bg1"/>
              </a:solidFill>
              <a:latin typeface="Roboto"/>
              <a:cs typeface="Roboto"/>
            </a:endParaRPr>
          </a:p>
        </p:txBody>
      </p:sp>
      <p:sp>
        <p:nvSpPr>
          <p:cNvPr id="1826817066" name=""/>
          <p:cNvSpPr/>
          <p:nvPr/>
        </p:nvSpPr>
        <p:spPr bwMode="auto">
          <a:xfrm rot="0" flipH="0" flipV="0">
            <a:off x="20123172" y="4143081"/>
            <a:ext cx="9334498" cy="883226"/>
          </a:xfrm>
          <a:prstGeom prst="roundRect">
            <a:avLst>
              <a:gd name="adj" fmla="val 16667"/>
            </a:avLst>
          </a:prstGeom>
          <a:solidFill>
            <a:srgbClr val="1F53C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indent="0" algn="ctr">
              <a:buNone/>
              <a:defRPr/>
            </a:pPr>
            <a:r>
              <a:rPr lang="ru-RU" sz="4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Новизна и значимость</a:t>
            </a:r>
            <a:endParaRPr sz="4800">
              <a:solidFill>
                <a:schemeClr val="bg1"/>
              </a:solidFill>
              <a:latin typeface="Roboto"/>
              <a:cs typeface="Roboto"/>
            </a:endParaRPr>
          </a:p>
        </p:txBody>
      </p:sp>
      <p:sp>
        <p:nvSpPr>
          <p:cNvPr id="1267434061" name=""/>
          <p:cNvSpPr/>
          <p:nvPr/>
        </p:nvSpPr>
        <p:spPr bwMode="auto">
          <a:xfrm rot="0" flipH="0" flipV="0">
            <a:off x="744244" y="34410997"/>
            <a:ext cx="9210202" cy="883225"/>
          </a:xfrm>
          <a:prstGeom prst="roundRect">
            <a:avLst>
              <a:gd name="adj" fmla="val 16667"/>
            </a:avLst>
          </a:prstGeom>
          <a:solidFill>
            <a:srgbClr val="1F53C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indent="0" algn="ctr">
              <a:buNone/>
              <a:defRPr/>
            </a:pPr>
            <a:r>
              <a:rPr lang="en-US" sz="4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Ц</a:t>
            </a:r>
            <a:r>
              <a:rPr lang="ru-RU" sz="4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елевая аудитория </a:t>
            </a:r>
            <a:endParaRPr sz="4800">
              <a:solidFill>
                <a:schemeClr val="bg1"/>
              </a:solidFill>
              <a:latin typeface="Roboto"/>
              <a:cs typeface="Roboto"/>
            </a:endParaRPr>
          </a:p>
        </p:txBody>
      </p:sp>
      <p:sp>
        <p:nvSpPr>
          <p:cNvPr id="1751087248" name=""/>
          <p:cNvSpPr/>
          <p:nvPr/>
        </p:nvSpPr>
        <p:spPr bwMode="auto">
          <a:xfrm rot="0" flipH="0" flipV="0">
            <a:off x="10397174" y="34410997"/>
            <a:ext cx="9390438" cy="883225"/>
          </a:xfrm>
          <a:prstGeom prst="roundRect">
            <a:avLst>
              <a:gd name="adj" fmla="val 16667"/>
            </a:avLst>
          </a:prstGeom>
          <a:solidFill>
            <a:srgbClr val="1F53C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indent="0" algn="ctr">
              <a:buNone/>
              <a:defRPr/>
            </a:pPr>
            <a:r>
              <a:rPr lang="en-US" sz="4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MITRE ATT&amp;CK</a:t>
            </a:r>
            <a:endParaRPr sz="4800">
              <a:solidFill>
                <a:schemeClr val="bg1"/>
              </a:solidFill>
              <a:latin typeface="Roboto"/>
              <a:cs typeface="Roboto"/>
            </a:endParaRPr>
          </a:p>
        </p:txBody>
      </p:sp>
      <p:sp>
        <p:nvSpPr>
          <p:cNvPr id="431132061" name=""/>
          <p:cNvSpPr/>
          <p:nvPr/>
        </p:nvSpPr>
        <p:spPr bwMode="auto">
          <a:xfrm rot="0" flipH="0" flipV="0">
            <a:off x="20105644" y="34410997"/>
            <a:ext cx="9299448" cy="883226"/>
          </a:xfrm>
          <a:prstGeom prst="roundRect">
            <a:avLst>
              <a:gd name="adj" fmla="val 16667"/>
            </a:avLst>
          </a:prstGeom>
          <a:solidFill>
            <a:srgbClr val="1F53C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indent="0" algn="ctr">
              <a:buNone/>
              <a:defRPr/>
            </a:pPr>
            <a:r>
              <a:rPr lang="ru-RU" sz="4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Итоги и перспективы</a:t>
            </a:r>
            <a:endParaRPr sz="4800">
              <a:solidFill>
                <a:schemeClr val="bg1"/>
              </a:solidFill>
              <a:latin typeface="Roboto"/>
              <a:cs typeface="Roboto"/>
            </a:endParaRPr>
          </a:p>
        </p:txBody>
      </p:sp>
      <p:sp>
        <p:nvSpPr>
          <p:cNvPr id="62525850" name=""/>
          <p:cNvSpPr/>
          <p:nvPr/>
        </p:nvSpPr>
        <p:spPr bwMode="auto">
          <a:xfrm rot="0" flipH="0" flipV="0">
            <a:off x="2064736" y="9641135"/>
            <a:ext cx="2199852" cy="738186"/>
          </a:xfrm>
          <a:prstGeom prst="ellipse">
            <a:avLst/>
          </a:prstGeom>
          <a:solidFill>
            <a:srgbClr val="FA8C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sz="28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Сервер</a:t>
            </a:r>
            <a:endParaRPr sz="2800">
              <a:solidFill>
                <a:schemeClr val="bg1"/>
              </a:solidFill>
              <a:latin typeface="Roboto"/>
              <a:cs typeface="Roboto"/>
            </a:endParaRPr>
          </a:p>
        </p:txBody>
      </p:sp>
      <p:sp>
        <p:nvSpPr>
          <p:cNvPr id="1021279439" name=""/>
          <p:cNvSpPr/>
          <p:nvPr/>
        </p:nvSpPr>
        <p:spPr bwMode="auto">
          <a:xfrm rot="1844316" flipH="1" flipV="0">
            <a:off x="1236124" y="11176044"/>
            <a:ext cx="1983882" cy="738185"/>
          </a:xfrm>
          <a:prstGeom prst="ellipse">
            <a:avLst/>
          </a:prstGeom>
          <a:solidFill>
            <a:srgbClr val="1D939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sz="28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Клиент</a:t>
            </a:r>
            <a:endParaRPr sz="2800">
              <a:solidFill>
                <a:schemeClr val="bg1"/>
              </a:solidFill>
              <a:latin typeface="Roboto"/>
              <a:cs typeface="Roboto"/>
            </a:endParaRPr>
          </a:p>
        </p:txBody>
      </p:sp>
      <p:sp>
        <p:nvSpPr>
          <p:cNvPr id="1864325180" name="Shape 28"/>
          <p:cNvSpPr/>
          <p:nvPr/>
        </p:nvSpPr>
        <p:spPr bwMode="auto">
          <a:xfrm flipH="1" flipV="1">
            <a:off x="3660556" y="10379322"/>
            <a:ext cx="158983" cy="920208"/>
          </a:xfrm>
          <a:prstGeom prst="line">
            <a:avLst/>
          </a:prstGeom>
          <a:noFill/>
          <a:ln w="38100">
            <a:solidFill>
              <a:srgbClr val="2F528F"/>
            </a:solidFill>
            <a:prstDash val="solid"/>
            <a:tailEnd type="triangle"/>
          </a:ln>
        </p:spPr>
      </p:sp>
      <p:sp>
        <p:nvSpPr>
          <p:cNvPr id="1503864172" name=""/>
          <p:cNvSpPr/>
          <p:nvPr/>
        </p:nvSpPr>
        <p:spPr bwMode="auto">
          <a:xfrm rot="0" flipH="0" flipV="0">
            <a:off x="5482685" y="11305153"/>
            <a:ext cx="1826129" cy="738186"/>
          </a:xfrm>
          <a:prstGeom prst="ellipse">
            <a:avLst/>
          </a:prstGeom>
          <a:solidFill>
            <a:srgbClr val="149BB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sz="28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Узел</a:t>
            </a:r>
            <a:endParaRPr sz="2800">
              <a:solidFill>
                <a:schemeClr val="bg1"/>
              </a:solidFill>
              <a:latin typeface="Roboto"/>
              <a:cs typeface="Roboto"/>
            </a:endParaRPr>
          </a:p>
        </p:txBody>
      </p:sp>
      <p:sp>
        <p:nvSpPr>
          <p:cNvPr id="502461731" name="Shape 28"/>
          <p:cNvSpPr/>
          <p:nvPr/>
        </p:nvSpPr>
        <p:spPr bwMode="auto">
          <a:xfrm rot="17697684" flipH="0" flipV="1">
            <a:off x="8094744" y="10653852"/>
            <a:ext cx="830465" cy="386571"/>
          </a:xfrm>
          <a:prstGeom prst="line">
            <a:avLst/>
          </a:prstGeom>
          <a:noFill/>
          <a:ln w="38100">
            <a:solidFill>
              <a:srgbClr val="2F528F"/>
            </a:solidFill>
            <a:prstDash val="solid"/>
            <a:tailEnd type="triangle"/>
          </a:ln>
        </p:spPr>
      </p:sp>
      <p:sp>
        <p:nvSpPr>
          <p:cNvPr id="2035845707" name=""/>
          <p:cNvSpPr/>
          <p:nvPr/>
        </p:nvSpPr>
        <p:spPr bwMode="auto">
          <a:xfrm rot="0" flipH="0" flipV="0">
            <a:off x="10397174" y="24998368"/>
            <a:ext cx="9390438" cy="883225"/>
          </a:xfrm>
          <a:prstGeom prst="roundRect">
            <a:avLst>
              <a:gd name="adj" fmla="val 16667"/>
            </a:avLst>
          </a:prstGeom>
          <a:solidFill>
            <a:srgbClr val="1F53C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indent="0" algn="ctr">
              <a:buNone/>
              <a:defRPr/>
            </a:pPr>
            <a:r>
              <a:rPr lang="ru-RU" sz="4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Результаты и тестирование</a:t>
            </a:r>
            <a:endParaRPr sz="4800">
              <a:solidFill>
                <a:schemeClr val="bg1"/>
              </a:solidFill>
              <a:latin typeface="Roboto"/>
              <a:cs typeface="Roboto"/>
            </a:endParaRPr>
          </a:p>
        </p:txBody>
      </p:sp>
      <p:graphicFrame>
        <p:nvGraphicFramePr>
          <p:cNvPr id="1034324784" name=""/>
          <p:cNvGraphicFramePr>
            <a:graphicFrameLocks xmlns:a="http://schemas.openxmlformats.org/drawingml/2006/main"/>
          </p:cNvGraphicFramePr>
          <p:nvPr/>
        </p:nvGraphicFramePr>
        <p:xfrm rot="0">
          <a:off x="20655534" y="7489122"/>
          <a:ext cx="8304827" cy="4633504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{5C22544A-7EE6-4342-B048-85BDC9FD1C3A}</a:tableStyleId>
              </a:tblPr>
              <a:tblGrid>
                <a:gridCol w="2183846"/>
                <a:gridCol w="1138083"/>
                <a:gridCol w="1660965"/>
                <a:gridCol w="1660965"/>
                <a:gridCol w="1660965"/>
              </a:tblGrid>
              <a:tr h="65545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3000">
                          <a:latin typeface="Roboto"/>
                          <a:ea typeface="Roboto"/>
                          <a:cs typeface="Roboto"/>
                        </a:rPr>
                        <a:t>Решение</a:t>
                      </a: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000">
                          <a:latin typeface="Roboto"/>
                          <a:ea typeface="Roboto"/>
                          <a:cs typeface="Roboto"/>
                        </a:rPr>
                        <a:t>DID</a:t>
                      </a: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3000">
                          <a:latin typeface="Roboto"/>
                          <a:ea typeface="Roboto"/>
                          <a:cs typeface="Roboto"/>
                        </a:rPr>
                        <a:t>Марш.</a:t>
                      </a: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000">
                          <a:latin typeface="Roboto"/>
                          <a:ea typeface="Roboto"/>
                          <a:cs typeface="Roboto"/>
                        </a:rPr>
                        <a:t>DAG</a:t>
                      </a: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000">
                          <a:latin typeface="Roboto"/>
                          <a:ea typeface="Roboto"/>
                          <a:cs typeface="Roboto"/>
                        </a:rPr>
                        <a:t>dApps</a:t>
                      </a: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948065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000">
                          <a:latin typeface="Roboto"/>
                          <a:ea typeface="Roboto"/>
                          <a:cs typeface="Roboto"/>
                        </a:rPr>
                        <a:t>Holochain</a:t>
                      </a: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ru-RU" sz="3000" b="0" i="0" u="none" strike="noStrike" cap="none" spc="0">
                          <a:solidFill>
                            <a:srgbClr val="0F172A"/>
                          </a:solidFill>
                          <a:latin typeface="Roboto"/>
                          <a:ea typeface="Roboto"/>
                          <a:cs typeface="Roboto"/>
                        </a:rPr>
                        <a:t>±</a:t>
                      </a:r>
                      <a:endParaRPr sz="3000">
                        <a:latin typeface="Roboto"/>
                        <a:cs typeface="Roboto"/>
                      </a:endParaRPr>
                    </a:p>
                    <a:p>
                      <a:pPr algn="ctr">
                        <a:defRPr/>
                      </a:pP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000">
                          <a:latin typeface="Roboto"/>
                          <a:ea typeface="Roboto"/>
                          <a:cs typeface="Roboto"/>
                        </a:rPr>
                        <a:t>+</a:t>
                      </a: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ru-RU" sz="3000" b="0" i="0" u="none" strike="noStrike" cap="none" spc="0">
                          <a:solidFill>
                            <a:srgbClr val="0F172A"/>
                          </a:solidFill>
                          <a:latin typeface="Roboto"/>
                          <a:ea typeface="Roboto"/>
                          <a:cs typeface="Roboto"/>
                        </a:rPr>
                        <a:t>±</a:t>
                      </a:r>
                      <a:endParaRPr sz="3000">
                        <a:latin typeface="Roboto"/>
                        <a:cs typeface="Roboto"/>
                      </a:endParaRPr>
                    </a:p>
                    <a:p>
                      <a:pPr algn="ctr">
                        <a:defRPr/>
                      </a:pP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000">
                          <a:latin typeface="Roboto"/>
                          <a:ea typeface="Roboto"/>
                          <a:cs typeface="Roboto"/>
                        </a:rPr>
                        <a:t>+</a:t>
                      </a: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45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000">
                          <a:latin typeface="Roboto"/>
                          <a:ea typeface="Roboto"/>
                          <a:cs typeface="Roboto"/>
                        </a:rPr>
                        <a:t>Avalanche</a:t>
                      </a: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000">
                          <a:latin typeface="Roboto"/>
                          <a:ea typeface="Roboto"/>
                          <a:cs typeface="Roboto"/>
                        </a:rPr>
                        <a:t>-</a:t>
                      </a: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000">
                          <a:latin typeface="Roboto"/>
                          <a:ea typeface="Roboto"/>
                          <a:cs typeface="Roboto"/>
                        </a:rPr>
                        <a:t>-</a:t>
                      </a: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000">
                          <a:latin typeface="Roboto"/>
                          <a:ea typeface="Roboto"/>
                          <a:cs typeface="Roboto"/>
                        </a:rPr>
                        <a:t>+</a:t>
                      </a: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000">
                          <a:latin typeface="Roboto"/>
                          <a:ea typeface="Roboto"/>
                          <a:cs typeface="Roboto"/>
                        </a:rPr>
                        <a:t>+</a:t>
                      </a: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53247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000">
                          <a:latin typeface="Roboto"/>
                          <a:ea typeface="Roboto"/>
                          <a:cs typeface="Roboto"/>
                        </a:rPr>
                        <a:t>IOTA</a:t>
                      </a: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000">
                          <a:latin typeface="Roboto"/>
                          <a:ea typeface="Roboto"/>
                          <a:cs typeface="Roboto"/>
                        </a:rPr>
                        <a:t>-</a:t>
                      </a: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000">
                          <a:latin typeface="Roboto"/>
                          <a:ea typeface="Roboto"/>
                          <a:cs typeface="Roboto"/>
                        </a:rPr>
                        <a:t>-</a:t>
                      </a: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000">
                          <a:latin typeface="Roboto"/>
                          <a:ea typeface="Roboto"/>
                          <a:cs typeface="Roboto"/>
                        </a:rPr>
                        <a:t>+</a:t>
                      </a: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ru-RU" sz="3000" b="0" i="0" u="none" strike="noStrike" cap="none" spc="0">
                          <a:solidFill>
                            <a:srgbClr val="0F172A"/>
                          </a:solidFill>
                          <a:latin typeface="Roboto"/>
                          <a:ea typeface="Roboto"/>
                          <a:cs typeface="Roboto"/>
                        </a:rPr>
                        <a:t>±</a:t>
                      </a:r>
                      <a:endParaRPr sz="3000">
                        <a:latin typeface="Roboto"/>
                        <a:cs typeface="Roboto"/>
                      </a:endParaRPr>
                    </a:p>
                    <a:p>
                      <a:pPr algn="ctr">
                        <a:defRPr/>
                      </a:pP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45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000">
                          <a:latin typeface="Roboto"/>
                          <a:ea typeface="Roboto"/>
                          <a:cs typeface="Roboto"/>
                        </a:rPr>
                        <a:t>Yggdrasil</a:t>
                      </a: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000">
                          <a:latin typeface="Roboto"/>
                          <a:ea typeface="Roboto"/>
                          <a:cs typeface="Roboto"/>
                        </a:rPr>
                        <a:t>-</a:t>
                      </a: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000">
                          <a:latin typeface="Roboto"/>
                          <a:ea typeface="Roboto"/>
                          <a:cs typeface="Roboto"/>
                        </a:rPr>
                        <a:t>+</a:t>
                      </a: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000">
                          <a:latin typeface="Roboto"/>
                          <a:ea typeface="Roboto"/>
                          <a:cs typeface="Roboto"/>
                        </a:rPr>
                        <a:t>-</a:t>
                      </a: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000">
                          <a:latin typeface="Roboto"/>
                          <a:ea typeface="Roboto"/>
                          <a:cs typeface="Roboto"/>
                        </a:rPr>
                        <a:t>-</a:t>
                      </a: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EFF6FF"/>
                    </a:solidFill>
                  </a:tcPr>
                </a:tc>
              </a:tr>
              <a:tr h="655456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lang="ru-RU" sz="3000">
                          <a:latin typeface="Roboto"/>
                          <a:ea typeface="Roboto"/>
                          <a:cs typeface="Roboto"/>
                        </a:rPr>
                        <a:t>Проект</a:t>
                      </a: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000">
                          <a:latin typeface="Roboto"/>
                          <a:ea typeface="Roboto"/>
                          <a:cs typeface="Roboto"/>
                        </a:rPr>
                        <a:t>+</a:t>
                      </a: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000">
                          <a:latin typeface="Roboto"/>
                          <a:ea typeface="Roboto"/>
                          <a:cs typeface="Roboto"/>
                        </a:rPr>
                        <a:t>+</a:t>
                      </a: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000">
                          <a:latin typeface="Roboto"/>
                          <a:ea typeface="Roboto"/>
                          <a:cs typeface="Roboto"/>
                        </a:rPr>
                        <a:t>+</a:t>
                      </a: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000">
                          <a:latin typeface="Roboto"/>
                          <a:ea typeface="Roboto"/>
                          <a:cs typeface="Roboto"/>
                        </a:rPr>
                        <a:t>+</a:t>
                      </a:r>
                      <a:endParaRPr sz="3000">
                        <a:latin typeface="Roboto"/>
                        <a:cs typeface="Roboto"/>
                      </a:endParaRP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1462309197" name=""/>
          <p:cNvSpPr/>
          <p:nvPr/>
        </p:nvSpPr>
        <p:spPr bwMode="auto">
          <a:xfrm rot="0" flipH="0" flipV="0">
            <a:off x="11890252" y="6093041"/>
            <a:ext cx="2038349" cy="1028699"/>
          </a:xfrm>
          <a:prstGeom prst="roundRect">
            <a:avLst>
              <a:gd name="adj" fmla="val 16667"/>
            </a:avLst>
          </a:prstGeom>
          <a:solidFill>
            <a:srgbClr val="FDB80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8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DID / Key </a:t>
            </a:r>
            <a:r>
              <a:rPr sz="28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Manager</a:t>
            </a:r>
            <a:endParaRPr sz="2800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2060535176" name=""/>
          <p:cNvSpPr/>
          <p:nvPr/>
        </p:nvSpPr>
        <p:spPr bwMode="auto">
          <a:xfrm rot="0" flipH="0" flipV="0">
            <a:off x="14143059" y="6093041"/>
            <a:ext cx="2038349" cy="1028698"/>
          </a:xfrm>
          <a:prstGeom prst="roundRect">
            <a:avLst>
              <a:gd name="adj" fmla="val 16667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800">
                <a:latin typeface="Roboto"/>
                <a:ea typeface="Roboto"/>
                <a:cs typeface="Roboto"/>
              </a:rPr>
              <a:t>Name Resolver</a:t>
            </a:r>
            <a:endParaRPr sz="2800">
              <a:latin typeface="Roboto"/>
              <a:cs typeface="Roboto"/>
            </a:endParaRPr>
          </a:p>
        </p:txBody>
      </p:sp>
      <p:sp>
        <p:nvSpPr>
          <p:cNvPr id="1382251087" name=""/>
          <p:cNvSpPr/>
          <p:nvPr/>
        </p:nvSpPr>
        <p:spPr bwMode="auto">
          <a:xfrm rot="0" flipH="0" flipV="0">
            <a:off x="16374026" y="6093041"/>
            <a:ext cx="2031324" cy="1028698"/>
          </a:xfrm>
          <a:prstGeom prst="roundRect">
            <a:avLst>
              <a:gd name="adj" fmla="val 16667"/>
            </a:avLst>
          </a:prstGeom>
          <a:solidFill>
            <a:srgbClr val="297C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800">
                <a:latin typeface="Roboto"/>
                <a:ea typeface="Roboto"/>
                <a:cs typeface="Roboto"/>
              </a:rPr>
              <a:t>Kad-DHT</a:t>
            </a:r>
            <a:endParaRPr sz="2800">
              <a:latin typeface="Roboto"/>
              <a:cs typeface="Roboto"/>
            </a:endParaRPr>
          </a:p>
        </p:txBody>
      </p:sp>
      <p:sp>
        <p:nvSpPr>
          <p:cNvPr id="366196529" name=""/>
          <p:cNvSpPr/>
          <p:nvPr/>
        </p:nvSpPr>
        <p:spPr bwMode="auto">
          <a:xfrm rot="0" flipH="0" flipV="0">
            <a:off x="11904685" y="7407491"/>
            <a:ext cx="6515098" cy="761999"/>
          </a:xfrm>
          <a:prstGeom prst="roundRect">
            <a:avLst>
              <a:gd name="adj" fmla="val 16667"/>
            </a:avLst>
          </a:prstGeom>
          <a:solidFill>
            <a:srgbClr val="FA8C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3200">
                <a:latin typeface="Roboto"/>
                <a:ea typeface="Roboto"/>
                <a:cs typeface="Roboto"/>
              </a:rPr>
              <a:t>WIDAG Engine</a:t>
            </a:r>
            <a:endParaRPr sz="3200">
              <a:latin typeface="Roboto"/>
              <a:cs typeface="Roboto"/>
            </a:endParaRPr>
          </a:p>
        </p:txBody>
      </p:sp>
      <p:sp>
        <p:nvSpPr>
          <p:cNvPr id="862998757" name=""/>
          <p:cNvSpPr/>
          <p:nvPr/>
        </p:nvSpPr>
        <p:spPr bwMode="auto">
          <a:xfrm rot="0" flipH="0" flipV="0">
            <a:off x="12847572" y="9670622"/>
            <a:ext cx="2162057" cy="1028698"/>
          </a:xfrm>
          <a:prstGeom prst="roundRect">
            <a:avLst>
              <a:gd name="adj" fmla="val 16667"/>
            </a:avLst>
          </a:prstGeom>
          <a:solidFill>
            <a:srgbClr val="149BB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800">
                <a:latin typeface="Roboto"/>
                <a:ea typeface="Roboto"/>
                <a:cs typeface="Roboto"/>
              </a:rPr>
              <a:t>Local Event Journal</a:t>
            </a:r>
            <a:endParaRPr sz="2800">
              <a:latin typeface="Roboto"/>
              <a:cs typeface="Roboto"/>
            </a:endParaRPr>
          </a:p>
        </p:txBody>
      </p:sp>
      <p:sp>
        <p:nvSpPr>
          <p:cNvPr id="1489683700" name=""/>
          <p:cNvSpPr/>
          <p:nvPr/>
        </p:nvSpPr>
        <p:spPr bwMode="auto">
          <a:xfrm rot="0" flipH="0" flipV="0">
            <a:off x="14143061" y="8441386"/>
            <a:ext cx="2006261" cy="1028698"/>
          </a:xfrm>
          <a:prstGeom prst="roundRect">
            <a:avLst>
              <a:gd name="adj" fmla="val 16667"/>
            </a:avLst>
          </a:prstGeom>
          <a:solidFill>
            <a:srgbClr val="1878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800">
                <a:latin typeface="Roboto"/>
                <a:ea typeface="Roboto"/>
                <a:cs typeface="Roboto"/>
              </a:rPr>
              <a:t>Blob Storage</a:t>
            </a:r>
            <a:endParaRPr sz="2800">
              <a:latin typeface="Roboto"/>
              <a:cs typeface="Roboto"/>
            </a:endParaRPr>
          </a:p>
        </p:txBody>
      </p:sp>
      <p:sp>
        <p:nvSpPr>
          <p:cNvPr id="222796813" name=""/>
          <p:cNvSpPr/>
          <p:nvPr/>
        </p:nvSpPr>
        <p:spPr bwMode="auto">
          <a:xfrm rot="0" flipH="0" flipV="0">
            <a:off x="16367002" y="8441386"/>
            <a:ext cx="2038348" cy="1028698"/>
          </a:xfrm>
          <a:prstGeom prst="roundRect">
            <a:avLst>
              <a:gd name="adj" fmla="val 16667"/>
            </a:avLst>
          </a:prstGeom>
          <a:solidFill>
            <a:srgbClr val="6665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800">
                <a:latin typeface="Roboto"/>
                <a:ea typeface="Roboto"/>
                <a:cs typeface="Roboto"/>
              </a:rPr>
              <a:t>Validation Committee</a:t>
            </a:r>
            <a:endParaRPr sz="2800">
              <a:latin typeface="Roboto"/>
              <a:cs typeface="Roboto"/>
            </a:endParaRPr>
          </a:p>
        </p:txBody>
      </p:sp>
      <p:sp>
        <p:nvSpPr>
          <p:cNvPr id="809049473" name=""/>
          <p:cNvSpPr/>
          <p:nvPr/>
        </p:nvSpPr>
        <p:spPr bwMode="auto">
          <a:xfrm rot="0" flipH="0" flipV="0">
            <a:off x="11890252" y="8441386"/>
            <a:ext cx="2038348" cy="1028698"/>
          </a:xfrm>
          <a:prstGeom prst="roundRect">
            <a:avLst>
              <a:gd name="adj" fmla="val 16667"/>
            </a:avLst>
          </a:prstGeom>
          <a:solidFill>
            <a:srgbClr val="3B9A3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sz="2800">
                <a:latin typeface="Roboto"/>
                <a:ea typeface="Roboto"/>
                <a:cs typeface="Roboto"/>
              </a:rPr>
              <a:t>Conflict Resolver</a:t>
            </a:r>
            <a:endParaRPr sz="2800">
              <a:latin typeface="Roboto"/>
              <a:cs typeface="Roboto"/>
            </a:endParaRPr>
          </a:p>
        </p:txBody>
      </p:sp>
      <p:sp>
        <p:nvSpPr>
          <p:cNvPr id="729182884" name=""/>
          <p:cNvSpPr txBox="1"/>
          <p:nvPr/>
        </p:nvSpPr>
        <p:spPr bwMode="auto">
          <a:xfrm rot="0" flipH="0" flipV="0">
            <a:off x="11687376" y="11064326"/>
            <a:ext cx="228828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315633767" name=""/>
          <p:cNvSpPr/>
          <p:nvPr/>
        </p:nvSpPr>
        <p:spPr bwMode="auto">
          <a:xfrm rot="0" flipH="0" flipV="0">
            <a:off x="15285974" y="9670622"/>
            <a:ext cx="2162056" cy="1028698"/>
          </a:xfrm>
          <a:prstGeom prst="roundRect">
            <a:avLst>
              <a:gd name="adj" fmla="val 16667"/>
            </a:avLst>
          </a:prstGeom>
          <a:solidFill>
            <a:srgbClr val="1D939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800" b="0" i="0" u="none" strike="noStrike" cap="none" spc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Checkpoint Manager</a:t>
            </a:r>
            <a:endParaRPr sz="2800">
              <a:latin typeface="Roboto"/>
              <a:cs typeface="Roboto"/>
            </a:endParaRPr>
          </a:p>
        </p:txBody>
      </p:sp>
      <p:sp>
        <p:nvSpPr>
          <p:cNvPr id="249102735" name=""/>
          <p:cNvSpPr/>
          <p:nvPr/>
        </p:nvSpPr>
        <p:spPr bwMode="auto">
          <a:xfrm rot="0" flipH="0" flipV="0">
            <a:off x="12731154" y="8169491"/>
            <a:ext cx="232833" cy="27189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F528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96240604" name=""/>
          <p:cNvSpPr/>
          <p:nvPr/>
        </p:nvSpPr>
        <p:spPr bwMode="auto">
          <a:xfrm rot="0" flipH="0" flipV="0">
            <a:off x="15045818" y="8169491"/>
            <a:ext cx="232832" cy="27189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F528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67262454" name=""/>
          <p:cNvSpPr/>
          <p:nvPr/>
        </p:nvSpPr>
        <p:spPr bwMode="auto">
          <a:xfrm rot="0" flipH="0" flipV="0">
            <a:off x="17269760" y="8169491"/>
            <a:ext cx="232832" cy="271894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F528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14238340" name=""/>
          <p:cNvSpPr/>
          <p:nvPr/>
        </p:nvSpPr>
        <p:spPr bwMode="auto">
          <a:xfrm rot="0" flipH="0" flipV="0">
            <a:off x="13910228" y="8169491"/>
            <a:ext cx="232832" cy="150113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F528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5904309" name=""/>
          <p:cNvSpPr/>
          <p:nvPr/>
        </p:nvSpPr>
        <p:spPr bwMode="auto">
          <a:xfrm rot="0" flipH="0" flipV="0">
            <a:off x="16141193" y="8169491"/>
            <a:ext cx="232832" cy="150113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2F528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43512131" name=""/>
          <p:cNvSpPr/>
          <p:nvPr/>
        </p:nvSpPr>
        <p:spPr bwMode="auto">
          <a:xfrm rot="0" flipH="0" flipV="0">
            <a:off x="11870792" y="11114281"/>
            <a:ext cx="6534559" cy="816035"/>
          </a:xfrm>
          <a:prstGeom prst="ellips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sz="2800">
                <a:solidFill>
                  <a:schemeClr val="tx1"/>
                </a:solidFill>
              </a:rPr>
              <a:t>Распределённая сеть</a:t>
            </a:r>
            <a:endParaRPr sz="2800">
              <a:solidFill>
                <a:schemeClr val="tx1"/>
              </a:solidFill>
            </a:endParaRPr>
          </a:p>
        </p:txBody>
      </p:sp>
      <p:sp>
        <p:nvSpPr>
          <p:cNvPr id="1000054607" name=""/>
          <p:cNvSpPr txBox="1"/>
          <p:nvPr/>
        </p:nvSpPr>
        <p:spPr bwMode="auto">
          <a:xfrm rot="0" flipH="0" flipV="0">
            <a:off x="13889660" y="5348001"/>
            <a:ext cx="2440199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tabLst>
                <a:tab pos="11970000" algn="l"/>
              </a:tabLst>
              <a:defRPr/>
            </a:pPr>
            <a:r>
              <a:rPr lang="ru-RU" sz="3200" b="1">
                <a:latin typeface="Roboto"/>
                <a:ea typeface="Roboto"/>
                <a:cs typeface="Roboto"/>
              </a:rPr>
              <a:t>Узел сети</a:t>
            </a:r>
            <a:endParaRPr sz="3200" b="1">
              <a:latin typeface="Roboto"/>
              <a:cs typeface="Roboto"/>
            </a:endParaRPr>
          </a:p>
        </p:txBody>
      </p:sp>
      <p:sp>
        <p:nvSpPr>
          <p:cNvPr id="1183625213" name=""/>
          <p:cNvSpPr/>
          <p:nvPr/>
        </p:nvSpPr>
        <p:spPr bwMode="auto">
          <a:xfrm rot="0" flipH="0" flipV="0">
            <a:off x="11187251" y="6526740"/>
            <a:ext cx="703000" cy="5172460"/>
          </a:xfrm>
          <a:prstGeom prst="curvedRightArrow">
            <a:avLst>
              <a:gd name="adj1" fmla="val 21283"/>
              <a:gd name="adj2" fmla="val 46465"/>
              <a:gd name="adj3" fmla="val 25000"/>
            </a:avLst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01137395" name=""/>
          <p:cNvSpPr/>
          <p:nvPr/>
        </p:nvSpPr>
        <p:spPr bwMode="auto">
          <a:xfrm rot="0" flipH="0" flipV="0">
            <a:off x="18378236" y="6526740"/>
            <a:ext cx="720606" cy="5172460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12072489" name=""/>
          <p:cNvSpPr/>
          <p:nvPr/>
        </p:nvSpPr>
        <p:spPr bwMode="auto">
          <a:xfrm rot="10800000" flipH="0" flipV="0">
            <a:off x="11394288" y="6677553"/>
            <a:ext cx="510397" cy="4844745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1734705" name=""/>
          <p:cNvSpPr/>
          <p:nvPr/>
        </p:nvSpPr>
        <p:spPr bwMode="auto">
          <a:xfrm rot="10800000" flipH="0" flipV="0">
            <a:off x="18378236" y="6677553"/>
            <a:ext cx="518200" cy="4841759"/>
          </a:xfrm>
          <a:prstGeom prst="curvedRightArrow">
            <a:avLst>
              <a:gd name="adj1" fmla="val 21283"/>
              <a:gd name="adj2" fmla="val 46465"/>
              <a:gd name="adj3" fmla="val 25000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01471847" name=""/>
          <p:cNvSpPr/>
          <p:nvPr/>
        </p:nvSpPr>
        <p:spPr bwMode="auto">
          <a:xfrm rot="0" flipH="0" flipV="0">
            <a:off x="13925299" y="6494991"/>
            <a:ext cx="246062" cy="23812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F528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69933330" name=""/>
          <p:cNvSpPr/>
          <p:nvPr/>
        </p:nvSpPr>
        <p:spPr bwMode="auto">
          <a:xfrm rot="0" flipH="0" flipV="0">
            <a:off x="16181410" y="6526740"/>
            <a:ext cx="246061" cy="238124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F528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71483059" name="Shape 34"/>
          <p:cNvSpPr/>
          <p:nvPr/>
        </p:nvSpPr>
        <p:spPr bwMode="auto">
          <a:xfrm flipH="0" flipV="0">
            <a:off x="10597262" y="15357555"/>
            <a:ext cx="8989184" cy="9120569"/>
          </a:xfrm>
          <a:prstGeom prst="roundRect">
            <a:avLst>
              <a:gd name="adj" fmla="val 59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blurRad="12700" dist="3810" dir="2700000" sx="100000" sy="100000" kx="0" ky="0" algn="bl" rotWithShape="0">
              <a:srgbClr val="000000">
                <a:alpha val="8000"/>
              </a:srgbClr>
            </a:outerShdw>
          </a:effectLst>
        </p:spPr>
        <p:txBody>
          <a:bodyPr anchor="ctr"/>
          <a:p>
            <a:pPr algn="ctr">
              <a:defRPr/>
            </a:pPr>
            <a:endParaRPr>
              <a:latin typeface="Roboto"/>
              <a:cs typeface="Roboto"/>
            </a:endParaRPr>
          </a:p>
        </p:txBody>
      </p:sp>
      <p:sp>
        <p:nvSpPr>
          <p:cNvPr id="1763643609" name="Text 12"/>
          <p:cNvSpPr/>
          <p:nvPr/>
        </p:nvSpPr>
        <p:spPr bwMode="auto">
          <a:xfrm>
            <a:off x="10598343" y="15305600"/>
            <a:ext cx="8897112" cy="658368"/>
          </a:xfrm>
          <a:prstGeom prst="rect">
            <a:avLst/>
          </a:prstGeom>
          <a:noFill/>
          <a:ln/>
        </p:spPr>
        <p:txBody>
          <a:bodyPr wrap="square" lIns="761" tIns="761" rIns="761" bIns="761" rtlCol="0" anchor="t">
            <a:normAutofit/>
          </a:bodyPr>
          <a:lstStyle/>
          <a:p>
            <a:pPr marL="0" indent="0">
              <a:buNone/>
              <a:defRPr/>
            </a:pPr>
            <a:r>
              <a:rPr lang="ru-RU" sz="4800" b="1">
                <a:solidFill>
                  <a:srgbClr val="0F172A"/>
                </a:solidFill>
                <a:latin typeface="Roboto"/>
                <a:ea typeface="Roboto"/>
                <a:cs typeface="Roboto"/>
              </a:rPr>
              <a:t>Архитектура узла</a:t>
            </a:r>
            <a:endParaRPr sz="4800">
              <a:latin typeface="Roboto"/>
              <a:cs typeface="Roboto"/>
            </a:endParaRPr>
          </a:p>
        </p:txBody>
      </p:sp>
      <p:sp>
        <p:nvSpPr>
          <p:cNvPr id="614970842" name="Shape 32"/>
          <p:cNvSpPr/>
          <p:nvPr/>
        </p:nvSpPr>
        <p:spPr bwMode="auto">
          <a:xfrm>
            <a:off x="16249335" y="23075091"/>
            <a:ext cx="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423845709" name=""/>
          <p:cNvSpPr/>
          <p:nvPr/>
        </p:nvSpPr>
        <p:spPr bwMode="auto">
          <a:xfrm rot="0" flipH="0" flipV="0">
            <a:off x="10397174" y="15211250"/>
            <a:ext cx="9390438" cy="883225"/>
          </a:xfrm>
          <a:prstGeom prst="roundRect">
            <a:avLst>
              <a:gd name="adj" fmla="val 16667"/>
            </a:avLst>
          </a:prstGeom>
          <a:solidFill>
            <a:srgbClr val="1F53C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indent="0" algn="ctr">
              <a:buNone/>
              <a:defRPr/>
            </a:pPr>
            <a:r>
              <a:rPr lang="ru-RU" sz="48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Цели, задачи и модели угроз</a:t>
            </a:r>
            <a:endParaRPr sz="4800">
              <a:solidFill>
                <a:schemeClr val="bg1"/>
              </a:solidFill>
              <a:latin typeface="Roboto"/>
              <a:cs typeface="Roboto"/>
            </a:endParaRPr>
          </a:p>
        </p:txBody>
      </p:sp>
      <p:sp>
        <p:nvSpPr>
          <p:cNvPr id="1521982109" name="Text 10"/>
          <p:cNvSpPr/>
          <p:nvPr/>
        </p:nvSpPr>
        <p:spPr bwMode="auto">
          <a:xfrm flipH="0" flipV="0">
            <a:off x="10971680" y="12479358"/>
            <a:ext cx="8394677" cy="2030526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760" tIns="760" rIns="760" bIns="76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endParaRPr/>
          </a:p>
        </p:txBody>
      </p:sp>
      <p:cxnSp>
        <p:nvCxnSpPr>
          <p:cNvPr id="1660607386" name=""/>
          <p:cNvCxnSpPr/>
          <p:nvPr/>
        </p:nvCxnSpPr>
        <p:spPr bwMode="auto">
          <a:xfrm rot="5400000" flipH="0" flipV="1">
            <a:off x="3390651" y="24860524"/>
            <a:ext cx="8246838" cy="3100008"/>
          </a:xfrm>
          <a:prstGeom prst="curvedConnector4">
            <a:avLst>
              <a:gd name="adj1" fmla="val 8414"/>
              <a:gd name="adj2" fmla="val 107374"/>
            </a:avLst>
          </a:prstGeom>
          <a:ln w="571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8668316" name=""/>
          <p:cNvCxnSpPr/>
          <p:nvPr/>
        </p:nvCxnSpPr>
        <p:spPr bwMode="auto">
          <a:xfrm rot="5400000" flipH="0" flipV="1">
            <a:off x="3367523" y="24837396"/>
            <a:ext cx="7988303" cy="3404800"/>
          </a:xfrm>
          <a:prstGeom prst="curvedConnector4">
            <a:avLst>
              <a:gd name="adj1" fmla="val 17397"/>
              <a:gd name="adj2" fmla="val 106714"/>
            </a:avLst>
          </a:prstGeom>
          <a:ln w="571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45069" name=""/>
          <p:cNvSpPr/>
          <p:nvPr/>
        </p:nvSpPr>
        <p:spPr bwMode="auto">
          <a:xfrm rot="0" flipH="0" flipV="0">
            <a:off x="6182722" y="22545645"/>
            <a:ext cx="1005021" cy="442333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3047900" name=""/>
          <p:cNvSpPr/>
          <p:nvPr/>
        </p:nvSpPr>
        <p:spPr bwMode="auto">
          <a:xfrm rot="0" flipH="0" flipV="0">
            <a:off x="6294233" y="23557041"/>
            <a:ext cx="1572087" cy="1115915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23700787" name=""/>
          <p:cNvSpPr/>
          <p:nvPr/>
        </p:nvSpPr>
        <p:spPr bwMode="auto">
          <a:xfrm rot="0" flipH="0" flipV="0">
            <a:off x="4607880" y="16380639"/>
            <a:ext cx="3092526" cy="1028698"/>
          </a:xfrm>
          <a:prstGeom prst="roundRect">
            <a:avLst>
              <a:gd name="adj" fmla="val 16667"/>
            </a:avLst>
          </a:prstGeom>
          <a:solidFill>
            <a:srgbClr val="FA8C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sz="2800">
                <a:latin typeface="Roboto"/>
                <a:ea typeface="Roboto"/>
                <a:cs typeface="Roboto"/>
              </a:rPr>
              <a:t>Формирование вершины </a:t>
            </a:r>
            <a:r>
              <a:rPr lang="en-US" sz="2800">
                <a:latin typeface="Roboto"/>
                <a:ea typeface="Roboto"/>
                <a:cs typeface="Roboto"/>
              </a:rPr>
              <a:t>WIDAG</a:t>
            </a:r>
            <a:endParaRPr lang="ru-RU" sz="2800">
              <a:latin typeface="Roboto"/>
              <a:cs typeface="Roboto"/>
            </a:endParaRPr>
          </a:p>
        </p:txBody>
      </p:sp>
      <p:sp>
        <p:nvSpPr>
          <p:cNvPr id="498758068" name=""/>
          <p:cNvSpPr/>
          <p:nvPr/>
        </p:nvSpPr>
        <p:spPr bwMode="auto">
          <a:xfrm rot="0" flipH="0" flipV="0">
            <a:off x="4650429" y="17817552"/>
            <a:ext cx="3092526" cy="1028698"/>
          </a:xfrm>
          <a:prstGeom prst="roundRect">
            <a:avLst>
              <a:gd name="adj" fmla="val 16667"/>
            </a:avLst>
          </a:prstGeom>
          <a:solidFill>
            <a:srgbClr val="149BB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sz="2800">
                <a:latin typeface="Roboto"/>
                <a:ea typeface="Roboto"/>
                <a:cs typeface="Roboto"/>
              </a:rPr>
              <a:t>Добавление в </a:t>
            </a:r>
            <a:r>
              <a:rPr lang="en-US" sz="2800">
                <a:latin typeface="Roboto"/>
                <a:ea typeface="Roboto"/>
                <a:cs typeface="Roboto"/>
              </a:rPr>
              <a:t>lan</a:t>
            </a:r>
            <a:r>
              <a:rPr lang="ru-RU" sz="2800">
                <a:latin typeface="Roboto"/>
                <a:ea typeface="Roboto"/>
                <a:cs typeface="Roboto"/>
              </a:rPr>
              <a:t> журнал</a:t>
            </a:r>
            <a:endParaRPr lang="ru-RU" sz="2800">
              <a:latin typeface="Roboto"/>
              <a:cs typeface="Roboto"/>
            </a:endParaRPr>
          </a:p>
        </p:txBody>
      </p:sp>
      <p:sp>
        <p:nvSpPr>
          <p:cNvPr id="1462069066" name=""/>
          <p:cNvSpPr/>
          <p:nvPr/>
        </p:nvSpPr>
        <p:spPr bwMode="auto">
          <a:xfrm rot="0" flipH="0" flipV="0">
            <a:off x="4607880" y="19254465"/>
            <a:ext cx="3092526" cy="1028698"/>
          </a:xfrm>
          <a:prstGeom prst="roundRect">
            <a:avLst>
              <a:gd name="adj" fmla="val 16667"/>
            </a:avLst>
          </a:prstGeom>
          <a:solidFill>
            <a:srgbClr val="297CD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sz="2800">
                <a:latin typeface="Roboto"/>
                <a:ea typeface="Roboto"/>
                <a:cs typeface="Roboto"/>
              </a:rPr>
              <a:t>Репликация заголовка в </a:t>
            </a:r>
            <a:r>
              <a:rPr lang="en-US" sz="2800">
                <a:latin typeface="Roboto"/>
                <a:ea typeface="Roboto"/>
                <a:cs typeface="Roboto"/>
              </a:rPr>
              <a:t>DHT</a:t>
            </a:r>
            <a:endParaRPr lang="ru-RU" sz="2800">
              <a:latin typeface="Roboto"/>
              <a:cs typeface="Roboto"/>
            </a:endParaRPr>
          </a:p>
        </p:txBody>
      </p:sp>
      <p:sp>
        <p:nvSpPr>
          <p:cNvPr id="106065441" name=""/>
          <p:cNvSpPr/>
          <p:nvPr/>
        </p:nvSpPr>
        <p:spPr bwMode="auto">
          <a:xfrm rot="0" flipH="0" flipV="0">
            <a:off x="4650429" y="20691378"/>
            <a:ext cx="3092526" cy="1028698"/>
          </a:xfrm>
          <a:prstGeom prst="roundRect">
            <a:avLst>
              <a:gd name="adj" fmla="val 16667"/>
            </a:avLst>
          </a:prstGeom>
          <a:solidFill>
            <a:srgbClr val="6665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sz="2800">
                <a:latin typeface="Roboto"/>
                <a:ea typeface="Roboto"/>
                <a:cs typeface="Roboto"/>
              </a:rPr>
              <a:t>Выбор комитета через </a:t>
            </a:r>
            <a:r>
              <a:rPr lang="en-US" sz="2800">
                <a:latin typeface="Roboto"/>
                <a:ea typeface="Roboto"/>
                <a:cs typeface="Roboto"/>
              </a:rPr>
              <a:t>VRF</a:t>
            </a:r>
            <a:endParaRPr lang="ru-RU" sz="2800">
              <a:latin typeface="Roboto"/>
              <a:cs typeface="Roboto"/>
            </a:endParaRPr>
          </a:p>
        </p:txBody>
      </p:sp>
      <p:sp>
        <p:nvSpPr>
          <p:cNvPr id="2097635882" name=""/>
          <p:cNvSpPr/>
          <p:nvPr/>
        </p:nvSpPr>
        <p:spPr bwMode="auto">
          <a:xfrm rot="0" flipH="0" flipV="0">
            <a:off x="2854028" y="23557041"/>
            <a:ext cx="3328693" cy="1028698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sz="2800">
                <a:latin typeface="Roboto"/>
                <a:ea typeface="Roboto"/>
                <a:cs typeface="Roboto"/>
              </a:rPr>
              <a:t>Есть конфликт?</a:t>
            </a:r>
            <a:endParaRPr lang="ru-RU" sz="2800">
              <a:latin typeface="Roboto"/>
              <a:cs typeface="Roboto"/>
            </a:endParaRPr>
          </a:p>
        </p:txBody>
      </p:sp>
      <p:sp>
        <p:nvSpPr>
          <p:cNvPr id="1515991133" name=""/>
          <p:cNvSpPr txBox="1"/>
          <p:nvPr/>
        </p:nvSpPr>
        <p:spPr bwMode="auto">
          <a:xfrm rot="0" flipH="0" flipV="0">
            <a:off x="5775879" y="22511056"/>
            <a:ext cx="3437260" cy="4575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2400">
                <a:latin typeface="Roboto"/>
                <a:ea typeface="Roboto"/>
                <a:cs typeface="Roboto"/>
              </a:rPr>
              <a:t>Событие не </a:t>
            </a:r>
            <a:r>
              <a:rPr lang="ru-RU" sz="2400">
                <a:latin typeface="Roboto"/>
                <a:ea typeface="Roboto"/>
                <a:cs typeface="Roboto"/>
              </a:rPr>
              <a:t>корректно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1741201713" name=""/>
          <p:cNvSpPr txBox="1"/>
          <p:nvPr/>
        </p:nvSpPr>
        <p:spPr bwMode="auto">
          <a:xfrm rot="0" flipH="0" flipV="0">
            <a:off x="6188281" y="23557042"/>
            <a:ext cx="2707403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2400">
                <a:latin typeface="Roboto"/>
                <a:ea typeface="Roboto"/>
                <a:cs typeface="Roboto"/>
              </a:rPr>
              <a:t>Кворум</a:t>
            </a:r>
            <a:r>
              <a:rPr lang="ru-RU" sz="2400">
                <a:latin typeface="Roboto"/>
                <a:ea typeface="Roboto"/>
                <a:cs typeface="Roboto"/>
              </a:rPr>
              <a:t> </a:t>
            </a:r>
            <a:br>
              <a:rPr lang="ru-RU" sz="2400">
                <a:latin typeface="Roboto"/>
                <a:ea typeface="Roboto"/>
                <a:cs typeface="Roboto"/>
              </a:rPr>
            </a:br>
            <a:r>
              <a:rPr lang="ru-RU" sz="2400">
                <a:latin typeface="Roboto"/>
                <a:ea typeface="Roboto"/>
                <a:cs typeface="Roboto"/>
              </a:rPr>
              <a:t>не </a:t>
            </a:r>
            <a:r>
              <a:rPr lang="ru-RU" sz="2400">
                <a:latin typeface="Roboto"/>
                <a:ea typeface="Roboto"/>
                <a:cs typeface="Roboto"/>
              </a:rPr>
              <a:t>получен</a:t>
            </a:r>
            <a:endParaRPr sz="2400">
              <a:latin typeface="Roboto"/>
              <a:cs typeface="Roboto"/>
            </a:endParaRPr>
          </a:p>
        </p:txBody>
      </p:sp>
      <p:sp>
        <p:nvSpPr>
          <p:cNvPr id="2146218258" name=""/>
          <p:cNvSpPr/>
          <p:nvPr/>
        </p:nvSpPr>
        <p:spPr bwMode="auto">
          <a:xfrm rot="0" flipH="0" flipV="0">
            <a:off x="3788319" y="28360816"/>
            <a:ext cx="2974775" cy="1249257"/>
          </a:xfrm>
          <a:prstGeom prst="roundRect">
            <a:avLst>
              <a:gd name="adj" fmla="val 16667"/>
            </a:avLst>
          </a:prstGeom>
          <a:solidFill>
            <a:srgbClr val="FA8C1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sz="2800">
                <a:latin typeface="Roboto"/>
                <a:ea typeface="Roboto"/>
                <a:cs typeface="Roboto"/>
              </a:rPr>
              <a:t>Добавление вершины в общий </a:t>
            </a:r>
            <a:r>
              <a:rPr lang="en-US" sz="2800">
                <a:latin typeface="Roboto"/>
                <a:ea typeface="Roboto"/>
                <a:cs typeface="Roboto"/>
              </a:rPr>
              <a:t>DAG</a:t>
            </a:r>
            <a:endParaRPr lang="ru-RU" sz="2800">
              <a:latin typeface="Roboto"/>
              <a:cs typeface="Roboto"/>
            </a:endParaRPr>
          </a:p>
        </p:txBody>
      </p:sp>
      <p:sp>
        <p:nvSpPr>
          <p:cNvPr id="172930860" name=""/>
          <p:cNvSpPr/>
          <p:nvPr/>
        </p:nvSpPr>
        <p:spPr bwMode="auto">
          <a:xfrm rot="0" flipH="0" flipV="0">
            <a:off x="4986848" y="25085275"/>
            <a:ext cx="2578408" cy="1249257"/>
          </a:xfrm>
          <a:prstGeom prst="roundRect">
            <a:avLst>
              <a:gd name="adj" fmla="val 16667"/>
            </a:avLst>
          </a:prstGeom>
          <a:solidFill>
            <a:srgbClr val="6665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sz="2800">
                <a:latin typeface="Roboto"/>
                <a:ea typeface="Roboto"/>
                <a:cs typeface="Roboto"/>
              </a:rPr>
              <a:t>Формирование комитета арбитража</a:t>
            </a:r>
            <a:endParaRPr lang="ru-RU" sz="2800">
              <a:latin typeface="Roboto"/>
              <a:cs typeface="Roboto"/>
            </a:endParaRPr>
          </a:p>
        </p:txBody>
      </p:sp>
      <p:sp>
        <p:nvSpPr>
          <p:cNvPr id="543479978" name=""/>
          <p:cNvSpPr/>
          <p:nvPr/>
        </p:nvSpPr>
        <p:spPr bwMode="auto">
          <a:xfrm rot="0" flipH="0" flipV="0">
            <a:off x="4986848" y="26719341"/>
            <a:ext cx="2578407" cy="1249257"/>
          </a:xfrm>
          <a:prstGeom prst="roundRect">
            <a:avLst>
              <a:gd name="adj" fmla="val 16667"/>
            </a:avLst>
          </a:prstGeom>
          <a:solidFill>
            <a:srgbClr val="6665B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sz="2800">
                <a:latin typeface="Roboto"/>
                <a:ea typeface="Roboto"/>
                <a:cs typeface="Roboto"/>
              </a:rPr>
              <a:t>Разрешение конфликт через </a:t>
            </a:r>
            <a:r>
              <a:rPr lang="en-US" sz="2800">
                <a:latin typeface="Roboto"/>
                <a:ea typeface="Roboto"/>
                <a:cs typeface="Roboto"/>
              </a:rPr>
              <a:t>VRF</a:t>
            </a:r>
            <a:endParaRPr lang="ru-RU" sz="2800">
              <a:latin typeface="Roboto"/>
              <a:cs typeface="Roboto"/>
            </a:endParaRPr>
          </a:p>
        </p:txBody>
      </p:sp>
      <p:sp>
        <p:nvSpPr>
          <p:cNvPr id="18601445" name=""/>
          <p:cNvSpPr/>
          <p:nvPr/>
        </p:nvSpPr>
        <p:spPr bwMode="auto">
          <a:xfrm rot="0" flipH="0" flipV="0">
            <a:off x="1621217" y="25085275"/>
            <a:ext cx="2872002" cy="1249257"/>
          </a:xfrm>
          <a:prstGeom prst="roundRect">
            <a:avLst>
              <a:gd name="adj" fmla="val 16667"/>
            </a:avLst>
          </a:prstGeom>
          <a:solidFill>
            <a:srgbClr val="3B9A3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sz="2800">
                <a:latin typeface="Roboto"/>
                <a:ea typeface="Roboto"/>
                <a:cs typeface="Roboto"/>
              </a:rPr>
              <a:t>Событие подтверждено</a:t>
            </a:r>
            <a:endParaRPr lang="ru-RU" sz="2800">
              <a:latin typeface="Roboto"/>
              <a:cs typeface="Roboto"/>
            </a:endParaRPr>
          </a:p>
        </p:txBody>
      </p:sp>
      <p:sp>
        <p:nvSpPr>
          <p:cNvPr id="606650425" name=""/>
          <p:cNvSpPr/>
          <p:nvPr/>
        </p:nvSpPr>
        <p:spPr bwMode="auto">
          <a:xfrm rot="0" flipH="0" flipV="0">
            <a:off x="6205745" y="29909320"/>
            <a:ext cx="2858329" cy="1249257"/>
          </a:xfrm>
          <a:prstGeom prst="roundRect">
            <a:avLst>
              <a:gd name="adj" fmla="val 16667"/>
            </a:avLst>
          </a:prstGeom>
          <a:solidFill>
            <a:srgbClr val="1D939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sz="2800">
                <a:latin typeface="Roboto"/>
                <a:ea typeface="Roboto"/>
                <a:cs typeface="Roboto"/>
              </a:rPr>
              <a:t>Формирование </a:t>
            </a:r>
            <a:r>
              <a:rPr lang="en-US" sz="2800">
                <a:latin typeface="Roboto"/>
                <a:ea typeface="Roboto"/>
                <a:cs typeface="Roboto"/>
              </a:rPr>
              <a:t>checkpoint</a:t>
            </a:r>
            <a:endParaRPr lang="ru-RU" sz="2800">
              <a:latin typeface="Roboto"/>
              <a:cs typeface="Roboto"/>
            </a:endParaRPr>
          </a:p>
        </p:txBody>
      </p:sp>
      <p:sp>
        <p:nvSpPr>
          <p:cNvPr id="2052329349" name=""/>
          <p:cNvSpPr/>
          <p:nvPr/>
        </p:nvSpPr>
        <p:spPr bwMode="auto">
          <a:xfrm rot="0" flipH="0" flipV="0">
            <a:off x="744244" y="15193171"/>
            <a:ext cx="9299446" cy="883225"/>
          </a:xfrm>
          <a:prstGeom prst="roundRect">
            <a:avLst>
              <a:gd name="adj" fmla="val 16667"/>
            </a:avLst>
          </a:prstGeom>
          <a:solidFill>
            <a:srgbClr val="1F53C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indent="0" algn="ctr">
              <a:buNone/>
              <a:defRPr/>
            </a:pPr>
            <a:r>
              <a:rPr lang="ru-RU" sz="36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Логика </a:t>
            </a:r>
            <a:r>
              <a:rPr lang="en-US" sz="36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WIDAG</a:t>
            </a:r>
            <a:endParaRPr sz="3600">
              <a:solidFill>
                <a:schemeClr val="bg1"/>
              </a:solidFill>
              <a:latin typeface="Roboto"/>
              <a:cs typeface="Roboto"/>
            </a:endParaRPr>
          </a:p>
        </p:txBody>
      </p:sp>
      <p:cxnSp>
        <p:nvCxnSpPr>
          <p:cNvPr id="67520449" name=""/>
          <p:cNvCxnSpPr/>
          <p:nvPr/>
        </p:nvCxnSpPr>
        <p:spPr bwMode="auto">
          <a:xfrm rot="5400000" flipH="0" flipV="0">
            <a:off x="4439051" y="21799401"/>
            <a:ext cx="1836963" cy="1678316"/>
          </a:xfrm>
          <a:prstGeom prst="curvedConnector3">
            <a:avLst>
              <a:gd name="adj1" fmla="val 47904"/>
            </a:avLst>
          </a:prstGeom>
          <a:ln w="571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1026528" name=""/>
          <p:cNvCxnSpPr/>
          <p:nvPr/>
        </p:nvCxnSpPr>
        <p:spPr bwMode="auto">
          <a:xfrm rot="5400000" flipH="0" flipV="0">
            <a:off x="5999728" y="17613445"/>
            <a:ext cx="408213" cy="0"/>
          </a:xfrm>
          <a:prstGeom prst="curvedConnector3">
            <a:avLst>
              <a:gd name="adj1" fmla="val 50000"/>
            </a:avLst>
          </a:prstGeom>
          <a:ln w="571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1979186" name=""/>
          <p:cNvCxnSpPr/>
          <p:nvPr/>
        </p:nvCxnSpPr>
        <p:spPr bwMode="auto">
          <a:xfrm rot="5400000" flipH="0" flipV="0">
            <a:off x="6001638" y="19050358"/>
            <a:ext cx="408213" cy="0"/>
          </a:xfrm>
          <a:prstGeom prst="curvedConnector3">
            <a:avLst>
              <a:gd name="adj1" fmla="val 50000"/>
            </a:avLst>
          </a:prstGeom>
          <a:ln w="571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8236873" name=""/>
          <p:cNvCxnSpPr/>
          <p:nvPr/>
        </p:nvCxnSpPr>
        <p:spPr bwMode="auto">
          <a:xfrm rot="5400000" flipH="0" flipV="0">
            <a:off x="6001638" y="20487271"/>
            <a:ext cx="408213" cy="0"/>
          </a:xfrm>
          <a:prstGeom prst="curvedConnector3">
            <a:avLst>
              <a:gd name="adj1" fmla="val 50000"/>
            </a:avLst>
          </a:prstGeom>
          <a:ln w="571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1728905" name=""/>
          <p:cNvCxnSpPr/>
          <p:nvPr/>
        </p:nvCxnSpPr>
        <p:spPr bwMode="auto">
          <a:xfrm rot="5400000" flipH="0" flipV="0">
            <a:off x="6134104" y="26538640"/>
            <a:ext cx="408213" cy="0"/>
          </a:xfrm>
          <a:prstGeom prst="curvedConnector3">
            <a:avLst>
              <a:gd name="adj1" fmla="val 50000"/>
            </a:avLst>
          </a:prstGeom>
          <a:ln w="571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4903868" name=""/>
          <p:cNvCxnSpPr/>
          <p:nvPr/>
        </p:nvCxnSpPr>
        <p:spPr bwMode="auto">
          <a:xfrm rot="5400000" flipH="0" flipV="0">
            <a:off x="3538029" y="24104929"/>
            <a:ext cx="499533" cy="1461155"/>
          </a:xfrm>
          <a:prstGeom prst="curvedConnector3">
            <a:avLst>
              <a:gd name="adj1" fmla="val 50000"/>
            </a:avLst>
          </a:prstGeom>
          <a:ln w="571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8985935" name=""/>
          <p:cNvCxnSpPr/>
          <p:nvPr/>
        </p:nvCxnSpPr>
        <p:spPr bwMode="auto">
          <a:xfrm rot="5400000" flipH="0" flipV="1">
            <a:off x="5147447" y="23956669"/>
            <a:ext cx="499533" cy="1757677"/>
          </a:xfrm>
          <a:prstGeom prst="curvedConnector3">
            <a:avLst>
              <a:gd name="adj1" fmla="val 50000"/>
            </a:avLst>
          </a:prstGeom>
          <a:ln w="571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063400" name=""/>
          <p:cNvCxnSpPr/>
          <p:nvPr/>
        </p:nvCxnSpPr>
        <p:spPr bwMode="auto">
          <a:xfrm rot="5400000" flipH="0" flipV="1">
            <a:off x="2097312" y="27294439"/>
            <a:ext cx="2650912" cy="731100"/>
          </a:xfrm>
          <a:prstGeom prst="curvedConnector2">
            <a:avLst/>
          </a:prstGeom>
          <a:ln w="571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9340739" name=""/>
          <p:cNvCxnSpPr/>
          <p:nvPr/>
        </p:nvCxnSpPr>
        <p:spPr bwMode="auto">
          <a:xfrm rot="5400000" flipH="0" flipV="0">
            <a:off x="5579771" y="27664535"/>
            <a:ext cx="392216" cy="1000343"/>
          </a:xfrm>
          <a:prstGeom prst="curvedConnector3">
            <a:avLst>
              <a:gd name="adj1" fmla="val 50000"/>
            </a:avLst>
          </a:prstGeom>
          <a:ln w="571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6568187" name=""/>
          <p:cNvCxnSpPr/>
          <p:nvPr/>
        </p:nvCxnSpPr>
        <p:spPr bwMode="auto">
          <a:xfrm rot="5400000" flipH="0" flipV="1">
            <a:off x="5278790" y="29606994"/>
            <a:ext cx="923872" cy="930036"/>
          </a:xfrm>
          <a:prstGeom prst="curvedConnector2">
            <a:avLst/>
          </a:prstGeom>
          <a:ln w="571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3238513" name=""/>
          <p:cNvSpPr/>
          <p:nvPr/>
        </p:nvSpPr>
        <p:spPr bwMode="auto">
          <a:xfrm rot="0" flipH="0" flipV="0">
            <a:off x="2049699" y="16468113"/>
            <a:ext cx="2015037" cy="2786352"/>
          </a:xfrm>
          <a:prstGeom prst="wedgeRectCallout">
            <a:avLst>
              <a:gd name="adj1" fmla="val 75918"/>
              <a:gd name="adj2" fmla="val -35697"/>
            </a:avLst>
          </a:prstGeom>
          <a:noFill/>
          <a:ln w="381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a:r>
              <a:rPr lang="en-US" sz="24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Author DID</a:t>
            </a:r>
            <a:endParaRPr sz="2400">
              <a:solidFill>
                <a:schemeClr val="tx1"/>
              </a:solidFill>
              <a:latin typeface="Roboto"/>
              <a:cs typeface="Roboto"/>
            </a:endParaRPr>
          </a:p>
          <a:p>
            <a:pPr algn="l">
              <a:defRPr/>
            </a:pPr>
            <a:r>
              <a:rPr lang="en-US" sz="24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Payload hash</a:t>
            </a:r>
            <a:endParaRPr sz="2400">
              <a:solidFill>
                <a:schemeClr val="tx1"/>
              </a:solidFill>
              <a:latin typeface="Roboto"/>
              <a:cs typeface="Roboto"/>
            </a:endParaRPr>
          </a:p>
          <a:p>
            <a:pPr algn="l">
              <a:defRPr/>
            </a:pPr>
            <a:r>
              <a:rPr lang="en-US" sz="24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Self-link</a:t>
            </a:r>
            <a:endParaRPr sz="2400">
              <a:solidFill>
                <a:schemeClr val="tx1"/>
              </a:solidFill>
              <a:latin typeface="Roboto"/>
              <a:cs typeface="Roboto"/>
            </a:endParaRPr>
          </a:p>
          <a:p>
            <a:pPr algn="l">
              <a:defRPr/>
            </a:pPr>
            <a:r>
              <a:rPr lang="en-US" sz="24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Context-link</a:t>
            </a:r>
            <a:endParaRPr sz="2400">
              <a:solidFill>
                <a:schemeClr val="tx1"/>
              </a:solidFill>
              <a:latin typeface="Roboto"/>
              <a:cs typeface="Roboto"/>
            </a:endParaRPr>
          </a:p>
          <a:p>
            <a:pPr algn="l">
              <a:defRPr/>
            </a:pPr>
            <a:r>
              <a:rPr lang="en-US" sz="24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Anchor-link</a:t>
            </a:r>
            <a:endParaRPr sz="2400">
              <a:solidFill>
                <a:schemeClr val="tx1"/>
              </a:solidFill>
              <a:latin typeface="Roboto"/>
              <a:cs typeface="Roboto"/>
            </a:endParaRPr>
          </a:p>
          <a:p>
            <a:pPr algn="l">
              <a:defRPr/>
            </a:pPr>
            <a:r>
              <a:rPr lang="en-US" sz="24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Timestamp</a:t>
            </a:r>
            <a:endParaRPr sz="2400">
              <a:solidFill>
                <a:schemeClr val="tx1"/>
              </a:solidFill>
              <a:latin typeface="Roboto"/>
              <a:cs typeface="Roboto"/>
            </a:endParaRPr>
          </a:p>
          <a:p>
            <a:pPr algn="l">
              <a:defRPr/>
            </a:pPr>
            <a:r>
              <a:rPr lang="en-US" sz="24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Signature</a:t>
            </a:r>
            <a:endParaRPr sz="2400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29312406" name=""/>
          <p:cNvSpPr/>
          <p:nvPr/>
        </p:nvSpPr>
        <p:spPr bwMode="auto">
          <a:xfrm rot="0" flipH="0" flipV="0">
            <a:off x="1350544" y="20230213"/>
            <a:ext cx="3167830" cy="1170873"/>
          </a:xfrm>
          <a:prstGeom prst="wedgeRectCallout">
            <a:avLst>
              <a:gd name="adj1" fmla="val 52101"/>
              <a:gd name="adj2" fmla="val -90897"/>
            </a:avLst>
          </a:prstGeom>
          <a:noFill/>
          <a:ln w="381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ru-RU" sz="2400" u="none">
                <a:solidFill>
                  <a:schemeClr val="tx1"/>
                </a:solidFill>
                <a:latin typeface="Roboto"/>
                <a:ea typeface="Roboto"/>
                <a:cs typeface="Roboto"/>
              </a:rPr>
              <a:t>Сохраняют событие</a:t>
            </a:r>
            <a:endParaRPr sz="2400" u="none">
              <a:solidFill>
                <a:schemeClr val="tx1"/>
              </a:solidFill>
              <a:latin typeface="Roboto"/>
              <a:cs typeface="Roboto"/>
            </a:endParaRPr>
          </a:p>
          <a:p>
            <a:pPr>
              <a:defRPr/>
            </a:pPr>
            <a:r>
              <a:rPr lang="ru-RU" sz="2400" u="none">
                <a:solidFill>
                  <a:schemeClr val="tx1"/>
                </a:solidFill>
                <a:latin typeface="Roboto"/>
                <a:ea typeface="Roboto"/>
                <a:cs typeface="Roboto"/>
              </a:rPr>
              <a:t>и распр</a:t>
            </a:r>
            <a:r>
              <a:rPr lang="ru-RU" sz="2400" u="none">
                <a:solidFill>
                  <a:schemeClr val="tx1"/>
                </a:solidFill>
                <a:latin typeface="Roboto"/>
                <a:ea typeface="Roboto"/>
                <a:cs typeface="Roboto"/>
              </a:rPr>
              <a:t>еделяет его</a:t>
            </a:r>
            <a:endParaRPr sz="2400" u="none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775743777" name=""/>
          <p:cNvSpPr/>
          <p:nvPr/>
        </p:nvSpPr>
        <p:spPr bwMode="auto">
          <a:xfrm rot="0" flipH="0" flipV="0">
            <a:off x="20105644" y="15242423"/>
            <a:ext cx="9425893" cy="883225"/>
          </a:xfrm>
          <a:prstGeom prst="roundRect">
            <a:avLst>
              <a:gd name="adj" fmla="val 16667"/>
            </a:avLst>
          </a:prstGeom>
          <a:solidFill>
            <a:srgbClr val="1F53C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marL="0" indent="0" algn="ctr">
              <a:buNone/>
              <a:defRPr/>
            </a:pPr>
            <a:r>
              <a:rPr lang="ru-RU" sz="36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Граф </a:t>
            </a:r>
            <a:r>
              <a:rPr lang="en-US" sz="3600" b="1" i="0" u="none" strike="noStrike" cap="none" spc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WIDAG</a:t>
            </a:r>
            <a:endParaRPr sz="3600">
              <a:solidFill>
                <a:schemeClr val="bg1"/>
              </a:solidFill>
              <a:latin typeface="Roboto"/>
              <a:cs typeface="Roboto"/>
            </a:endParaRPr>
          </a:p>
        </p:txBody>
      </p:sp>
      <p:sp>
        <p:nvSpPr>
          <p:cNvPr id="1593368639" name=""/>
          <p:cNvSpPr/>
          <p:nvPr/>
        </p:nvSpPr>
        <p:spPr bwMode="auto">
          <a:xfrm rot="0" flipH="0" flipV="0">
            <a:off x="23421210" y="21043871"/>
            <a:ext cx="2876549" cy="1726444"/>
          </a:xfrm>
          <a:prstGeom prst="roundRect">
            <a:avLst>
              <a:gd name="adj" fmla="val 16667"/>
            </a:avLst>
          </a:prstGeom>
          <a:solidFill>
            <a:srgbClr val="A1DA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a:endParaRPr lang="en-US" sz="28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algn="l">
              <a:defRPr/>
            </a:pPr>
            <a:endParaRPr lang="en-US" sz="28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algn="l">
              <a:defRPr/>
            </a:pPr>
            <a:r>
              <a:rPr lang="en-US" sz="28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ACTION</a:t>
            </a:r>
            <a:endParaRPr lang="en-US" sz="28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algn="l">
              <a:defRPr/>
            </a:pPr>
            <a:r>
              <a:rPr lang="ru-RU" sz="28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Автор: </a:t>
            </a:r>
            <a:r>
              <a:rPr lang="en-US" sz="28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DID_A</a:t>
            </a:r>
            <a:endParaRPr lang="en-US" sz="28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algn="l">
              <a:defRPr/>
            </a:pPr>
            <a:endParaRPr sz="1400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982734764" name=""/>
          <p:cNvSpPr/>
          <p:nvPr/>
        </p:nvSpPr>
        <p:spPr bwMode="auto">
          <a:xfrm rot="0" flipH="0" flipV="0">
            <a:off x="23421210" y="21043871"/>
            <a:ext cx="2876549" cy="640594"/>
          </a:xfrm>
          <a:prstGeom prst="roundRect">
            <a:avLst>
              <a:gd name="adj" fmla="val 28248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a:r>
              <a:rPr lang="en-US" sz="2800">
                <a:latin typeface="Roboto"/>
                <a:ea typeface="Roboto"/>
                <a:cs typeface="Roboto"/>
              </a:rPr>
              <a:t>A2</a:t>
            </a:r>
            <a:endParaRPr sz="2800">
              <a:latin typeface="Roboto"/>
              <a:cs typeface="Roboto"/>
            </a:endParaRPr>
          </a:p>
        </p:txBody>
      </p:sp>
      <p:sp>
        <p:nvSpPr>
          <p:cNvPr id="916563256" name=""/>
          <p:cNvSpPr/>
          <p:nvPr/>
        </p:nvSpPr>
        <p:spPr bwMode="auto">
          <a:xfrm rot="0" flipH="0" flipV="0">
            <a:off x="26066284" y="23418333"/>
            <a:ext cx="2876549" cy="1726443"/>
          </a:xfrm>
          <a:prstGeom prst="roundRect">
            <a:avLst>
              <a:gd name="adj" fmla="val 16667"/>
            </a:avLst>
          </a:prstGeom>
          <a:solidFill>
            <a:srgbClr val="A1DA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a:endParaRPr lang="en-US" sz="28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algn="l">
              <a:defRPr/>
            </a:pPr>
            <a:endParaRPr lang="en-US" sz="28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algn="l">
              <a:defRPr/>
            </a:pPr>
            <a:r>
              <a:rPr lang="en-US" sz="28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ACTION</a:t>
            </a:r>
            <a:endParaRPr lang="en-US" sz="28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algn="l">
              <a:defRPr/>
            </a:pPr>
            <a:r>
              <a:rPr lang="ru-RU" sz="28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Автор: </a:t>
            </a:r>
            <a:r>
              <a:rPr lang="en-US" sz="28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DID_B</a:t>
            </a:r>
            <a:endParaRPr lang="en-US" sz="28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algn="l">
              <a:defRPr/>
            </a:pPr>
            <a:endParaRPr sz="1400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1474303336" name=""/>
          <p:cNvSpPr/>
          <p:nvPr/>
        </p:nvSpPr>
        <p:spPr bwMode="auto">
          <a:xfrm rot="0" flipH="0" flipV="0">
            <a:off x="26066284" y="23418333"/>
            <a:ext cx="2876548" cy="640593"/>
          </a:xfrm>
          <a:prstGeom prst="roundRect">
            <a:avLst>
              <a:gd name="adj" fmla="val 28248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a:r>
              <a:rPr lang="en-US" sz="2800">
                <a:latin typeface="Roboto"/>
                <a:ea typeface="Roboto"/>
                <a:cs typeface="Roboto"/>
              </a:rPr>
              <a:t>B1</a:t>
            </a:r>
            <a:endParaRPr sz="2800">
              <a:latin typeface="Roboto"/>
              <a:cs typeface="Roboto"/>
            </a:endParaRPr>
          </a:p>
        </p:txBody>
      </p:sp>
      <p:sp>
        <p:nvSpPr>
          <p:cNvPr id="1250722252" name=""/>
          <p:cNvSpPr/>
          <p:nvPr/>
        </p:nvSpPr>
        <p:spPr bwMode="auto">
          <a:xfrm rot="0" flipH="0" flipV="0">
            <a:off x="21200362" y="18928562"/>
            <a:ext cx="2876549" cy="1311093"/>
          </a:xfrm>
          <a:prstGeom prst="roundRect">
            <a:avLst>
              <a:gd name="adj" fmla="val 16667"/>
            </a:avLst>
          </a:prstGeom>
          <a:blipFill rotWithShape="1">
            <a:blip r:embed="rId3"/>
            <a:tile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a:endParaRPr lang="en-US" sz="28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algn="l">
              <a:defRPr/>
            </a:pPr>
            <a:endParaRPr lang="en-US" sz="28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algn="l">
              <a:defRPr/>
            </a:pPr>
            <a:r>
              <a:rPr lang="en-US" sz="28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RECEIPT</a:t>
            </a:r>
            <a:endParaRPr lang="en-US" sz="28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algn="l">
              <a:defRPr/>
            </a:pPr>
            <a:endParaRPr sz="1400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1173862004" name=""/>
          <p:cNvSpPr/>
          <p:nvPr/>
        </p:nvSpPr>
        <p:spPr bwMode="auto">
          <a:xfrm rot="0" flipH="0" flipV="0">
            <a:off x="21200362" y="18928562"/>
            <a:ext cx="2876548" cy="640593"/>
          </a:xfrm>
          <a:prstGeom prst="roundRect">
            <a:avLst>
              <a:gd name="adj" fmla="val 28248"/>
            </a:avLst>
          </a:prstGeom>
          <a:solidFill>
            <a:srgbClr val="F7C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a:r>
              <a:rPr lang="en-US" sz="2800">
                <a:solidFill>
                  <a:schemeClr val="tx1"/>
                </a:solidFill>
                <a:latin typeface="Roboto"/>
                <a:cs typeface="Roboto"/>
              </a:rPr>
              <a:t>R1</a:t>
            </a:r>
            <a:endParaRPr sz="2800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1470661379" name=""/>
          <p:cNvSpPr/>
          <p:nvPr/>
        </p:nvSpPr>
        <p:spPr bwMode="auto">
          <a:xfrm rot="0" flipH="0" flipV="0">
            <a:off x="25662305" y="16316768"/>
            <a:ext cx="2876549" cy="1338574"/>
          </a:xfrm>
          <a:prstGeom prst="roundRect">
            <a:avLst>
              <a:gd name="adj" fmla="val 16667"/>
            </a:avLst>
          </a:prstGeom>
          <a:solidFill>
            <a:srgbClr val="D9605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a:endParaRPr lang="en-US" sz="28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algn="l">
              <a:defRPr/>
            </a:pPr>
            <a:endParaRPr lang="en-US" sz="28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algn="l">
              <a:defRPr/>
            </a:pPr>
            <a:r>
              <a:rPr lang="en-US" sz="28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DECISION</a:t>
            </a:r>
            <a:endParaRPr lang="en-US" sz="28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algn="l">
              <a:defRPr/>
            </a:pPr>
            <a:endParaRPr sz="1400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59904048" name=""/>
          <p:cNvSpPr/>
          <p:nvPr/>
        </p:nvSpPr>
        <p:spPr bwMode="auto">
          <a:xfrm rot="0" flipH="0" flipV="0">
            <a:off x="25662305" y="16316768"/>
            <a:ext cx="2876548" cy="640593"/>
          </a:xfrm>
          <a:prstGeom prst="roundRect">
            <a:avLst>
              <a:gd name="adj" fmla="val 28248"/>
            </a:avLst>
          </a:prstGeom>
          <a:solidFill>
            <a:srgbClr val="ED331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a:r>
              <a:rPr lang="en-US" sz="2800">
                <a:latin typeface="Roboto"/>
                <a:ea typeface="Roboto"/>
                <a:cs typeface="Roboto"/>
              </a:rPr>
              <a:t>D1</a:t>
            </a:r>
            <a:endParaRPr sz="2800">
              <a:latin typeface="Roboto"/>
              <a:cs typeface="Roboto"/>
            </a:endParaRPr>
          </a:p>
        </p:txBody>
      </p:sp>
      <p:sp>
        <p:nvSpPr>
          <p:cNvPr id="1713218021" name=""/>
          <p:cNvSpPr/>
          <p:nvPr/>
        </p:nvSpPr>
        <p:spPr bwMode="auto">
          <a:xfrm rot="0" flipH="0" flipV="0">
            <a:off x="21200362" y="16345461"/>
            <a:ext cx="2876549" cy="1308365"/>
          </a:xfrm>
          <a:prstGeom prst="roundRect">
            <a:avLst>
              <a:gd name="adj" fmla="val 16667"/>
            </a:avLst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en-US" sz="28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algn="ctr">
              <a:defRPr/>
            </a:pPr>
            <a:endParaRPr lang="en-US" sz="28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algn="ctr">
              <a:defRPr/>
            </a:pPr>
            <a:r>
              <a:rPr lang="en-US" sz="28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CHECKPOINT</a:t>
            </a:r>
            <a:endParaRPr lang="en-US" sz="28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algn="ctr">
              <a:defRPr/>
            </a:pPr>
            <a:endParaRPr sz="1400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1932509653" name=""/>
          <p:cNvSpPr/>
          <p:nvPr/>
        </p:nvSpPr>
        <p:spPr bwMode="auto">
          <a:xfrm rot="0" flipH="0" flipV="0">
            <a:off x="21200362" y="16345461"/>
            <a:ext cx="2876548" cy="640593"/>
          </a:xfrm>
          <a:prstGeom prst="roundRect">
            <a:avLst>
              <a:gd name="adj" fmla="val 28248"/>
            </a:avLst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en-US" sz="28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CP1</a:t>
            </a:r>
            <a:endParaRPr sz="2800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1895481845" name=""/>
          <p:cNvSpPr/>
          <p:nvPr/>
        </p:nvSpPr>
        <p:spPr bwMode="auto">
          <a:xfrm rot="0" flipH="0" flipV="0">
            <a:off x="25662305" y="18928562"/>
            <a:ext cx="2876549" cy="1311093"/>
          </a:xfrm>
          <a:prstGeom prst="roundRect">
            <a:avLst>
              <a:gd name="adj" fmla="val 16667"/>
            </a:avLst>
          </a:prstGeom>
          <a:blipFill rotWithShape="1">
            <a:blip r:embed="rId4"/>
            <a:tile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a:endParaRPr lang="en-US" sz="28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algn="l">
              <a:defRPr/>
            </a:pPr>
            <a:endParaRPr lang="en-US" sz="28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algn="l">
              <a:defRPr/>
            </a:pPr>
            <a:r>
              <a:rPr lang="en-US" sz="28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RECEIPT</a:t>
            </a:r>
            <a:endParaRPr lang="en-US" sz="28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algn="l">
              <a:defRPr/>
            </a:pPr>
            <a:endParaRPr sz="1400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293553878" name=""/>
          <p:cNvSpPr/>
          <p:nvPr/>
        </p:nvSpPr>
        <p:spPr bwMode="auto">
          <a:xfrm rot="0" flipH="0" flipV="0">
            <a:off x="25662305" y="18928562"/>
            <a:ext cx="2876548" cy="640593"/>
          </a:xfrm>
          <a:prstGeom prst="roundRect">
            <a:avLst>
              <a:gd name="adj" fmla="val 28248"/>
            </a:avLst>
          </a:prstGeom>
          <a:solidFill>
            <a:srgbClr val="F7C86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a:r>
              <a:rPr lang="en-US" sz="2800">
                <a:solidFill>
                  <a:schemeClr val="tx1"/>
                </a:solidFill>
                <a:latin typeface="Roboto"/>
                <a:cs typeface="Roboto"/>
              </a:rPr>
              <a:t>R2</a:t>
            </a:r>
            <a:endParaRPr sz="2800">
              <a:solidFill>
                <a:schemeClr val="tx1"/>
              </a:solidFill>
              <a:latin typeface="Roboto"/>
              <a:cs typeface="Roboto"/>
            </a:endParaRPr>
          </a:p>
        </p:txBody>
      </p:sp>
      <p:cxnSp>
        <p:nvCxnSpPr>
          <p:cNvPr id="1753255505" name=""/>
          <p:cNvCxnSpPr>
            <a:stCxn id="1713218021" idx="3"/>
            <a:endCxn id="1470661379" idx="1"/>
          </p:cNvCxnSpPr>
          <p:nvPr/>
        </p:nvCxnSpPr>
        <p:spPr bwMode="auto">
          <a:xfrm rot="0" flipH="0" flipV="1">
            <a:off x="24076912" y="16992850"/>
            <a:ext cx="1585392" cy="0"/>
          </a:xfrm>
          <a:prstGeom prst="curvedConnector3">
            <a:avLst>
              <a:gd name="adj1" fmla="val 50000"/>
            </a:avLst>
          </a:prstGeom>
          <a:ln w="571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072456" name=""/>
          <p:cNvCxnSpPr>
            <a:endCxn id="1593368639" idx="1"/>
          </p:cNvCxnSpPr>
          <p:nvPr/>
        </p:nvCxnSpPr>
        <p:spPr bwMode="auto">
          <a:xfrm rot="5400000" flipH="0" flipV="1">
            <a:off x="22162928" y="20648810"/>
            <a:ext cx="1667078" cy="849488"/>
          </a:xfrm>
          <a:prstGeom prst="curvedConnector2">
            <a:avLst/>
          </a:prstGeom>
          <a:ln w="571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7607027" name=""/>
          <p:cNvCxnSpPr>
            <a:stCxn id="1895481845" idx="2"/>
            <a:endCxn id="1593368639" idx="3"/>
          </p:cNvCxnSpPr>
          <p:nvPr/>
        </p:nvCxnSpPr>
        <p:spPr bwMode="auto">
          <a:xfrm rot="5400000" flipH="0" flipV="0">
            <a:off x="25865451" y="20671965"/>
            <a:ext cx="1667438" cy="802818"/>
          </a:xfrm>
          <a:prstGeom prst="curvedConnector2">
            <a:avLst/>
          </a:prstGeom>
          <a:ln w="571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9268509" name=""/>
          <p:cNvCxnSpPr>
            <a:stCxn id="1713218021" idx="2"/>
            <a:endCxn id="982734764" idx="0"/>
          </p:cNvCxnSpPr>
          <p:nvPr/>
        </p:nvCxnSpPr>
        <p:spPr bwMode="auto">
          <a:xfrm rot="5400000" flipH="0" flipV="1">
            <a:off x="22054040" y="18238425"/>
            <a:ext cx="3390043" cy="2220848"/>
          </a:xfrm>
          <a:prstGeom prst="curvedConnector3">
            <a:avLst>
              <a:gd name="adj1" fmla="val 23786"/>
            </a:avLst>
          </a:prstGeom>
          <a:ln w="571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596443" name=""/>
          <p:cNvCxnSpPr/>
          <p:nvPr/>
        </p:nvCxnSpPr>
        <p:spPr bwMode="auto">
          <a:xfrm rot="5400000" flipH="0" flipV="0">
            <a:off x="24204126" y="18181268"/>
            <a:ext cx="3540926" cy="2088694"/>
          </a:xfrm>
          <a:prstGeom prst="curvedConnector3">
            <a:avLst>
              <a:gd name="adj1" fmla="val 32226"/>
            </a:avLst>
          </a:prstGeom>
          <a:ln w="571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3958795" name=""/>
          <p:cNvSpPr/>
          <p:nvPr/>
        </p:nvSpPr>
        <p:spPr bwMode="auto">
          <a:xfrm rot="0" flipH="0" flipV="0">
            <a:off x="21200362" y="24672957"/>
            <a:ext cx="2876549" cy="1726443"/>
          </a:xfrm>
          <a:prstGeom prst="roundRect">
            <a:avLst>
              <a:gd name="adj" fmla="val 16667"/>
            </a:avLst>
          </a:prstGeom>
          <a:solidFill>
            <a:srgbClr val="A1DA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a:endParaRPr lang="en-US" sz="28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algn="l">
              <a:defRPr/>
            </a:pPr>
            <a:endParaRPr lang="en-US" sz="28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algn="l">
              <a:defRPr/>
            </a:pPr>
            <a:r>
              <a:rPr lang="en-US" sz="28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ACTION</a:t>
            </a:r>
            <a:endParaRPr lang="en-US" sz="28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algn="l">
              <a:defRPr/>
            </a:pPr>
            <a:r>
              <a:rPr lang="ru-RU" sz="28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Автор: </a:t>
            </a:r>
            <a:r>
              <a:rPr lang="en-US" sz="28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DID_A</a:t>
            </a:r>
            <a:endParaRPr lang="en-US" sz="28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algn="l">
              <a:defRPr/>
            </a:pPr>
            <a:endParaRPr sz="1400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995893522" name=""/>
          <p:cNvSpPr/>
          <p:nvPr/>
        </p:nvSpPr>
        <p:spPr bwMode="auto">
          <a:xfrm rot="0" flipH="0" flipV="0">
            <a:off x="21200362" y="24672957"/>
            <a:ext cx="2876548" cy="640593"/>
          </a:xfrm>
          <a:prstGeom prst="roundRect">
            <a:avLst>
              <a:gd name="adj" fmla="val 28248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l">
              <a:defRPr/>
            </a:pPr>
            <a:r>
              <a:rPr lang="en-US" sz="2800">
                <a:latin typeface="Roboto"/>
                <a:ea typeface="Roboto"/>
                <a:cs typeface="Roboto"/>
              </a:rPr>
              <a:t>A1</a:t>
            </a:r>
            <a:endParaRPr sz="2800">
              <a:latin typeface="Roboto"/>
              <a:cs typeface="Roboto"/>
            </a:endParaRPr>
          </a:p>
        </p:txBody>
      </p:sp>
      <p:cxnSp>
        <p:nvCxnSpPr>
          <p:cNvPr id="203840190" name=""/>
          <p:cNvCxnSpPr>
            <a:stCxn id="1593368639" idx="2"/>
            <a:endCxn id="916563256" idx="1"/>
          </p:cNvCxnSpPr>
          <p:nvPr/>
        </p:nvCxnSpPr>
        <p:spPr bwMode="auto">
          <a:xfrm rot="5400000" flipH="0" flipV="1">
            <a:off x="24707265" y="22922537"/>
            <a:ext cx="1511239" cy="1206797"/>
          </a:xfrm>
          <a:prstGeom prst="curvedConnector2">
            <a:avLst/>
          </a:prstGeom>
          <a:ln w="571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1206974" name=""/>
          <p:cNvCxnSpPr>
            <a:stCxn id="1593368639" idx="2"/>
            <a:endCxn id="995893522" idx="0"/>
          </p:cNvCxnSpPr>
          <p:nvPr/>
        </p:nvCxnSpPr>
        <p:spPr bwMode="auto">
          <a:xfrm rot="5400000" flipH="0" flipV="0">
            <a:off x="22797741" y="22611212"/>
            <a:ext cx="1902640" cy="2220849"/>
          </a:xfrm>
          <a:prstGeom prst="curvedConnector3">
            <a:avLst>
              <a:gd name="adj1" fmla="val 50000"/>
            </a:avLst>
          </a:prstGeom>
          <a:ln w="571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530656" name=""/>
          <p:cNvCxnSpPr>
            <a:stCxn id="916563256" idx="2"/>
          </p:cNvCxnSpPr>
          <p:nvPr/>
        </p:nvCxnSpPr>
        <p:spPr bwMode="auto">
          <a:xfrm rot="5400000" flipH="0" flipV="0">
            <a:off x="25533819" y="23720288"/>
            <a:ext cx="546249" cy="3395229"/>
          </a:xfrm>
          <a:prstGeom prst="curvedConnector2">
            <a:avLst/>
          </a:prstGeom>
          <a:ln w="5715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  <a:tailEnd type="arrow" len="med"/>
          </a:ln>
        </p:spPr>
        <p:style>
          <a:lnRef idx="1">
            <a:schemeClr val="accent1">
              <a:shade val="50000"/>
            </a:schemeClr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0342890" name=""/>
          <p:cNvSpPr txBox="1"/>
          <p:nvPr/>
        </p:nvSpPr>
        <p:spPr bwMode="auto">
          <a:xfrm rot="0" flipH="0" flipV="0">
            <a:off x="23266444" y="23220110"/>
            <a:ext cx="132601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800">
                <a:latin typeface="Roboto"/>
                <a:ea typeface="Roboto"/>
                <a:cs typeface="Roboto"/>
              </a:rPr>
              <a:t>self</a:t>
            </a:r>
            <a:endParaRPr sz="2800">
              <a:latin typeface="Roboto"/>
              <a:cs typeface="Roboto"/>
            </a:endParaRPr>
          </a:p>
        </p:txBody>
      </p:sp>
      <p:sp>
        <p:nvSpPr>
          <p:cNvPr id="1284647052" name=""/>
          <p:cNvSpPr txBox="1"/>
          <p:nvPr/>
        </p:nvSpPr>
        <p:spPr bwMode="auto">
          <a:xfrm rot="0" flipH="0" flipV="0">
            <a:off x="24363100" y="25134723"/>
            <a:ext cx="161964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800">
                <a:latin typeface="Roboto"/>
                <a:ea typeface="Roboto"/>
                <a:cs typeface="Roboto"/>
              </a:rPr>
              <a:t>context</a:t>
            </a:r>
            <a:endParaRPr sz="2800">
              <a:latin typeface="Roboto"/>
              <a:cs typeface="Roboto"/>
            </a:endParaRPr>
          </a:p>
        </p:txBody>
      </p:sp>
      <p:sp>
        <p:nvSpPr>
          <p:cNvPr id="1935121781" name=""/>
          <p:cNvSpPr txBox="1"/>
          <p:nvPr/>
        </p:nvSpPr>
        <p:spPr bwMode="auto">
          <a:xfrm rot="0" flipH="0" flipV="0">
            <a:off x="24930243" y="22928039"/>
            <a:ext cx="1622523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800">
                <a:latin typeface="Roboto"/>
                <a:ea typeface="Roboto"/>
                <a:cs typeface="Roboto"/>
              </a:rPr>
              <a:t>anchor</a:t>
            </a:r>
            <a:endParaRPr sz="2800">
              <a:latin typeface="Roboto"/>
              <a:cs typeface="Roboto"/>
            </a:endParaRPr>
          </a:p>
        </p:txBody>
      </p:sp>
      <p:sp>
        <p:nvSpPr>
          <p:cNvPr id="1642791742" name="Shape 28"/>
          <p:cNvSpPr/>
          <p:nvPr/>
        </p:nvSpPr>
        <p:spPr bwMode="auto">
          <a:xfrm rot="17697684" flipH="1" flipV="0">
            <a:off x="25964974" y="20954212"/>
            <a:ext cx="2675190" cy="1690870"/>
          </a:xfrm>
          <a:prstGeom prst="line">
            <a:avLst/>
          </a:prstGeom>
          <a:noFill/>
          <a:ln w="57150">
            <a:solidFill>
              <a:srgbClr val="355792"/>
            </a:solidFill>
            <a:prstDash val="solid"/>
            <a:tailEnd type="triangle"/>
          </a:ln>
        </p:spPr>
      </p:sp>
      <p:sp>
        <p:nvSpPr>
          <p:cNvPr id="1598232382" name="Text 97"/>
          <p:cNvSpPr/>
          <p:nvPr/>
        </p:nvSpPr>
        <p:spPr bwMode="auto">
          <a:xfrm flipH="0" flipV="0">
            <a:off x="1325389" y="12302951"/>
            <a:ext cx="8284887" cy="2366812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760" tIns="760" rIns="760" bIns="760" numCol="1" spcCol="0" rtlCol="0" fromWordArt="0" anchor="t" anchorCtr="0" forceAA="0" upright="0" compatLnSpc="0">
            <a:normAutofit/>
          </a:bodyPr>
          <a:lstStyle/>
          <a:p>
            <a:pPr marL="0" indent="0" algn="l">
              <a:buNone/>
              <a:defRPr/>
            </a:pPr>
            <a:endParaRPr sz="1200" b="1">
              <a:latin typeface="Roboto"/>
              <a:cs typeface="Roboto"/>
            </a:endParaRPr>
          </a:p>
          <a:p>
            <a:pPr marL="0" indent="0" algn="l">
              <a:buNone/>
              <a:defRPr/>
            </a:pPr>
            <a:r>
              <a:rPr lang="ru-RU" sz="3200" b="1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Web3-подход</a:t>
            </a:r>
            <a:r>
              <a:rPr lang="ru-RU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 переводит взаимодействие в p2p-среду, снижает зависимость от центра и делает инфраструктуру устойчивее к отказам и захвату контроля. </a:t>
            </a:r>
            <a:endParaRPr lang="ru-RU" sz="3200" b="0" i="0" u="none" strike="noStrike" cap="none" spc="0">
              <a:solidFill>
                <a:srgbClr val="0F172A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endParaRPr/>
          </a:p>
        </p:txBody>
      </p:sp>
      <p:sp>
        <p:nvSpPr>
          <p:cNvPr id="1296555367" name="Text 97"/>
          <p:cNvSpPr/>
          <p:nvPr/>
        </p:nvSpPr>
        <p:spPr bwMode="auto">
          <a:xfrm flipH="0" flipV="0">
            <a:off x="1363447" y="5348001"/>
            <a:ext cx="8284887" cy="5700143"/>
          </a:xfrm>
          <a:prstGeom prst="rect">
            <a:avLst/>
          </a:prstGeom>
          <a:noFill/>
          <a:ln/>
        </p:spPr>
        <p:txBody>
          <a:bodyPr wrap="square" lIns="760" tIns="760" rIns="760" bIns="760" rtlCol="0" anchor="t">
            <a:normAutofit/>
          </a:bodyPr>
          <a:lstStyle/>
          <a:p>
            <a:pPr marL="0" indent="0" algn="l">
              <a:buNone/>
              <a:defRPr/>
            </a:pPr>
            <a:r>
              <a:rPr lang="ru-RU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Сегодня интернет </a:t>
            </a:r>
            <a:r>
              <a:rPr lang="ru-RU" sz="3200" b="1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централизован</a:t>
            </a:r>
            <a:r>
              <a:rPr lang="ru-RU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: сервер хранит данные, управляет доступом и маршрутизацией.</a:t>
            </a:r>
            <a:endParaRPr sz="3200">
              <a:latin typeface="Roboto"/>
              <a:cs typeface="Roboto"/>
            </a:endParaRPr>
          </a:p>
          <a:p>
            <a:pPr marL="0" indent="0" algn="l">
              <a:buNone/>
              <a:defRPr/>
            </a:pPr>
            <a:r>
              <a:rPr lang="ru-RU" sz="3200" b="1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Минусы централизации:</a:t>
            </a:r>
            <a:endParaRPr sz="3200">
              <a:latin typeface="Roboto"/>
              <a:cs typeface="Roboto"/>
            </a:endParaRPr>
          </a:p>
          <a:p>
            <a:pPr marL="400050" lvl="1" indent="0" algn="l">
              <a:buNone/>
              <a:defRPr/>
            </a:pPr>
            <a:r>
              <a:rPr lang="ru-RU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единая точка отказа</a:t>
            </a:r>
            <a:r>
              <a:rPr lang="en-US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;</a:t>
            </a:r>
            <a:endParaRPr sz="3200">
              <a:latin typeface="Roboto"/>
              <a:cs typeface="Roboto"/>
            </a:endParaRPr>
          </a:p>
          <a:p>
            <a:pPr marL="400050" lvl="1" indent="0" algn="l">
              <a:buNone/>
              <a:defRPr/>
            </a:pPr>
            <a:r>
              <a:rPr lang="ru-RU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утечки и компрометация данных</a:t>
            </a:r>
            <a:r>
              <a:rPr lang="en-US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;</a:t>
            </a:r>
            <a:endParaRPr sz="3200">
              <a:latin typeface="Roboto"/>
              <a:cs typeface="Roboto"/>
            </a:endParaRPr>
          </a:p>
          <a:p>
            <a:pPr marL="400050" lvl="1" indent="0" algn="l">
              <a:buNone/>
              <a:defRPr/>
            </a:pPr>
            <a:r>
              <a:rPr lang="ru-RU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зависимость от платформы</a:t>
            </a:r>
            <a:r>
              <a:rPr lang="en-US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;</a:t>
            </a:r>
            <a:endParaRPr sz="3200">
              <a:latin typeface="Roboto"/>
              <a:cs typeface="Roboto"/>
            </a:endParaRPr>
          </a:p>
          <a:p>
            <a:pPr marL="400050" lvl="1" indent="0" algn="l">
              <a:buNone/>
              <a:defRPr/>
            </a:pPr>
            <a:r>
              <a:rPr lang="ru-RU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</a:t>
            </a:r>
            <a:r>
              <a:rPr lang="ru-RU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санкции.</a:t>
            </a:r>
            <a:endParaRPr sz="3200">
              <a:latin typeface="Roboto"/>
              <a:cs typeface="Roboto"/>
            </a:endParaRPr>
          </a:p>
          <a:p>
            <a:pPr algn="l">
              <a:defRPr/>
            </a:pPr>
            <a:endParaRPr/>
          </a:p>
        </p:txBody>
      </p:sp>
      <p:sp>
        <p:nvSpPr>
          <p:cNvPr id="1425293051" name="Text 97"/>
          <p:cNvSpPr/>
          <p:nvPr/>
        </p:nvSpPr>
        <p:spPr bwMode="auto">
          <a:xfrm flipH="0" flipV="0">
            <a:off x="10981418" y="12221053"/>
            <a:ext cx="8284887" cy="2547136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760" tIns="760" rIns="760" bIns="760" numCol="1" spcCol="0" rtlCol="0" fromWordArt="0" anchor="t" anchorCtr="0" forceAA="0" upright="0" compatLnSpc="0">
            <a:normAutofit/>
          </a:bodyPr>
          <a:lstStyle/>
          <a:p>
            <a:pPr algn="l">
              <a:defRPr/>
            </a:pPr>
            <a:endParaRPr sz="1200">
              <a:latin typeface="Roboto"/>
              <a:cs typeface="Roboto"/>
            </a:endParaRPr>
          </a:p>
          <a:p>
            <a:pPr algn="l">
              <a:defRPr/>
            </a:pPr>
            <a:r>
              <a:rPr lang="ru-RU" sz="32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Архитектура построена по </a:t>
            </a:r>
            <a:r>
              <a:rPr lang="ru-RU" sz="3200" b="1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модульному </a:t>
            </a:r>
            <a:r>
              <a:rPr lang="ru-RU" sz="32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принципу, обеспечивая </a:t>
            </a:r>
            <a:r>
              <a:rPr lang="ru-RU" sz="32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расширяемость </a:t>
            </a:r>
            <a:br>
              <a:rPr lang="ru-RU" sz="32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</a:br>
            <a:r>
              <a:rPr lang="ru-RU" sz="32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и масштабируемость системы.</a:t>
            </a:r>
            <a:r>
              <a:rPr lang="ru-RU" sz="3200" b="0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</a:t>
            </a:r>
            <a:r>
              <a:rPr lang="ru-RU" sz="32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Узел объединяет DID, DHT и DAG</a:t>
            </a:r>
            <a:r>
              <a:rPr lang="ru-RU" sz="3200" b="0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.</a:t>
            </a:r>
            <a:endParaRPr lang="ru-RU" sz="3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endParaRPr/>
          </a:p>
        </p:txBody>
      </p:sp>
      <p:sp>
        <p:nvSpPr>
          <p:cNvPr id="2098757261" name="Text 97"/>
          <p:cNvSpPr/>
          <p:nvPr/>
        </p:nvSpPr>
        <p:spPr bwMode="auto">
          <a:xfrm flipH="0" flipV="0">
            <a:off x="10907946" y="16319618"/>
            <a:ext cx="8284887" cy="8266123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760" tIns="760" rIns="760" bIns="760" numCol="1" spcCol="0" rtlCol="0" fromWordArt="0" anchor="t" anchorCtr="0" forceAA="0" upright="0" compatLnSpc="0">
            <a:normAutofit/>
          </a:bodyPr>
          <a:lstStyle/>
          <a:p>
            <a:pPr marL="0" indent="0">
              <a:buNone/>
              <a:defRPr/>
            </a:pPr>
            <a:r>
              <a:rPr lang="ru-RU" sz="3200" b="1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Цель:</a:t>
            </a:r>
            <a:r>
              <a:rPr lang="ru-RU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 разработать архитектуру P2P-сети для пользовательской идентификации и dApps без центрального сервера.</a:t>
            </a:r>
            <a:endParaRPr sz="3200">
              <a:latin typeface="Roboto"/>
              <a:cs typeface="Roboto"/>
            </a:endParaRPr>
          </a:p>
          <a:p>
            <a:pPr marL="0" indent="0">
              <a:buNone/>
              <a:defRPr/>
            </a:pPr>
            <a:endParaRPr sz="1200">
              <a:latin typeface="Roboto"/>
              <a:cs typeface="Roboto"/>
            </a:endParaRPr>
          </a:p>
          <a:p>
            <a:pPr marL="0" indent="0">
              <a:buNone/>
              <a:defRPr/>
            </a:pPr>
            <a:r>
              <a:rPr lang="ru-RU" sz="3200" b="1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Задачи:</a:t>
            </a:r>
            <a:endParaRPr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ru-RU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DID-идентификация;</a:t>
            </a:r>
            <a:endParaRPr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ru-RU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поиск узлов через DHT;</a:t>
            </a:r>
            <a:endParaRPr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ru-RU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DAG-хранение событий;</a:t>
            </a:r>
            <a:endParaRPr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ru-RU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разработка WIDAG;</a:t>
            </a:r>
            <a:endParaRPr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ru-RU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прототип и тестирование.</a:t>
            </a:r>
            <a:endParaRPr sz="3200">
              <a:latin typeface="Roboto"/>
              <a:cs typeface="Roboto"/>
            </a:endParaRPr>
          </a:p>
          <a:p>
            <a:pPr marL="0" indent="0">
              <a:buNone/>
              <a:defRPr/>
            </a:pPr>
            <a:endParaRPr sz="1200">
              <a:latin typeface="Roboto"/>
              <a:cs typeface="Roboto"/>
            </a:endParaRPr>
          </a:p>
          <a:p>
            <a:pPr marL="0" indent="0">
              <a:buNone/>
              <a:defRPr/>
            </a:pPr>
            <a:r>
              <a:rPr lang="ru-RU" sz="3200" b="1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Модель угроз:</a:t>
            </a:r>
            <a:endParaRPr lang="en-US" sz="3200" b="1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400050" lvl="1" indent="0">
              <a:buNone/>
              <a:defRPr/>
            </a:pPr>
            <a:r>
              <a:rPr lang="ru-RU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</a:t>
            </a:r>
            <a:r>
              <a:rPr lang="ru-RU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частичная недоступность узлов</a:t>
            </a:r>
            <a:r>
              <a:rPr lang="ru-RU" sz="3200" b="0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;</a:t>
            </a:r>
            <a:endParaRPr lang="ru-RU" sz="3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400050" lvl="1" indent="0">
              <a:buNone/>
              <a:defRPr/>
            </a:pPr>
            <a:r>
              <a:rPr lang="ru-RU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</a:t>
            </a:r>
            <a:r>
              <a:rPr lang="ru-RU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ложные данные</a:t>
            </a:r>
            <a:r>
              <a:rPr lang="en-US" sz="3200" b="0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;</a:t>
            </a:r>
            <a:endParaRPr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ru-RU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replay</a:t>
            </a:r>
            <a:r>
              <a:rPr lang="en-US" sz="3200" b="0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;</a:t>
            </a:r>
            <a:endParaRPr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ru-RU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</a:t>
            </a:r>
            <a:r>
              <a:rPr lang="ru-RU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MITM</a:t>
            </a:r>
            <a:r>
              <a:rPr lang="en-US" sz="3200" b="0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;</a:t>
            </a:r>
            <a:endParaRPr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ru-RU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</a:t>
            </a:r>
            <a:r>
              <a:rPr lang="ru-RU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Sybil</a:t>
            </a:r>
            <a:r>
              <a:rPr lang="en-US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.</a:t>
            </a:r>
            <a:endParaRPr sz="3200">
              <a:latin typeface="Roboto"/>
              <a:cs typeface="Roboto"/>
            </a:endParaRPr>
          </a:p>
        </p:txBody>
      </p:sp>
      <p:sp>
        <p:nvSpPr>
          <p:cNvPr id="286833952" name="Text 97"/>
          <p:cNvSpPr/>
          <p:nvPr/>
        </p:nvSpPr>
        <p:spPr bwMode="auto">
          <a:xfrm flipH="0" flipV="0">
            <a:off x="10907946" y="28280549"/>
            <a:ext cx="8284887" cy="5459445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760" tIns="760" rIns="760" bIns="760" numCol="1" spcCol="0" rtlCol="0" fromWordArt="0" anchor="t" anchorCtr="0" forceAA="0" upright="0" compatLnSpc="0">
            <a:normAutofit/>
          </a:bodyPr>
          <a:lstStyle/>
          <a:p>
            <a:pPr marL="0" indent="0">
              <a:buNone/>
              <a:defRPr/>
            </a:pPr>
            <a:r>
              <a:rPr lang="ru-RU" sz="3200" b="1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Проведены:</a:t>
            </a:r>
            <a:endParaRPr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ru-RU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модульное тестирование;</a:t>
            </a:r>
            <a:endParaRPr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ru-RU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интеграционное тестирование;</a:t>
            </a:r>
            <a:endParaRPr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ru-RU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нагрузочное тестирование;</a:t>
            </a:r>
            <a:endParaRPr sz="3200">
              <a:latin typeface="Roboto"/>
              <a:cs typeface="Roboto"/>
            </a:endParaRPr>
          </a:p>
          <a:p>
            <a:pPr marL="400050" lvl="1" indent="0">
              <a:buNone/>
              <a:defRPr/>
            </a:pPr>
            <a:r>
              <a:rPr lang="ru-RU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• тестирование безопасности </a:t>
            </a:r>
            <a:r>
              <a:rPr lang="ru-RU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и</a:t>
            </a:r>
            <a:r>
              <a:rPr lang="en-US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 </a:t>
            </a:r>
            <a:r>
              <a:rPr lang="ru-RU" sz="3200" b="0" i="0" u="none" strike="noStrike" cap="none" spc="0">
                <a:solidFill>
                  <a:srgbClr val="F8FAFC"/>
                </a:solidFill>
                <a:latin typeface="Roboto"/>
                <a:ea typeface="Roboto"/>
                <a:cs typeface="Roboto"/>
              </a:rPr>
              <a:t>и</a:t>
            </a:r>
            <a:r>
              <a:rPr lang="ru-RU" sz="3200" b="0" i="0" u="none" strike="noStrike" cap="none" spc="0">
                <a:solidFill>
                  <a:srgbClr val="0F172A"/>
                </a:solidFill>
                <a:latin typeface="Roboto"/>
                <a:ea typeface="Roboto"/>
                <a:cs typeface="Roboto"/>
              </a:rPr>
              <a:t>отказоустойчивости.</a:t>
            </a:r>
            <a:endParaRPr sz="3200">
              <a:latin typeface="Roboto"/>
              <a:cs typeface="Roboto"/>
            </a:endParaRPr>
          </a:p>
          <a:p>
            <a:pPr marL="0" indent="0">
              <a:buNone/>
              <a:defRPr/>
            </a:pPr>
            <a:endParaRPr sz="3200">
              <a:latin typeface="Roboto"/>
              <a:cs typeface="Roboto"/>
            </a:endParaRPr>
          </a:p>
        </p:txBody>
      </p:sp>
      <p:sp>
        <p:nvSpPr>
          <p:cNvPr id="200608978" name=""/>
          <p:cNvSpPr txBox="1"/>
          <p:nvPr/>
        </p:nvSpPr>
        <p:spPr bwMode="auto">
          <a:xfrm rot="0" flipH="0" flipV="0">
            <a:off x="20680764" y="26681696"/>
            <a:ext cx="8461618" cy="74070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ru-RU" sz="3200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Типы вершин:</a:t>
            </a:r>
            <a:endParaRPr sz="32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marL="838129" lvl="1" indent="-438079" algn="l">
              <a:buAutoNum type="arabicPeriod"/>
              <a:defRPr/>
            </a:pPr>
            <a:r>
              <a:rPr lang="en-US" sz="3200">
                <a:solidFill>
                  <a:srgbClr val="0070C0"/>
                </a:solidFill>
                <a:latin typeface="Roboto"/>
                <a:ea typeface="Roboto"/>
                <a:cs typeface="Roboto"/>
              </a:rPr>
              <a:t>Action</a:t>
            </a:r>
            <a:r>
              <a:rPr lang="ru-RU" sz="3200">
                <a:solidFill>
                  <a:srgbClr val="0070C0"/>
                </a:solidFill>
                <a:latin typeface="Roboto"/>
                <a:ea typeface="Roboto"/>
                <a:cs typeface="Roboto"/>
              </a:rPr>
              <a:t> </a:t>
            </a:r>
            <a:r>
              <a:rPr lang="ru-RU" sz="32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– действие пользователя</a:t>
            </a:r>
            <a:endParaRPr sz="32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marL="838129" lvl="1" indent="-438079" algn="l">
              <a:buAutoNum type="arabicPeriod"/>
              <a:defRPr/>
            </a:pPr>
            <a:r>
              <a:rPr lang="en-US" sz="3200">
                <a:solidFill>
                  <a:schemeClr val="accent2"/>
                </a:solidFill>
                <a:latin typeface="Roboto"/>
                <a:ea typeface="Roboto"/>
                <a:cs typeface="Roboto"/>
              </a:rPr>
              <a:t>Receipt</a:t>
            </a:r>
            <a:r>
              <a:rPr lang="ru-RU" sz="32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- подтверждение</a:t>
            </a:r>
            <a:endParaRPr sz="32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marL="838129" lvl="1" indent="-438079" algn="l">
              <a:buAutoNum type="arabicPeriod"/>
              <a:defRPr/>
            </a:pPr>
            <a:r>
              <a:rPr lang="en-US" sz="3200">
                <a:solidFill>
                  <a:srgbClr val="ED331B"/>
                </a:solidFill>
                <a:latin typeface="Roboto"/>
                <a:ea typeface="Roboto"/>
                <a:cs typeface="Roboto"/>
              </a:rPr>
              <a:t>Decision</a:t>
            </a:r>
            <a:r>
              <a:rPr lang="ru-RU" sz="32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– решение конфликтов</a:t>
            </a:r>
            <a:endParaRPr sz="32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marL="838129" lvl="1" indent="-438079" algn="l">
              <a:buAutoNum type="arabicPeriod"/>
              <a:defRPr/>
            </a:pPr>
            <a:r>
              <a:rPr lang="en-US" sz="3200">
                <a:solidFill>
                  <a:srgbClr val="808080"/>
                </a:solidFill>
                <a:latin typeface="Roboto"/>
                <a:ea typeface="Roboto"/>
                <a:cs typeface="Roboto"/>
              </a:rPr>
              <a:t>Checkpoint</a:t>
            </a:r>
            <a:r>
              <a:rPr lang="ru-RU" sz="32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– контрольная точка</a:t>
            </a:r>
            <a:endParaRPr sz="32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algn="l">
              <a:defRPr/>
            </a:pPr>
            <a:r>
              <a:rPr lang="ru-RU" sz="3200" b="1">
                <a:solidFill>
                  <a:schemeClr val="tx1"/>
                </a:solidFill>
                <a:latin typeface="Roboto"/>
                <a:ea typeface="Roboto"/>
                <a:cs typeface="Roboto"/>
              </a:rPr>
              <a:t>Типы связей:</a:t>
            </a:r>
            <a:endParaRPr sz="32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marL="838129" lvl="1" indent="-438079" algn="l">
              <a:buAutoNum type="arabicPeriod"/>
              <a:defRPr/>
            </a:pPr>
            <a:r>
              <a:rPr lang="en-US" sz="32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self</a:t>
            </a:r>
            <a:r>
              <a:rPr lang="ru-RU" sz="32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– предыдущее действие автора</a:t>
            </a:r>
            <a:endParaRPr sz="32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marL="838129" lvl="1" indent="-438079" algn="l">
              <a:buAutoNum type="arabicPeriod"/>
              <a:defRPr/>
            </a:pPr>
            <a:r>
              <a:rPr lang="en-US" sz="32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context</a:t>
            </a:r>
            <a:r>
              <a:rPr lang="ru-RU" sz="32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– предыдущее событие</a:t>
            </a:r>
            <a:endParaRPr sz="3200">
              <a:solidFill>
                <a:schemeClr val="tx1"/>
              </a:solidFill>
              <a:latin typeface="Roboto"/>
              <a:ea typeface="Roboto"/>
              <a:cs typeface="Roboto"/>
            </a:endParaRPr>
          </a:p>
          <a:p>
            <a:pPr marL="838129" lvl="1" indent="-438079" algn="l">
              <a:buAutoNum type="arabicPeriod"/>
              <a:defRPr/>
            </a:pPr>
            <a:r>
              <a:rPr lang="en-US" sz="32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anchor</a:t>
            </a:r>
            <a:r>
              <a:rPr lang="ru-RU" sz="3200">
                <a:solidFill>
                  <a:schemeClr val="tx1"/>
                </a:solidFill>
                <a:latin typeface="Roboto"/>
                <a:ea typeface="Roboto"/>
                <a:cs typeface="Roboto"/>
              </a:rPr>
              <a:t> – случайная стаб. вершина</a:t>
            </a:r>
            <a:endParaRPr/>
          </a:p>
          <a:p>
            <a:pPr lvl="0" algn="l">
              <a:defRPr/>
            </a:pPr>
            <a:endParaRPr lang="ru-RU" sz="3200">
              <a:latin typeface="Roboto"/>
              <a:ea typeface="Roboto"/>
              <a:cs typeface="Roboto"/>
            </a:endParaRPr>
          </a:p>
          <a:p>
            <a:pPr lvl="0" algn="l">
              <a:defRPr/>
            </a:pPr>
            <a:r>
              <a:rPr lang="ru-RU" sz="3200">
                <a:latin typeface="Roboto"/>
                <a:ea typeface="Roboto"/>
                <a:cs typeface="Roboto"/>
              </a:rPr>
              <a:t>Проверяемая и связанная структура</a:t>
            </a:r>
            <a:endParaRPr lang="ru-RU" sz="3200">
              <a:latin typeface="Roboto"/>
              <a:ea typeface="Roboto"/>
              <a:cs typeface="Roboto"/>
            </a:endParaRPr>
          </a:p>
          <a:p>
            <a:pPr lvl="0" algn="l">
              <a:defRPr/>
            </a:pPr>
            <a:r>
              <a:rPr lang="ru-RU" sz="3200">
                <a:latin typeface="Roboto"/>
                <a:ea typeface="Roboto"/>
                <a:cs typeface="Roboto"/>
              </a:rPr>
              <a:t>Параллельная обработка событий сети</a:t>
            </a:r>
            <a:endParaRPr lang="ru-RU" sz="3200">
              <a:latin typeface="Roboto"/>
              <a:ea typeface="Roboto"/>
              <a:cs typeface="Roboto"/>
            </a:endParaRPr>
          </a:p>
          <a:p>
            <a:pPr lvl="0" algn="l">
              <a:defRPr/>
            </a:pPr>
            <a:r>
              <a:rPr lang="ru-RU" sz="3200">
                <a:latin typeface="Roboto"/>
                <a:ea typeface="Roboto"/>
                <a:cs typeface="Roboto"/>
              </a:rPr>
              <a:t>Локализует конфликты</a:t>
            </a:r>
            <a:endParaRPr lang="ru-RU" sz="3200">
              <a:latin typeface="Roboto"/>
              <a:ea typeface="Roboto"/>
              <a:cs typeface="Roboto"/>
            </a:endParaRPr>
          </a:p>
          <a:p>
            <a:pPr lvl="0" algn="l">
              <a:defRPr/>
            </a:pPr>
            <a:r>
              <a:rPr lang="ru-RU" sz="3200">
                <a:latin typeface="Roboto"/>
                <a:ea typeface="Roboto"/>
                <a:cs typeface="Roboto"/>
              </a:rPr>
              <a:t>Эффективно синхронизируется</a:t>
            </a:r>
            <a:endParaRPr lang="ru-RU" sz="3200">
              <a:latin typeface="Roboto"/>
              <a:ea typeface="Roboto"/>
              <a:cs typeface="Roboto"/>
            </a:endParaRPr>
          </a:p>
          <a:p>
            <a:pPr lvl="0" algn="l">
              <a:defRPr/>
            </a:pPr>
            <a:endParaRPr sz="3200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1848227606" name="Text 134"/>
          <p:cNvSpPr/>
          <p:nvPr/>
        </p:nvSpPr>
        <p:spPr bwMode="auto">
          <a:xfrm>
            <a:off x="11191665" y="31888334"/>
            <a:ext cx="7927848" cy="1463040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761" tIns="761" rIns="761" bIns="761" numCol="1" spcCol="0" rtlCol="0" fromWordArt="0" anchor="ctr" anchorCtr="0" forceAA="0" upright="0" compatLnSpc="0">
            <a:normAutofit fontScale="85000" lnSpcReduction="3000"/>
          </a:bodyPr>
          <a:lstStyle/>
          <a:p>
            <a:pPr marL="0" indent="0" algn="ctr">
              <a:buNone/>
              <a:defRPr/>
            </a:pPr>
            <a:r>
              <a:rPr lang="ru-RU" sz="3600" b="1">
                <a:solidFill>
                  <a:srgbClr val="166534"/>
                </a:solidFill>
                <a:latin typeface="Roboto"/>
                <a:ea typeface="Roboto"/>
                <a:cs typeface="Roboto"/>
              </a:rPr>
              <a:t>Продукт обеспечивает функциональную достаточность противодействия описанным угрозам на уровне прототипа</a:t>
            </a:r>
            <a:endParaRPr sz="3600">
              <a:latin typeface="Roboto"/>
              <a:cs typeface="Roboto"/>
            </a:endParaRPr>
          </a:p>
        </p:txBody>
      </p:sp>
      <p:sp>
        <p:nvSpPr>
          <p:cNvPr id="747740015" name="Shape 28"/>
          <p:cNvSpPr/>
          <p:nvPr/>
        </p:nvSpPr>
        <p:spPr bwMode="auto">
          <a:xfrm flipH="0" flipV="1">
            <a:off x="2522836" y="10379322"/>
            <a:ext cx="158983" cy="920208"/>
          </a:xfrm>
          <a:prstGeom prst="line">
            <a:avLst/>
          </a:prstGeom>
          <a:noFill/>
          <a:ln w="38100">
            <a:solidFill>
              <a:srgbClr val="2F528F"/>
            </a:solidFill>
            <a:prstDash val="solid"/>
            <a:tailEnd type="triangle"/>
          </a:ln>
        </p:spPr>
      </p:sp>
      <p:sp>
        <p:nvSpPr>
          <p:cNvPr id="710089921" name=""/>
          <p:cNvSpPr/>
          <p:nvPr/>
        </p:nvSpPr>
        <p:spPr bwMode="auto">
          <a:xfrm rot="19752489" flipH="1" flipV="0">
            <a:off x="3106560" y="11179524"/>
            <a:ext cx="1983881" cy="738185"/>
          </a:xfrm>
          <a:prstGeom prst="ellipse">
            <a:avLst/>
          </a:prstGeom>
          <a:solidFill>
            <a:srgbClr val="1D939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sz="28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Клиент</a:t>
            </a:r>
            <a:endParaRPr sz="2800">
              <a:solidFill>
                <a:schemeClr val="bg1"/>
              </a:solidFill>
              <a:latin typeface="Roboto"/>
              <a:cs typeface="Roboto"/>
            </a:endParaRPr>
          </a:p>
        </p:txBody>
      </p:sp>
      <p:sp>
        <p:nvSpPr>
          <p:cNvPr id="2109293888" name=""/>
          <p:cNvSpPr/>
          <p:nvPr/>
        </p:nvSpPr>
        <p:spPr bwMode="auto">
          <a:xfrm rot="0" flipH="0" flipV="0">
            <a:off x="7596913" y="11311806"/>
            <a:ext cx="1826128" cy="738185"/>
          </a:xfrm>
          <a:prstGeom prst="ellipse">
            <a:avLst/>
          </a:prstGeom>
          <a:solidFill>
            <a:srgbClr val="149BB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sz="28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Узел</a:t>
            </a:r>
            <a:endParaRPr sz="2800">
              <a:solidFill>
                <a:schemeClr val="bg1"/>
              </a:solidFill>
              <a:latin typeface="Roboto"/>
              <a:cs typeface="Roboto"/>
            </a:endParaRPr>
          </a:p>
        </p:txBody>
      </p:sp>
      <p:sp>
        <p:nvSpPr>
          <p:cNvPr id="2045092821" name=""/>
          <p:cNvSpPr/>
          <p:nvPr/>
        </p:nvSpPr>
        <p:spPr bwMode="auto">
          <a:xfrm rot="0" flipH="0" flipV="0">
            <a:off x="5482685" y="9644283"/>
            <a:ext cx="1826128" cy="738185"/>
          </a:xfrm>
          <a:prstGeom prst="ellipse">
            <a:avLst/>
          </a:prstGeom>
          <a:solidFill>
            <a:srgbClr val="149BB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sz="28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Узел</a:t>
            </a:r>
            <a:endParaRPr sz="2800">
              <a:solidFill>
                <a:schemeClr val="bg1"/>
              </a:solidFill>
              <a:latin typeface="Roboto"/>
              <a:cs typeface="Roboto"/>
            </a:endParaRPr>
          </a:p>
        </p:txBody>
      </p:sp>
      <p:sp>
        <p:nvSpPr>
          <p:cNvPr id="1014902887" name=""/>
          <p:cNvSpPr/>
          <p:nvPr/>
        </p:nvSpPr>
        <p:spPr bwMode="auto">
          <a:xfrm rot="0" flipH="0" flipV="0">
            <a:off x="7596913" y="9650937"/>
            <a:ext cx="1826128" cy="738185"/>
          </a:xfrm>
          <a:prstGeom prst="ellipse">
            <a:avLst/>
          </a:prstGeom>
          <a:solidFill>
            <a:srgbClr val="149BB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r>
              <a:rPr lang="ru-RU" sz="2800">
                <a:solidFill>
                  <a:schemeClr val="bg1"/>
                </a:solidFill>
                <a:latin typeface="Roboto"/>
                <a:ea typeface="Roboto"/>
                <a:cs typeface="Roboto"/>
              </a:rPr>
              <a:t>Узел</a:t>
            </a:r>
            <a:endParaRPr sz="2800">
              <a:solidFill>
                <a:schemeClr val="bg1"/>
              </a:solidFill>
              <a:latin typeface="Roboto"/>
              <a:cs typeface="Roboto"/>
            </a:endParaRPr>
          </a:p>
        </p:txBody>
      </p:sp>
      <p:sp>
        <p:nvSpPr>
          <p:cNvPr id="775719185" name="Shape 28"/>
          <p:cNvSpPr/>
          <p:nvPr/>
        </p:nvSpPr>
        <p:spPr bwMode="auto">
          <a:xfrm rot="6897682" flipH="0" flipV="1">
            <a:off x="5851358" y="10647198"/>
            <a:ext cx="830464" cy="386570"/>
          </a:xfrm>
          <a:prstGeom prst="line">
            <a:avLst/>
          </a:prstGeom>
          <a:noFill/>
          <a:ln w="38100">
            <a:solidFill>
              <a:srgbClr val="2F528F"/>
            </a:solidFill>
            <a:prstDash val="solid"/>
            <a:tailEnd type="triangle"/>
          </a:ln>
        </p:spPr>
      </p:sp>
      <p:sp>
        <p:nvSpPr>
          <p:cNvPr id="250582515" name="Shape 28"/>
          <p:cNvSpPr/>
          <p:nvPr/>
        </p:nvSpPr>
        <p:spPr bwMode="auto">
          <a:xfrm rot="17697684" flipH="0" flipV="0">
            <a:off x="6570569" y="10158428"/>
            <a:ext cx="1636783" cy="1367984"/>
          </a:xfrm>
          <a:prstGeom prst="line">
            <a:avLst/>
          </a:prstGeom>
          <a:noFill/>
          <a:ln w="38100">
            <a:solidFill>
              <a:srgbClr val="2F528F"/>
            </a:solidFill>
            <a:prstDash val="solid"/>
            <a:tailEnd type="triangle"/>
          </a:ln>
        </p:spPr>
      </p:sp>
      <p:sp>
        <p:nvSpPr>
          <p:cNvPr id="848970547" name="Shape 28"/>
          <p:cNvSpPr/>
          <p:nvPr/>
        </p:nvSpPr>
        <p:spPr bwMode="auto">
          <a:xfrm rot="17697684" flipH="1" flipV="0">
            <a:off x="7388073" y="9765663"/>
            <a:ext cx="0" cy="2157327"/>
          </a:xfrm>
          <a:prstGeom prst="line">
            <a:avLst/>
          </a:prstGeom>
          <a:noFill/>
          <a:ln w="38100">
            <a:solidFill>
              <a:srgbClr val="2F528F"/>
            </a:solidFill>
            <a:prstDash val="solid"/>
            <a:tailEnd type="triangle"/>
          </a:ln>
        </p:spPr>
      </p:sp>
      <p:sp>
        <p:nvSpPr>
          <p:cNvPr id="1480724698" name="Text 97"/>
          <p:cNvSpPr/>
          <p:nvPr/>
        </p:nvSpPr>
        <p:spPr bwMode="auto">
          <a:xfrm flipH="0" flipV="0">
            <a:off x="1319797" y="31634735"/>
            <a:ext cx="8328537" cy="2105259"/>
          </a:xfrm>
          <a:prstGeom prst="rect">
            <a:avLst/>
          </a:prstGeom>
          <a:noFill/>
          <a:ln/>
        </p:spPr>
        <p:txBody>
          <a:bodyPr vertOverflow="overflow" horzOverflow="overflow" vert="horz" wrap="square" lIns="760" tIns="760" rIns="760" bIns="76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ru-RU" sz="3200">
                <a:latin typeface="Roboto"/>
                <a:ea typeface="Roboto"/>
                <a:cs typeface="Roboto"/>
              </a:rPr>
              <a:t>Проверка без глобального консенсуса</a:t>
            </a:r>
            <a:endParaRPr lang="ru-RU" sz="3200">
              <a:latin typeface="Roboto"/>
              <a:ea typeface="Roboto"/>
              <a:cs typeface="Roboto"/>
            </a:endParaRPr>
          </a:p>
          <a:p>
            <a:pPr>
              <a:defRPr/>
            </a:pPr>
            <a:r>
              <a:rPr lang="ru-RU" sz="3200">
                <a:latin typeface="Roboto"/>
                <a:ea typeface="Roboto"/>
                <a:cs typeface="Roboto"/>
              </a:rPr>
              <a:t>Снижает нагрузку на узлы</a:t>
            </a:r>
            <a:endParaRPr lang="ru-RU" sz="3200">
              <a:latin typeface="Roboto"/>
              <a:ea typeface="Roboto"/>
              <a:cs typeface="Roboto"/>
            </a:endParaRPr>
          </a:p>
          <a:p>
            <a:pPr>
              <a:defRPr/>
            </a:pPr>
            <a:r>
              <a:rPr lang="ru-RU" sz="3200">
                <a:latin typeface="Roboto"/>
                <a:ea typeface="Roboto"/>
                <a:cs typeface="Roboto"/>
              </a:rPr>
              <a:t>Повышает масштабируемость</a:t>
            </a:r>
            <a:endParaRPr lang="ru-RU" sz="3200">
              <a:latin typeface="Roboto"/>
              <a:ea typeface="Roboto"/>
              <a:cs typeface="Roboto"/>
            </a:endParaRPr>
          </a:p>
          <a:p>
            <a:pPr>
              <a:defRPr/>
            </a:pPr>
            <a:r>
              <a:rPr lang="ru-RU" sz="3200">
                <a:latin typeface="Roboto"/>
                <a:ea typeface="Roboto"/>
                <a:cs typeface="Roboto"/>
              </a:rPr>
              <a:t>Гарантирует</a:t>
            </a:r>
            <a:r>
              <a:rPr lang="ru-RU" sz="3200">
                <a:latin typeface="Roboto"/>
                <a:ea typeface="Roboto"/>
                <a:cs typeface="Roboto"/>
              </a:rPr>
              <a:t> проверяемость действий</a:t>
            </a:r>
            <a:endParaRPr sz="3200">
              <a:latin typeface="Roboto"/>
              <a:cs typeface="Roboto"/>
            </a:endParaRPr>
          </a:p>
        </p:txBody>
      </p:sp>
      <p:sp>
        <p:nvSpPr>
          <p:cNvPr id="830918991" name=""/>
          <p:cNvSpPr txBox="1"/>
          <p:nvPr/>
        </p:nvSpPr>
        <p:spPr bwMode="auto">
          <a:xfrm rot="0" flipH="0" flipV="0">
            <a:off x="-32938" y="41702270"/>
            <a:ext cx="30334642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lang="en-US" sz="4800" b="1" i="0" u="none" strike="noStrike" cap="none" spc="0">
                <a:solidFill>
                  <a:srgbClr val="F8FAFC"/>
                </a:solidFill>
                <a:latin typeface="Roboto"/>
                <a:ea typeface="Roboto"/>
                <a:cs typeface="Roboto"/>
              </a:rPr>
              <a:t>—————————————————</a:t>
            </a:r>
            <a:r>
              <a:rPr lang="ru-RU" sz="4800" b="1">
                <a:solidFill>
                  <a:srgbClr val="F8FAFC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4800" b="1">
                <a:solidFill>
                  <a:srgbClr val="F8FAFC"/>
                </a:solidFill>
                <a:latin typeface="Roboto"/>
                <a:ea typeface="Roboto"/>
                <a:cs typeface="Roboto"/>
              </a:rPr>
              <a:t>BLUE TEAM </a:t>
            </a:r>
            <a:r>
              <a:rPr lang="en-US" sz="4800" b="1" i="0" u="none" strike="noStrike" cap="none" spc="0">
                <a:solidFill>
                  <a:srgbClr val="F8FAFC"/>
                </a:solidFill>
                <a:latin typeface="Roboto"/>
                <a:ea typeface="Roboto"/>
                <a:cs typeface="Roboto"/>
              </a:rPr>
              <a:t>—————————————————</a:t>
            </a:r>
            <a:endParaRPr sz="4800" b="1">
              <a:solidFill>
                <a:srgbClr val="F8FAFC"/>
              </a:solidFill>
              <a:latin typeface="Roboto"/>
              <a:cs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Arial"/>
        <a:cs typeface="Arial"/>
      </a:majorFont>
      <a:minorFont>
        <a:latin typeface="Times New Roman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P2P-сеть нового поколения для dApps и пользовательской идентификации</dc:title>
  <dc:subject>PptxGenJS Presentation</dc:subject>
  <dc:creator>Брылёв Альберт</dc:creator>
  <cp:lastModifiedBy/>
  <cp:revision>5</cp:revision>
  <dcterms:created xsi:type="dcterms:W3CDTF">2026-03-19T09:20:35Z</dcterms:created>
  <dcterms:modified xsi:type="dcterms:W3CDTF">2026-03-21T16:44:06Z</dcterms:modified>
</cp:coreProperties>
</file>