
<file path=[Content_Types].xml><?xml version="1.0" encoding="utf-8"?>
<Types xmlns="http://schemas.openxmlformats.org/package/2006/content-types">
  <Default Extension="xml" ContentType="application/xml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1.xml" ContentType="application/vnd.openxmlformats-officedocument.presentationml.notesSlide+xml"/>
  <Override PartName="/ppt/tableStyles.xml" ContentType="application/vnd.openxmlformats-officedocument.presentationml.tableStyles+xml"/>
  <Override PartName="/ppt/viewProps.xml" ContentType="application/vnd.openxmlformats-officedocument.presentationml.viewProp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docProps/core.xml" ContentType="application/vnd.openxmlformats-package.core-properties+xml"/>
  <Override PartName="/ppt/slideMasters/slideMaster1.xml" ContentType="application/vnd.openxmlformats-officedocument.presentationml.slideMaster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autoCompressPictures="0" saveSubsetFonts="1">
  <p:sldMasterIdLst>
    <p:sldMasterId id="2147483648" r:id="rId1"/>
  </p:sldMasterIdLst>
  <p:notesMasterIdLst>
    <p:notesMasterId r:id="rId4"/>
  </p:notesMasterIdLst>
  <p:sldIdLst>
    <p:sldId id="256" r:id="rId3"/>
  </p:sldIdLst>
  <p:sldSz cx="30275784" cy="42803064"/>
  <p:notesSz cx="42803064" cy="30275784"/>
  <p:defaultTextStyle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>
              <a:solidFill>
                <a:schemeClr val="lt1"/>
              </a:solidFill>
            </a:ln>
          </a:left>
          <a:right>
            <a:ln w="12700">
              <a:solidFill>
                <a:schemeClr val="lt1"/>
              </a:solidFill>
            </a:ln>
          </a:right>
          <a:top>
            <a:ln w="12700">
              <a:solidFill>
                <a:schemeClr val="lt1"/>
              </a:solidFill>
            </a:ln>
          </a:top>
          <a:bottom>
            <a:ln w="12700">
              <a:solidFill>
                <a:schemeClr val="lt1"/>
              </a:solidFill>
            </a:ln>
          </a:bottom>
          <a:insideH>
            <a:ln w="12700">
              <a:solidFill>
                <a:schemeClr val="lt1"/>
              </a:solidFill>
            </a:ln>
          </a:insideH>
          <a:insideV>
            <a:ln w="12700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>
        <a:fontRef idx="minor">
          <a:prstClr val="black"/>
        </a:fontRef>
        <a:schemeClr val="lt1"/>
      </a:tcTxStyle>
      <a:tcStyle>
        <a:tcBdr>
          <a:bottom>
            <a:ln w="38100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>
        <p:guide pos="9535"/>
        <p:guide pos="13481" orient="horz"/>
      </p:guideLst>
    </p:cSldViewPr>
  </p:slide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 /><Relationship Id="rId6" Type="http://schemas.openxmlformats.org/officeDocument/2006/relationships/tableStyles" Target="tableStyles.xml" /><Relationship Id="rId7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6928423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99265108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1302529201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2079294347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1343688412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5956535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184489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504783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0480277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dt="0" ftr="0" hdr="0" sldNum="0"/>
  <p:txStyles>
    <p:titleStyle>
      <a:lvl1pPr algn="ctr" defTabSz="914400" rtl="0"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>
        <a:spcBef>
          <a:spcPts val="0"/>
        </a:spcBef>
        <a:buFont typeface="Arial"/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>
        <a:spcBef>
          <a:spcPts val="0"/>
        </a:spcBef>
        <a:buFont typeface="Arial"/>
        <a:buChar char="–"/>
        <a:defRPr sz="28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spcBef>
          <a:spcPts val="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spcBef>
          <a:spcPts val="0"/>
        </a:spcBef>
        <a:buFont typeface="Arial"/>
        <a:buChar char="–"/>
        <a:defRPr sz="20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spcBef>
          <a:spcPts val="0"/>
        </a:spcBef>
        <a:buFont typeface="Arial"/>
        <a:buChar char="»"/>
        <a:defRPr sz="20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7680706" name="Shape 34"/>
          <p:cNvSpPr/>
          <p:nvPr/>
        </p:nvSpPr>
        <p:spPr bwMode="auto">
          <a:xfrm flipH="0" flipV="0">
            <a:off x="10602744" y="25439980"/>
            <a:ext cx="8983703" cy="8442538"/>
          </a:xfrm>
          <a:prstGeom prst="roundRect">
            <a:avLst>
              <a:gd name="adj" fmla="val 59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  <a:effectLst>
            <a:outerShdw blurRad="12700" dist="3810" dir="2700000" sx="100000" sy="100000" kx="0" ky="0" algn="bl" rotWithShape="0">
              <a:srgbClr val="000000">
                <a:alpha val="8000"/>
              </a:srgbClr>
            </a:outerShdw>
          </a:effectLst>
        </p:spPr>
        <p:txBody>
          <a:bodyPr anchor="ctr"/>
          <a:p>
            <a:pPr algn="ctr">
              <a:defRPr/>
            </a:pPr>
            <a:endParaRPr>
              <a:latin typeface="Roboto"/>
              <a:cs typeface="Roboto"/>
            </a:endParaRPr>
          </a:p>
        </p:txBody>
      </p:sp>
      <p:sp>
        <p:nvSpPr>
          <p:cNvPr id="1838642159" name="Shape 34"/>
          <p:cNvSpPr/>
          <p:nvPr/>
        </p:nvSpPr>
        <p:spPr bwMode="auto">
          <a:xfrm flipH="0" flipV="0">
            <a:off x="1019277" y="15242423"/>
            <a:ext cx="8743424" cy="18640095"/>
          </a:xfrm>
          <a:prstGeom prst="roundRect">
            <a:avLst>
              <a:gd name="adj" fmla="val 59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  <a:effectLst>
            <a:outerShdw blurRad="12700" dist="3810" dir="2700000" sx="100000" sy="100000" kx="0" ky="0" algn="bl" rotWithShape="0">
              <a:srgbClr val="000000">
                <a:alpha val="8000"/>
              </a:srgbClr>
            </a:outerShdw>
          </a:effectLst>
        </p:spPr>
        <p:txBody>
          <a:bodyPr anchor="ctr"/>
          <a:p>
            <a:pPr algn="ctr">
              <a:defRPr/>
            </a:pPr>
            <a:endParaRPr>
              <a:latin typeface="Roboto"/>
              <a:cs typeface="Roboto"/>
            </a:endParaRPr>
          </a:p>
        </p:txBody>
      </p:sp>
      <p:sp>
        <p:nvSpPr>
          <p:cNvPr id="550284465" name="Shape 34"/>
          <p:cNvSpPr/>
          <p:nvPr/>
        </p:nvSpPr>
        <p:spPr bwMode="auto">
          <a:xfrm flipH="0" flipV="0">
            <a:off x="20341864" y="15424285"/>
            <a:ext cx="8897111" cy="18433608"/>
          </a:xfrm>
          <a:prstGeom prst="roundRect">
            <a:avLst>
              <a:gd name="adj" fmla="val 59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  <a:effectLst>
            <a:outerShdw blurRad="12700" dist="3810" dir="2700000" sx="100000" sy="100000" kx="0" ky="0" algn="bl" rotWithShape="0">
              <a:srgbClr val="000000">
                <a:alpha val="8000"/>
              </a:srgbClr>
            </a:outerShdw>
          </a:effectLst>
        </p:spPr>
        <p:txBody>
          <a:bodyPr anchor="ctr"/>
          <a:p>
            <a:pPr algn="ctr">
              <a:defRPr/>
            </a:pPr>
            <a:endParaRPr>
              <a:latin typeface="Roboto"/>
              <a:cs typeface="Roboto"/>
            </a:endParaRPr>
          </a:p>
        </p:txBody>
      </p:sp>
      <p:sp>
        <p:nvSpPr>
          <p:cNvPr id="643297531" name="Shape 34"/>
          <p:cNvSpPr/>
          <p:nvPr/>
        </p:nvSpPr>
        <p:spPr bwMode="auto">
          <a:xfrm flipH="0" flipV="0">
            <a:off x="10602744" y="34796874"/>
            <a:ext cx="8983703" cy="6343705"/>
          </a:xfrm>
          <a:prstGeom prst="roundRect">
            <a:avLst>
              <a:gd name="adj" fmla="val 59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  <a:effectLst>
            <a:outerShdw blurRad="12700" dist="3810" dir="2700000" sx="100000" sy="100000" kx="0" ky="0" algn="bl" rotWithShape="0">
              <a:srgbClr val="000000">
                <a:alpha val="8000"/>
              </a:srgbClr>
            </a:outerShdw>
          </a:effectLst>
        </p:spPr>
        <p:txBody>
          <a:bodyPr anchor="ctr"/>
          <a:p>
            <a:pPr algn="ctr">
              <a:defRPr/>
            </a:pPr>
            <a:endParaRPr>
              <a:latin typeface="Roboto"/>
              <a:cs typeface="Roboto"/>
            </a:endParaRPr>
          </a:p>
        </p:txBody>
      </p:sp>
      <p:sp>
        <p:nvSpPr>
          <p:cNvPr id="1468175226" name="Shape 34"/>
          <p:cNvSpPr/>
          <p:nvPr/>
        </p:nvSpPr>
        <p:spPr bwMode="auto">
          <a:xfrm flipH="0" flipV="0">
            <a:off x="1019277" y="34796874"/>
            <a:ext cx="8743424" cy="6343705"/>
          </a:xfrm>
          <a:prstGeom prst="roundRect">
            <a:avLst>
              <a:gd name="adj" fmla="val 59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  <a:effectLst>
            <a:outerShdw blurRad="12700" dist="3810" dir="2700000" sx="100000" sy="100000" kx="0" ky="0" algn="bl" rotWithShape="0">
              <a:srgbClr val="000000">
                <a:alpha val="8000"/>
              </a:srgbClr>
            </a:outerShdw>
          </a:effectLst>
        </p:spPr>
        <p:txBody>
          <a:bodyPr anchor="ctr"/>
          <a:p>
            <a:pPr algn="ctr">
              <a:defRPr/>
            </a:pPr>
            <a:endParaRPr>
              <a:latin typeface="Roboto"/>
              <a:cs typeface="Roboto"/>
            </a:endParaRPr>
          </a:p>
        </p:txBody>
      </p:sp>
      <p:sp>
        <p:nvSpPr>
          <p:cNvPr id="698337481" name="Shape 34"/>
          <p:cNvSpPr/>
          <p:nvPr/>
        </p:nvSpPr>
        <p:spPr bwMode="auto">
          <a:xfrm flipH="0" flipV="0">
            <a:off x="20341864" y="34796874"/>
            <a:ext cx="8897111" cy="6343705"/>
          </a:xfrm>
          <a:prstGeom prst="roundRect">
            <a:avLst>
              <a:gd name="adj" fmla="val 59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  <a:effectLst>
            <a:outerShdw blurRad="12700" dist="3810" dir="2700000" sx="100000" sy="100000" kx="0" ky="0" algn="bl" rotWithShape="0">
              <a:srgbClr val="000000">
                <a:alpha val="8000"/>
              </a:srgbClr>
            </a:outerShdw>
          </a:effectLst>
        </p:spPr>
        <p:txBody>
          <a:bodyPr anchor="ctr"/>
          <a:p>
            <a:pPr algn="ctr">
              <a:defRPr/>
            </a:pPr>
            <a:endParaRPr>
              <a:latin typeface="Roboto"/>
              <a:cs typeface="Roboto"/>
            </a:endParaRPr>
          </a:p>
        </p:txBody>
      </p:sp>
      <p:sp>
        <p:nvSpPr>
          <p:cNvPr id="645761409" name="Shape 34"/>
          <p:cNvSpPr/>
          <p:nvPr/>
        </p:nvSpPr>
        <p:spPr bwMode="auto">
          <a:xfrm flipH="0" flipV="0">
            <a:off x="10734422" y="4618568"/>
            <a:ext cx="8852025" cy="10043716"/>
          </a:xfrm>
          <a:prstGeom prst="roundRect">
            <a:avLst>
              <a:gd name="adj" fmla="val 59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  <a:effectLst>
            <a:outerShdw blurRad="12700" dist="3810" dir="2700000" sx="100000" sy="100000" kx="0" ky="0" algn="bl" rotWithShape="0">
              <a:srgbClr val="000000">
                <a:alpha val="8000"/>
              </a:srgbClr>
            </a:outerShdw>
          </a:effectLst>
        </p:spPr>
        <p:txBody>
          <a:bodyPr anchor="ctr"/>
          <a:p>
            <a:pPr algn="ctr">
              <a:defRPr/>
            </a:pPr>
            <a:endParaRPr>
              <a:latin typeface="Roboto"/>
              <a:cs typeface="Roboto"/>
            </a:endParaRPr>
          </a:p>
        </p:txBody>
      </p:sp>
      <p:sp>
        <p:nvSpPr>
          <p:cNvPr id="1063703080" name="Shape 34"/>
          <p:cNvSpPr/>
          <p:nvPr/>
        </p:nvSpPr>
        <p:spPr bwMode="auto">
          <a:xfrm flipH="0" flipV="0">
            <a:off x="1057335" y="4471457"/>
            <a:ext cx="8762860" cy="10198307"/>
          </a:xfrm>
          <a:prstGeom prst="roundRect">
            <a:avLst>
              <a:gd name="adj" fmla="val 59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  <a:effectLst>
            <a:outerShdw blurRad="12700" dist="3810" dir="2700000" sx="100000" sy="100000" kx="0" ky="0" algn="bl" rotWithShape="0">
              <a:srgbClr val="000000">
                <a:alpha val="8000"/>
              </a:srgbClr>
            </a:outerShdw>
          </a:effectLst>
        </p:spPr>
        <p:txBody>
          <a:bodyPr anchor="ctr"/>
          <a:p>
            <a:pPr algn="ctr">
              <a:defRPr/>
            </a:pPr>
            <a:endParaRPr>
              <a:latin typeface="Roboto"/>
              <a:cs typeface="Roboto"/>
            </a:endParaRPr>
          </a:p>
        </p:txBody>
      </p:sp>
      <p:sp>
        <p:nvSpPr>
          <p:cNvPr id="1458917490" name=""/>
          <p:cNvSpPr/>
          <p:nvPr/>
        </p:nvSpPr>
        <p:spPr bwMode="auto">
          <a:xfrm rot="0" flipH="0" flipV="0">
            <a:off x="11737035" y="5642212"/>
            <a:ext cx="6818312" cy="5281933"/>
          </a:xfrm>
          <a:prstGeom prst="roundRect">
            <a:avLst>
              <a:gd name="adj" fmla="val 16667"/>
            </a:avLst>
          </a:prstGeom>
          <a:solidFill>
            <a:schemeClr val="tx1">
              <a:alpha val="0"/>
            </a:schemeClr>
          </a:solidFill>
          <a:ln w="38100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cxnSp>
        <p:nvCxnSpPr>
          <p:cNvPr id="442872965" name=""/>
          <p:cNvCxnSpPr/>
          <p:nvPr/>
        </p:nvCxnSpPr>
        <p:spPr bwMode="auto">
          <a:xfrm flipH="0" flipV="1">
            <a:off x="14187237" y="5637741"/>
            <a:ext cx="1873249" cy="0"/>
          </a:xfrm>
          <a:prstGeom prst="line">
            <a:avLst/>
          </a:prstGeom>
          <a:ln w="76200" cap="flat" cmpd="sng" algn="ctr">
            <a:solidFill>
              <a:schemeClr val="bg1"/>
            </a:solidFill>
            <a:prstDash val="solid"/>
            <a:miter lim="800000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5564198" name="Text 1"/>
          <p:cNvSpPr/>
          <p:nvPr/>
        </p:nvSpPr>
        <p:spPr bwMode="auto">
          <a:xfrm flipH="0" flipV="0">
            <a:off x="516299" y="317611"/>
            <a:ext cx="29619109" cy="3455727"/>
          </a:xfrm>
          <a:prstGeom prst="rect">
            <a:avLst/>
          </a:prstGeom>
          <a:noFill/>
          <a:ln/>
        </p:spPr>
        <p:txBody>
          <a:bodyPr vertOverflow="overflow" horzOverflow="overflow" vert="horz" wrap="square" lIns="760" tIns="760" rIns="760" bIns="760" numCol="1" spcCol="0" rtlCol="0" fromWordArt="0" anchor="ctr" anchorCtr="0" forceAA="0" upright="0" compatLnSpc="0">
            <a:normAutofit fontScale="90000" lnSpcReduction="2000"/>
          </a:bodyPr>
          <a:lstStyle/>
          <a:p>
            <a:pPr algn="ctr">
              <a:defRPr/>
            </a:pPr>
            <a:r>
              <a:rPr lang="en-US" sz="9000" b="1" i="0" u="none" strike="noStrike" cap="none" spc="0">
                <a:solidFill>
                  <a:srgbClr val="1F53C2"/>
                </a:solidFill>
                <a:latin typeface="Roboto"/>
                <a:ea typeface="Roboto"/>
                <a:cs typeface="Roboto"/>
              </a:rPr>
              <a:t>P2P-</a:t>
            </a:r>
            <a:r>
              <a:rPr lang="ru-RU" sz="9000" b="1" i="0" u="none" strike="noStrike" cap="none" spc="0">
                <a:solidFill>
                  <a:srgbClr val="1F53C2"/>
                </a:solidFill>
                <a:latin typeface="Roboto"/>
                <a:ea typeface="Roboto"/>
                <a:cs typeface="Roboto"/>
              </a:rPr>
              <a:t>сеть нового поколения для </a:t>
            </a:r>
            <a:r>
              <a:rPr lang="en-US" sz="9000" b="1" i="0" u="none" strike="noStrike" cap="none" spc="0">
                <a:solidFill>
                  <a:srgbClr val="1F53C2"/>
                </a:solidFill>
                <a:latin typeface="Roboto"/>
                <a:ea typeface="Roboto"/>
                <a:cs typeface="Roboto"/>
              </a:rPr>
              <a:t>dApps </a:t>
            </a:r>
            <a:r>
              <a:rPr lang="ru-RU" sz="9000" b="1" i="0" u="none" strike="noStrike" cap="none" spc="0">
                <a:solidFill>
                  <a:srgbClr val="1F53C2"/>
                </a:solidFill>
                <a:latin typeface="Roboto"/>
                <a:ea typeface="Roboto"/>
                <a:cs typeface="Roboto"/>
              </a:rPr>
              <a:t>и пользовательской идентификации на основе D</a:t>
            </a:r>
            <a:r>
              <a:rPr lang="en-US" sz="9000" b="1" i="0" u="none" strike="noStrike" cap="none" spc="0">
                <a:solidFill>
                  <a:srgbClr val="1F53C2"/>
                </a:solidFill>
                <a:latin typeface="Roboto"/>
                <a:ea typeface="Roboto"/>
                <a:cs typeface="Roboto"/>
              </a:rPr>
              <a:t>AG</a:t>
            </a:r>
            <a:r>
              <a:rPr lang="ru-RU" sz="9000" b="1" i="0" u="none" strike="noStrike" cap="none" spc="0">
                <a:solidFill>
                  <a:srgbClr val="1F53C2"/>
                </a:solidFill>
                <a:latin typeface="Roboto"/>
                <a:ea typeface="Roboto"/>
                <a:cs typeface="Roboto"/>
              </a:rPr>
              <a:t> и </a:t>
            </a:r>
            <a:r>
              <a:rPr lang="en-US" sz="9000" b="1" i="0" u="none" strike="noStrike" cap="none" spc="0">
                <a:solidFill>
                  <a:srgbClr val="1F53C2"/>
                </a:solidFill>
                <a:latin typeface="Roboto"/>
                <a:ea typeface="Roboto"/>
                <a:cs typeface="Roboto"/>
              </a:rPr>
              <a:t>Web3</a:t>
            </a:r>
            <a:r>
              <a:rPr lang="ru-RU" sz="9000" b="1" i="0" u="none" strike="noStrike" cap="none" spc="0">
                <a:solidFill>
                  <a:srgbClr val="1F53C2"/>
                </a:solidFill>
                <a:latin typeface="Roboto"/>
                <a:ea typeface="Roboto"/>
                <a:cs typeface="Roboto"/>
              </a:rPr>
              <a:t>-подходов</a:t>
            </a:r>
            <a:endParaRPr sz="9000" b="1">
              <a:solidFill>
                <a:srgbClr val="1F53C2"/>
              </a:solidFill>
              <a:latin typeface="Roboto"/>
              <a:cs typeface="Roboto"/>
            </a:endParaRPr>
          </a:p>
        </p:txBody>
      </p:sp>
      <p:sp>
        <p:nvSpPr>
          <p:cNvPr id="1154199620" name="Text 4"/>
          <p:cNvSpPr/>
          <p:nvPr/>
        </p:nvSpPr>
        <p:spPr bwMode="auto">
          <a:xfrm>
            <a:off x="1019278" y="4237431"/>
            <a:ext cx="8897112" cy="65836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>
              <a:buNone/>
              <a:defRPr/>
            </a:pPr>
            <a:r>
              <a:rPr lang="ru-RU" sz="4800" b="1">
                <a:solidFill>
                  <a:srgbClr val="0F172A"/>
                </a:solidFill>
                <a:latin typeface="Roboto"/>
                <a:ea typeface="Roboto"/>
                <a:cs typeface="Roboto"/>
              </a:rPr>
              <a:t>Актуальность и проблема</a:t>
            </a:r>
            <a:endParaRPr sz="4800">
              <a:latin typeface="Roboto"/>
              <a:cs typeface="Roboto"/>
            </a:endParaRPr>
          </a:p>
        </p:txBody>
      </p:sp>
      <p:sp>
        <p:nvSpPr>
          <p:cNvPr id="1184545857" name="Shape 6"/>
          <p:cNvSpPr/>
          <p:nvPr/>
        </p:nvSpPr>
        <p:spPr bwMode="auto">
          <a:xfrm flipH="0" flipV="0">
            <a:off x="1186832" y="9405364"/>
            <a:ext cx="3902412" cy="288354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 anchor="ctr"/>
          <a:p>
            <a:pPr algn="ctr">
              <a:defRPr/>
            </a:pPr>
            <a:endParaRPr>
              <a:latin typeface="Roboto"/>
              <a:cs typeface="Roboto"/>
            </a:endParaRPr>
          </a:p>
        </p:txBody>
      </p:sp>
      <p:sp>
        <p:nvSpPr>
          <p:cNvPr id="876287782" name="Shape 8"/>
          <p:cNvSpPr/>
          <p:nvPr/>
        </p:nvSpPr>
        <p:spPr bwMode="auto">
          <a:xfrm flipH="0" flipV="0">
            <a:off x="5225594" y="9405364"/>
            <a:ext cx="4576952" cy="288354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 anchor="ctr"/>
          <a:p>
            <a:pPr algn="ctr">
              <a:defRPr/>
            </a:pPr>
            <a:endParaRPr>
              <a:latin typeface="Roboto"/>
              <a:cs typeface="Roboto"/>
            </a:endParaRPr>
          </a:p>
        </p:txBody>
      </p:sp>
      <p:sp>
        <p:nvSpPr>
          <p:cNvPr id="1975547899" name="Text 12"/>
          <p:cNvSpPr/>
          <p:nvPr/>
        </p:nvSpPr>
        <p:spPr bwMode="auto">
          <a:xfrm>
            <a:off x="10689336" y="4237431"/>
            <a:ext cx="8897112" cy="65836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>
              <a:buNone/>
              <a:defRPr/>
            </a:pPr>
            <a:r>
              <a:rPr lang="ru-RU" sz="4800" b="1">
                <a:solidFill>
                  <a:srgbClr val="0F172A"/>
                </a:solidFill>
                <a:latin typeface="Roboto"/>
                <a:ea typeface="Roboto"/>
                <a:cs typeface="Roboto"/>
              </a:rPr>
              <a:t>Архитектура узла</a:t>
            </a:r>
            <a:endParaRPr sz="4800">
              <a:latin typeface="Roboto"/>
              <a:cs typeface="Roboto"/>
            </a:endParaRPr>
          </a:p>
        </p:txBody>
      </p:sp>
      <p:sp>
        <p:nvSpPr>
          <p:cNvPr id="1054413530" name="Shape 32"/>
          <p:cNvSpPr/>
          <p:nvPr/>
        </p:nvSpPr>
        <p:spPr bwMode="auto">
          <a:xfrm>
            <a:off x="16340328" y="12006921"/>
            <a:ext cx="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1244007092" name="Shape 34"/>
          <p:cNvSpPr/>
          <p:nvPr/>
        </p:nvSpPr>
        <p:spPr bwMode="auto">
          <a:xfrm flipH="0" flipV="0">
            <a:off x="20359391" y="4143080"/>
            <a:ext cx="8897112" cy="10524567"/>
          </a:xfrm>
          <a:prstGeom prst="roundRect">
            <a:avLst>
              <a:gd name="adj" fmla="val 59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  <a:effectLst>
            <a:outerShdw blurRad="12700" dist="3810" dir="2700000" sx="100000" sy="100000" kx="0" ky="0" algn="bl" rotWithShape="0">
              <a:srgbClr val="000000">
                <a:alpha val="8000"/>
              </a:srgbClr>
            </a:outerShdw>
          </a:effectLst>
        </p:spPr>
        <p:txBody>
          <a:bodyPr anchor="ctr"/>
          <a:p>
            <a:pPr algn="ctr">
              <a:defRPr/>
            </a:pPr>
            <a:endParaRPr>
              <a:latin typeface="Roboto"/>
              <a:cs typeface="Roboto"/>
            </a:endParaRPr>
          </a:p>
        </p:txBody>
      </p:sp>
      <p:sp>
        <p:nvSpPr>
          <p:cNvPr id="1688867132" name="Text 35"/>
          <p:cNvSpPr/>
          <p:nvPr/>
        </p:nvSpPr>
        <p:spPr bwMode="auto">
          <a:xfrm>
            <a:off x="20359392" y="4289385"/>
            <a:ext cx="8897112" cy="65836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>
              <a:buNone/>
              <a:defRPr/>
            </a:pPr>
            <a:r>
              <a:rPr lang="ru-RU" sz="4800" b="1">
                <a:solidFill>
                  <a:srgbClr val="0F172A"/>
                </a:solidFill>
                <a:latin typeface="Roboto"/>
                <a:ea typeface="Roboto"/>
                <a:cs typeface="Roboto"/>
              </a:rPr>
              <a:t>Новизна и значимость</a:t>
            </a:r>
            <a:endParaRPr sz="4800">
              <a:latin typeface="Roboto"/>
              <a:cs typeface="Roboto"/>
            </a:endParaRPr>
          </a:p>
        </p:txBody>
      </p:sp>
      <p:sp>
        <p:nvSpPr>
          <p:cNvPr id="1645196023" name="Text 36"/>
          <p:cNvSpPr/>
          <p:nvPr/>
        </p:nvSpPr>
        <p:spPr bwMode="auto">
          <a:xfrm flipH="0" flipV="0">
            <a:off x="20725151" y="5348001"/>
            <a:ext cx="8321801" cy="2147498"/>
          </a:xfrm>
          <a:prstGeom prst="rect">
            <a:avLst/>
          </a:prstGeom>
          <a:noFill/>
          <a:ln/>
        </p:spPr>
        <p:txBody>
          <a:bodyPr wrap="square" lIns="760" tIns="760" rIns="760" bIns="760" rtlCol="0" anchor="t">
            <a:normAutofit/>
          </a:bodyPr>
          <a:lstStyle/>
          <a:p>
            <a:pPr marL="0" indent="0" algn="l">
              <a:buNone/>
              <a:defRPr/>
            </a:pPr>
            <a:r>
              <a:rPr lang="ru-RU" sz="3200" b="1">
                <a:solidFill>
                  <a:srgbClr val="0F172A"/>
                </a:solidFill>
                <a:latin typeface="Roboto"/>
                <a:ea typeface="Roboto"/>
                <a:cs typeface="Roboto"/>
              </a:rPr>
              <a:t>Новизна </a:t>
            </a:r>
            <a:r>
              <a:rPr lang="ru-RU" sz="3200" b="1" i="1">
                <a:solidFill>
                  <a:srgbClr val="0F172A"/>
                </a:solidFill>
                <a:latin typeface="Roboto"/>
                <a:ea typeface="Roboto"/>
                <a:cs typeface="Roboto"/>
              </a:rPr>
              <a:t>проекта </a:t>
            </a:r>
            <a:r>
              <a:rPr lang="en-US" sz="3200">
                <a:solidFill>
                  <a:srgbClr val="0F172A"/>
                </a:solidFill>
                <a:latin typeface="Roboto"/>
                <a:ea typeface="Roboto"/>
                <a:cs typeface="Roboto"/>
              </a:rPr>
              <a:t>—</a:t>
            </a:r>
            <a:r>
              <a:rPr lang="ru-RU" sz="3200">
                <a:solidFill>
                  <a:srgbClr val="0F172A"/>
                </a:solidFill>
                <a:latin typeface="Roboto"/>
                <a:ea typeface="Roboto"/>
                <a:cs typeface="Roboto"/>
              </a:rPr>
              <a:t> собственный алгоритм WIDAG и архитектура, объединяющая DID, Kad-DHT, p2p и DAG для dApps и имеющая высокую способность к интеграции.</a:t>
            </a:r>
            <a:endParaRPr lang="ru-RU" sz="3200">
              <a:solidFill>
                <a:srgbClr val="0F172A"/>
              </a:solidFill>
              <a:latin typeface="Roboto"/>
              <a:ea typeface="Roboto"/>
              <a:cs typeface="Roboto"/>
            </a:endParaRPr>
          </a:p>
          <a:p>
            <a:pPr marL="0" indent="0" algn="l">
              <a:buNone/>
              <a:defRPr/>
            </a:pPr>
            <a:endParaRPr sz="1200">
              <a:latin typeface="Roboto"/>
              <a:cs typeface="Roboto"/>
            </a:endParaRPr>
          </a:p>
        </p:txBody>
      </p:sp>
      <p:sp>
        <p:nvSpPr>
          <p:cNvPr id="1856921571" name="Text 97"/>
          <p:cNvSpPr/>
          <p:nvPr/>
        </p:nvSpPr>
        <p:spPr bwMode="auto">
          <a:xfrm flipH="0" flipV="0">
            <a:off x="20647976" y="12212788"/>
            <a:ext cx="8284888" cy="2547137"/>
          </a:xfrm>
          <a:prstGeom prst="rect">
            <a:avLst/>
          </a:prstGeom>
          <a:noFill/>
          <a:ln/>
        </p:spPr>
        <p:txBody>
          <a:bodyPr wrap="square" lIns="760" tIns="760" rIns="760" bIns="760" rtlCol="0" anchor="t">
            <a:normAutofit/>
          </a:bodyPr>
          <a:lstStyle/>
          <a:p>
            <a:pPr marL="0" indent="0" algn="l">
              <a:buNone/>
              <a:defRPr/>
            </a:pPr>
            <a:endParaRPr sz="1200">
              <a:latin typeface="Roboto"/>
              <a:cs typeface="Roboto"/>
            </a:endParaRPr>
          </a:p>
          <a:p>
            <a:pPr marL="0" indent="0" algn="l">
              <a:buNone/>
              <a:defRPr/>
            </a:pPr>
            <a:r>
              <a:rPr lang="ru-RU" sz="3200" b="1">
                <a:solidFill>
                  <a:srgbClr val="0F172A"/>
                </a:solidFill>
                <a:latin typeface="Roboto"/>
                <a:ea typeface="Roboto"/>
                <a:cs typeface="Roboto"/>
              </a:rPr>
              <a:t>Значимость: </a:t>
            </a:r>
            <a:r>
              <a:rPr lang="ru-RU" sz="3200">
                <a:solidFill>
                  <a:srgbClr val="0F172A"/>
                </a:solidFill>
                <a:latin typeface="Roboto"/>
                <a:ea typeface="Roboto"/>
                <a:cs typeface="Roboto"/>
              </a:rPr>
              <a:t> обеспечивает значительное повышение безопасности и вводит инновационные возможности для пользователей и разработчиков.</a:t>
            </a:r>
            <a:endParaRPr lang="ru-RU" sz="3200">
              <a:solidFill>
                <a:srgbClr val="0F172A"/>
              </a:solidFill>
              <a:latin typeface="Roboto"/>
              <a:ea typeface="Roboto"/>
              <a:cs typeface="Roboto"/>
            </a:endParaRPr>
          </a:p>
        </p:txBody>
      </p:sp>
      <p:sp>
        <p:nvSpPr>
          <p:cNvPr id="732631528" name="Text 122"/>
          <p:cNvSpPr/>
          <p:nvPr/>
        </p:nvSpPr>
        <p:spPr bwMode="auto">
          <a:xfrm>
            <a:off x="10524110" y="25113500"/>
            <a:ext cx="8897112" cy="65836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>
              <a:buNone/>
              <a:defRPr/>
            </a:pPr>
            <a:r>
              <a:rPr lang="ru-RU" sz="4800" b="1">
                <a:solidFill>
                  <a:srgbClr val="0F172A"/>
                </a:solidFill>
                <a:latin typeface="Roboto"/>
                <a:ea typeface="Roboto"/>
                <a:cs typeface="Roboto"/>
              </a:rPr>
              <a:t>Результаты и тестирование</a:t>
            </a:r>
            <a:endParaRPr sz="4800">
              <a:latin typeface="Roboto"/>
              <a:cs typeface="Roboto"/>
            </a:endParaRPr>
          </a:p>
        </p:txBody>
      </p:sp>
      <p:sp>
        <p:nvSpPr>
          <p:cNvPr id="975662883" name="Shape 123"/>
          <p:cNvSpPr/>
          <p:nvPr/>
        </p:nvSpPr>
        <p:spPr bwMode="auto">
          <a:xfrm>
            <a:off x="10793792" y="26218600"/>
            <a:ext cx="2743200" cy="18288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</p:spPr>
        <p:txBody>
          <a:bodyPr anchor="ctr"/>
          <a:p>
            <a:pPr algn="ctr">
              <a:defRPr/>
            </a:pPr>
            <a:endParaRPr>
              <a:latin typeface="Roboto"/>
              <a:cs typeface="Roboto"/>
            </a:endParaRPr>
          </a:p>
        </p:txBody>
      </p:sp>
      <p:sp>
        <p:nvSpPr>
          <p:cNvPr id="629050777" name="Text 124"/>
          <p:cNvSpPr/>
          <p:nvPr/>
        </p:nvSpPr>
        <p:spPr bwMode="auto">
          <a:xfrm>
            <a:off x="10793792" y="26538640"/>
            <a:ext cx="2743200" cy="59436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  <a:defRPr/>
            </a:pPr>
            <a:r>
              <a:rPr lang="ru-RU" sz="4000" b="1">
                <a:solidFill>
                  <a:srgbClr val="2563EB"/>
                </a:solidFill>
                <a:latin typeface="Roboto"/>
                <a:ea typeface="Roboto"/>
                <a:cs typeface="Roboto"/>
              </a:rPr>
              <a:t>0,29 c</a:t>
            </a:r>
            <a:endParaRPr sz="4000">
              <a:latin typeface="Roboto"/>
              <a:cs typeface="Roboto"/>
            </a:endParaRPr>
          </a:p>
        </p:txBody>
      </p:sp>
      <p:sp>
        <p:nvSpPr>
          <p:cNvPr id="737533539" name="Text 125"/>
          <p:cNvSpPr/>
          <p:nvPr/>
        </p:nvSpPr>
        <p:spPr bwMode="auto">
          <a:xfrm>
            <a:off x="10885232" y="27151288"/>
            <a:ext cx="2560320" cy="5029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  <a:defRPr/>
            </a:pPr>
            <a:r>
              <a:rPr lang="ru-RU" sz="2400">
                <a:solidFill>
                  <a:srgbClr val="0F172A"/>
                </a:solidFill>
                <a:latin typeface="Roboto"/>
                <a:ea typeface="Roboto"/>
                <a:cs typeface="Roboto"/>
              </a:rPr>
              <a:t>поиск DHT</a:t>
            </a:r>
            <a:endParaRPr sz="2400">
              <a:latin typeface="Roboto"/>
              <a:cs typeface="Roboto"/>
            </a:endParaRPr>
          </a:p>
        </p:txBody>
      </p:sp>
      <p:sp>
        <p:nvSpPr>
          <p:cNvPr id="1236946590" name="Shape 126"/>
          <p:cNvSpPr/>
          <p:nvPr/>
        </p:nvSpPr>
        <p:spPr bwMode="auto">
          <a:xfrm>
            <a:off x="13738160" y="26218600"/>
            <a:ext cx="2743200" cy="18288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</p:spPr>
        <p:txBody>
          <a:bodyPr anchor="ctr"/>
          <a:p>
            <a:pPr algn="ctr">
              <a:defRPr/>
            </a:pPr>
            <a:endParaRPr>
              <a:latin typeface="Roboto"/>
              <a:cs typeface="Roboto"/>
            </a:endParaRPr>
          </a:p>
        </p:txBody>
      </p:sp>
      <p:sp>
        <p:nvSpPr>
          <p:cNvPr id="1194668965" name="Text 127"/>
          <p:cNvSpPr/>
          <p:nvPr/>
        </p:nvSpPr>
        <p:spPr bwMode="auto">
          <a:xfrm>
            <a:off x="13738160" y="26556928"/>
            <a:ext cx="2743200" cy="59436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  <a:defRPr/>
            </a:pPr>
            <a:r>
              <a:rPr lang="ru-RU" sz="4000" b="1">
                <a:solidFill>
                  <a:srgbClr val="2563EB"/>
                </a:solidFill>
                <a:latin typeface="Roboto"/>
                <a:ea typeface="Roboto"/>
                <a:cs typeface="Roboto"/>
              </a:rPr>
              <a:t>1,28 c</a:t>
            </a:r>
            <a:endParaRPr sz="4000">
              <a:latin typeface="Roboto"/>
              <a:cs typeface="Roboto"/>
            </a:endParaRPr>
          </a:p>
        </p:txBody>
      </p:sp>
      <p:sp>
        <p:nvSpPr>
          <p:cNvPr id="1380307226" name="Text 128"/>
          <p:cNvSpPr/>
          <p:nvPr/>
        </p:nvSpPr>
        <p:spPr bwMode="auto">
          <a:xfrm>
            <a:off x="13829600" y="27151288"/>
            <a:ext cx="2560320" cy="5029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  <a:defRPr/>
            </a:pPr>
            <a:r>
              <a:rPr lang="ru-RU" sz="2400">
                <a:solidFill>
                  <a:srgbClr val="0F172A"/>
                </a:solidFill>
                <a:latin typeface="Roboto"/>
                <a:ea typeface="Roboto"/>
                <a:cs typeface="Roboto"/>
              </a:rPr>
              <a:t>кворум WIDAG</a:t>
            </a:r>
            <a:endParaRPr sz="2400">
              <a:latin typeface="Roboto"/>
              <a:cs typeface="Roboto"/>
            </a:endParaRPr>
          </a:p>
        </p:txBody>
      </p:sp>
      <p:sp>
        <p:nvSpPr>
          <p:cNvPr id="945759976" name="Shape 129"/>
          <p:cNvSpPr/>
          <p:nvPr/>
        </p:nvSpPr>
        <p:spPr bwMode="auto">
          <a:xfrm>
            <a:off x="16682528" y="26218600"/>
            <a:ext cx="2743200" cy="18288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</p:spPr>
        <p:txBody>
          <a:bodyPr anchor="ctr"/>
          <a:p>
            <a:pPr algn="ctr">
              <a:defRPr/>
            </a:pPr>
            <a:endParaRPr>
              <a:latin typeface="Roboto"/>
              <a:cs typeface="Roboto"/>
            </a:endParaRPr>
          </a:p>
        </p:txBody>
      </p:sp>
      <p:sp>
        <p:nvSpPr>
          <p:cNvPr id="732770156" name="Text 130"/>
          <p:cNvSpPr/>
          <p:nvPr/>
        </p:nvSpPr>
        <p:spPr bwMode="auto">
          <a:xfrm>
            <a:off x="16618520" y="26538640"/>
            <a:ext cx="2743200" cy="59436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  <a:defRPr/>
            </a:pPr>
            <a:r>
              <a:rPr lang="ru-RU" sz="4000" b="1">
                <a:solidFill>
                  <a:srgbClr val="2563EB"/>
                </a:solidFill>
                <a:latin typeface="Roboto"/>
                <a:ea typeface="Roboto"/>
                <a:cs typeface="Roboto"/>
              </a:rPr>
              <a:t>95%</a:t>
            </a:r>
            <a:endParaRPr sz="4000">
              <a:latin typeface="Roboto"/>
              <a:cs typeface="Roboto"/>
            </a:endParaRPr>
          </a:p>
        </p:txBody>
      </p:sp>
      <p:sp>
        <p:nvSpPr>
          <p:cNvPr id="187499527" name="Text 131"/>
          <p:cNvSpPr/>
          <p:nvPr/>
        </p:nvSpPr>
        <p:spPr bwMode="auto">
          <a:xfrm>
            <a:off x="16773968" y="27151288"/>
            <a:ext cx="2560320" cy="5029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  <a:defRPr/>
            </a:pPr>
            <a:r>
              <a:rPr lang="ru-RU" sz="2400">
                <a:solidFill>
                  <a:srgbClr val="0F172A"/>
                </a:solidFill>
                <a:latin typeface="Roboto"/>
                <a:ea typeface="Roboto"/>
                <a:cs typeface="Roboto"/>
              </a:rPr>
              <a:t>отклонение ошибок</a:t>
            </a:r>
            <a:endParaRPr sz="2400">
              <a:latin typeface="Roboto"/>
              <a:cs typeface="Roboto"/>
            </a:endParaRPr>
          </a:p>
        </p:txBody>
      </p:sp>
      <p:sp>
        <p:nvSpPr>
          <p:cNvPr id="227846884" name="Shape 133"/>
          <p:cNvSpPr/>
          <p:nvPr/>
        </p:nvSpPr>
        <p:spPr bwMode="auto">
          <a:xfrm>
            <a:off x="10899331" y="31499714"/>
            <a:ext cx="8385048" cy="2240280"/>
          </a:xfrm>
          <a:prstGeom prst="roundRect">
            <a:avLst>
              <a:gd name="adj" fmla="val 16667"/>
            </a:avLst>
          </a:prstGeom>
          <a:solidFill>
            <a:srgbClr val="DCFCE7"/>
          </a:solidFill>
          <a:ln w="12700">
            <a:solidFill>
              <a:srgbClr val="166534"/>
            </a:solidFill>
            <a:prstDash val="solid"/>
          </a:ln>
        </p:spPr>
        <p:txBody>
          <a:bodyPr anchor="ctr"/>
          <a:p>
            <a:pPr algn="ctr">
              <a:defRPr/>
            </a:pPr>
            <a:endParaRPr>
              <a:latin typeface="Roboto"/>
              <a:cs typeface="Roboto"/>
            </a:endParaRPr>
          </a:p>
        </p:txBody>
      </p:sp>
      <p:sp>
        <p:nvSpPr>
          <p:cNvPr id="1030360493" name="Text 137"/>
          <p:cNvSpPr/>
          <p:nvPr/>
        </p:nvSpPr>
        <p:spPr bwMode="auto">
          <a:xfrm flipH="0" flipV="0">
            <a:off x="1048470" y="35399836"/>
            <a:ext cx="8714232" cy="5740742"/>
          </a:xfrm>
          <a:prstGeom prst="rect">
            <a:avLst/>
          </a:prstGeom>
          <a:noFill/>
          <a:ln/>
        </p:spPr>
        <p:txBody>
          <a:bodyPr wrap="square" lIns="760" tIns="760" rIns="760" bIns="760" rtlCol="0" anchor="t">
            <a:normAutofit/>
          </a:bodyPr>
          <a:lstStyle/>
          <a:p>
            <a:pPr marL="0" indent="0">
              <a:buNone/>
              <a:defRPr/>
            </a:pPr>
            <a:r>
              <a:rPr lang="ru-RU" sz="3200" b="1">
                <a:solidFill>
                  <a:srgbClr val="0F172A"/>
                </a:solidFill>
                <a:latin typeface="Roboto"/>
                <a:ea typeface="Roboto"/>
                <a:cs typeface="Roboto"/>
              </a:rPr>
              <a:t>Целевая аудитория:</a:t>
            </a:r>
            <a:endParaRPr sz="3200">
              <a:latin typeface="Roboto"/>
              <a:cs typeface="Roboto"/>
            </a:endParaRPr>
          </a:p>
          <a:p>
            <a:pPr marL="400050" lvl="1" indent="0">
              <a:buNone/>
              <a:defRPr/>
            </a:pPr>
            <a:r>
              <a:rPr lang="ru-RU" sz="3200">
                <a:solidFill>
                  <a:srgbClr val="0F172A"/>
                </a:solidFill>
                <a:latin typeface="Roboto"/>
                <a:ea typeface="Roboto"/>
                <a:cs typeface="Roboto"/>
              </a:rPr>
              <a:t>• разработчики dApps;</a:t>
            </a:r>
            <a:endParaRPr sz="3200">
              <a:latin typeface="Roboto"/>
              <a:cs typeface="Roboto"/>
            </a:endParaRPr>
          </a:p>
          <a:p>
            <a:pPr marL="400050" lvl="1" indent="0">
              <a:buNone/>
              <a:defRPr/>
            </a:pPr>
            <a:r>
              <a:rPr lang="ru-RU" sz="3200">
                <a:solidFill>
                  <a:srgbClr val="0F172A"/>
                </a:solidFill>
                <a:latin typeface="Roboto"/>
                <a:ea typeface="Roboto"/>
                <a:cs typeface="Roboto"/>
              </a:rPr>
              <a:t>• Web3-проекты;</a:t>
            </a:r>
            <a:endParaRPr sz="3200">
              <a:latin typeface="Roboto"/>
              <a:cs typeface="Roboto"/>
            </a:endParaRPr>
          </a:p>
          <a:p>
            <a:pPr marL="400050" lvl="1" indent="0">
              <a:buNone/>
              <a:defRPr/>
            </a:pPr>
            <a:r>
              <a:rPr lang="ru-RU" sz="3200">
                <a:solidFill>
                  <a:srgbClr val="0F172A"/>
                </a:solidFill>
                <a:latin typeface="Roboto"/>
                <a:ea typeface="Roboto"/>
                <a:cs typeface="Roboto"/>
              </a:rPr>
              <a:t>• IoT и автономные системы;</a:t>
            </a:r>
            <a:endParaRPr sz="3200">
              <a:latin typeface="Roboto"/>
              <a:cs typeface="Roboto"/>
            </a:endParaRPr>
          </a:p>
          <a:p>
            <a:pPr marL="400050" lvl="1" indent="0">
              <a:buNone/>
              <a:defRPr/>
            </a:pPr>
            <a:r>
              <a:rPr lang="ru-RU" sz="3200">
                <a:solidFill>
                  <a:srgbClr val="0F172A"/>
                </a:solidFill>
                <a:latin typeface="Roboto"/>
                <a:ea typeface="Roboto"/>
                <a:cs typeface="Roboto"/>
              </a:rPr>
              <a:t>• корпоративные распределённые сети;</a:t>
            </a:r>
            <a:endParaRPr sz="3200">
              <a:latin typeface="Roboto"/>
              <a:cs typeface="Roboto"/>
            </a:endParaRPr>
          </a:p>
          <a:p>
            <a:pPr marL="400050" lvl="1" indent="0">
              <a:buNone/>
              <a:defRPr/>
            </a:pPr>
            <a:r>
              <a:rPr lang="ru-RU" sz="3200">
                <a:solidFill>
                  <a:srgbClr val="0F172A"/>
                </a:solidFill>
                <a:latin typeface="Roboto"/>
                <a:ea typeface="Roboto"/>
                <a:cs typeface="Roboto"/>
              </a:rPr>
              <a:t>• государственные</a:t>
            </a:r>
            <a:r>
              <a:rPr lang="ru-RU" sz="3200">
                <a:solidFill>
                  <a:srgbClr val="0F172A"/>
                </a:solidFill>
                <a:latin typeface="Roboto"/>
                <a:ea typeface="Roboto"/>
                <a:cs typeface="Roboto"/>
              </a:rPr>
              <a:t> заказчики.</a:t>
            </a:r>
            <a:endParaRPr sz="3200">
              <a:latin typeface="Roboto"/>
              <a:cs typeface="Roboto"/>
            </a:endParaRPr>
          </a:p>
          <a:p>
            <a:pPr marL="0" indent="0">
              <a:buNone/>
              <a:defRPr/>
            </a:pPr>
            <a:endParaRPr sz="1200">
              <a:latin typeface="Roboto"/>
              <a:cs typeface="Roboto"/>
            </a:endParaRPr>
          </a:p>
          <a:p>
            <a:pPr marL="0" indent="0">
              <a:buNone/>
              <a:defRPr/>
            </a:pPr>
            <a:r>
              <a:rPr lang="ru-RU" sz="3200" b="1">
                <a:solidFill>
                  <a:srgbClr val="0F172A"/>
                </a:solidFill>
                <a:latin typeface="Roboto"/>
                <a:ea typeface="Roboto"/>
                <a:cs typeface="Roboto"/>
              </a:rPr>
              <a:t>Сценарии применения:</a:t>
            </a:r>
            <a:endParaRPr sz="3200">
              <a:latin typeface="Roboto"/>
              <a:cs typeface="Roboto"/>
            </a:endParaRPr>
          </a:p>
          <a:p>
            <a:pPr marL="0" indent="0">
              <a:buNone/>
              <a:defRPr/>
            </a:pPr>
            <a:r>
              <a:rPr lang="ru-RU" sz="3200">
                <a:solidFill>
                  <a:srgbClr val="0F172A"/>
                </a:solidFill>
                <a:latin typeface="Roboto"/>
                <a:ea typeface="Roboto"/>
                <a:cs typeface="Roboto"/>
              </a:rPr>
              <a:t>• децентрализованные мессенджеры;</a:t>
            </a:r>
            <a:endParaRPr sz="3200">
              <a:latin typeface="Roboto"/>
              <a:cs typeface="Roboto"/>
            </a:endParaRPr>
          </a:p>
          <a:p>
            <a:pPr marL="0" indent="0">
              <a:buNone/>
              <a:defRPr/>
            </a:pPr>
            <a:r>
              <a:rPr lang="ru-RU" sz="3200">
                <a:solidFill>
                  <a:srgbClr val="0F172A"/>
                </a:solidFill>
                <a:latin typeface="Roboto"/>
                <a:ea typeface="Roboto"/>
                <a:cs typeface="Roboto"/>
              </a:rPr>
              <a:t>• p2p-сервисы;</a:t>
            </a:r>
            <a:endParaRPr sz="3200">
              <a:latin typeface="Roboto"/>
              <a:cs typeface="Roboto"/>
            </a:endParaRPr>
          </a:p>
          <a:p>
            <a:pPr marL="0" indent="0">
              <a:buNone/>
              <a:defRPr/>
            </a:pPr>
            <a:r>
              <a:rPr lang="ru-RU" sz="3200">
                <a:solidFill>
                  <a:srgbClr val="0F172A"/>
                </a:solidFill>
                <a:latin typeface="Roboto"/>
                <a:ea typeface="Roboto"/>
                <a:cs typeface="Roboto"/>
              </a:rPr>
              <a:t>• IoT-сети;</a:t>
            </a:r>
            <a:endParaRPr sz="3200">
              <a:latin typeface="Roboto"/>
              <a:cs typeface="Roboto"/>
            </a:endParaRPr>
          </a:p>
          <a:p>
            <a:pPr marL="0" indent="0">
              <a:buNone/>
              <a:defRPr/>
            </a:pPr>
            <a:r>
              <a:rPr lang="ru-RU" sz="3200">
                <a:solidFill>
                  <a:srgbClr val="0F172A"/>
                </a:solidFill>
                <a:latin typeface="Roboto"/>
                <a:ea typeface="Roboto"/>
                <a:cs typeface="Roboto"/>
              </a:rPr>
              <a:t>• защищённые распределённые платформы.</a:t>
            </a:r>
            <a:endParaRPr lang="ru-RU" sz="3200">
              <a:solidFill>
                <a:srgbClr val="0F172A"/>
              </a:solidFill>
              <a:latin typeface="Roboto"/>
              <a:ea typeface="Roboto"/>
              <a:cs typeface="Roboto"/>
            </a:endParaRPr>
          </a:p>
          <a:p>
            <a:pPr marL="0" indent="0">
              <a:buNone/>
              <a:defRPr/>
            </a:pPr>
            <a:endParaRPr sz="1200">
              <a:latin typeface="Roboto"/>
              <a:cs typeface="Roboto"/>
            </a:endParaRPr>
          </a:p>
        </p:txBody>
      </p:sp>
      <p:sp>
        <p:nvSpPr>
          <p:cNvPr id="1875488937" name="Text 140"/>
          <p:cNvSpPr/>
          <p:nvPr/>
        </p:nvSpPr>
        <p:spPr bwMode="auto">
          <a:xfrm flipH="0" flipV="0">
            <a:off x="10793792" y="35399836"/>
            <a:ext cx="8627429" cy="7296339"/>
          </a:xfrm>
          <a:prstGeom prst="rect">
            <a:avLst/>
          </a:prstGeom>
          <a:noFill/>
          <a:ln/>
        </p:spPr>
        <p:txBody>
          <a:bodyPr wrap="square" lIns="760" tIns="760" rIns="760" bIns="760" rtlCol="0" anchor="t">
            <a:normAutofit/>
          </a:bodyPr>
          <a:lstStyle/>
          <a:p>
            <a:pPr marL="0" indent="0">
              <a:buNone/>
              <a:defRPr/>
            </a:pPr>
            <a:r>
              <a:rPr lang="ru-RU" sz="3200" b="1">
                <a:solidFill>
                  <a:srgbClr val="0F172A"/>
                </a:solidFill>
                <a:latin typeface="Roboto"/>
                <a:ea typeface="Roboto"/>
                <a:cs typeface="Roboto"/>
              </a:rPr>
              <a:t>Противодействие </a:t>
            </a:r>
            <a:r>
              <a:rPr lang="ru-RU" sz="3200">
                <a:solidFill>
                  <a:srgbClr val="0F172A"/>
                </a:solidFill>
                <a:latin typeface="Roboto"/>
                <a:ea typeface="Roboto"/>
                <a:cs typeface="Roboto"/>
              </a:rPr>
              <a:t>нескольким тактикам:</a:t>
            </a:r>
            <a:endParaRPr lang="ru-RU" sz="3200">
              <a:solidFill>
                <a:srgbClr val="0F172A"/>
              </a:solidFill>
              <a:latin typeface="Roboto"/>
              <a:ea typeface="Roboto"/>
              <a:cs typeface="Roboto"/>
            </a:endParaRPr>
          </a:p>
          <a:p>
            <a:pPr marL="400050" lvl="1" indent="0">
              <a:buNone/>
              <a:defRPr/>
            </a:pPr>
            <a:r>
              <a:rPr lang="en-US" sz="3200">
                <a:solidFill>
                  <a:srgbClr val="0F172A"/>
                </a:solidFill>
                <a:latin typeface="Roboto"/>
                <a:ea typeface="Roboto"/>
                <a:cs typeface="Roboto"/>
              </a:rPr>
              <a:t>• </a:t>
            </a:r>
            <a:r>
              <a:rPr lang="en-US" sz="3200" b="1">
                <a:solidFill>
                  <a:srgbClr val="0F172A"/>
                </a:solidFill>
                <a:latin typeface="Roboto"/>
                <a:ea typeface="Roboto"/>
                <a:cs typeface="Roboto"/>
              </a:rPr>
              <a:t>TA0001 </a:t>
            </a:r>
            <a:r>
              <a:rPr lang="en-US" sz="3200">
                <a:solidFill>
                  <a:srgbClr val="0F172A"/>
                </a:solidFill>
                <a:latin typeface="Roboto"/>
                <a:ea typeface="Roboto"/>
                <a:cs typeface="Roboto"/>
              </a:rPr>
              <a:t>— Initial Access;</a:t>
            </a:r>
            <a:endParaRPr lang="en-US" sz="3200">
              <a:latin typeface="Roboto"/>
              <a:cs typeface="Roboto"/>
            </a:endParaRPr>
          </a:p>
          <a:p>
            <a:pPr marL="400050" lvl="1" indent="0">
              <a:buNone/>
              <a:defRPr/>
            </a:pPr>
            <a:r>
              <a:rPr lang="en-US" sz="3200">
                <a:solidFill>
                  <a:srgbClr val="0F172A"/>
                </a:solidFill>
                <a:latin typeface="Roboto"/>
                <a:ea typeface="Roboto"/>
                <a:cs typeface="Roboto"/>
              </a:rPr>
              <a:t>• </a:t>
            </a:r>
            <a:r>
              <a:rPr lang="en-US" sz="3200" b="1">
                <a:solidFill>
                  <a:srgbClr val="0F172A"/>
                </a:solidFill>
                <a:latin typeface="Roboto"/>
                <a:ea typeface="Roboto"/>
                <a:cs typeface="Roboto"/>
              </a:rPr>
              <a:t>TA0003</a:t>
            </a:r>
            <a:r>
              <a:rPr lang="en-US" sz="3200">
                <a:solidFill>
                  <a:srgbClr val="0F172A"/>
                </a:solidFill>
                <a:latin typeface="Roboto"/>
                <a:ea typeface="Roboto"/>
                <a:cs typeface="Roboto"/>
              </a:rPr>
              <a:t> — Persistence;</a:t>
            </a:r>
            <a:endParaRPr lang="en-US" sz="3200">
              <a:latin typeface="Roboto"/>
              <a:cs typeface="Roboto"/>
            </a:endParaRPr>
          </a:p>
          <a:p>
            <a:pPr marL="400050" lvl="1" indent="0">
              <a:buNone/>
              <a:defRPr/>
            </a:pPr>
            <a:r>
              <a:rPr lang="en-US" sz="3200">
                <a:solidFill>
                  <a:srgbClr val="0F172A"/>
                </a:solidFill>
                <a:latin typeface="Roboto"/>
                <a:ea typeface="Roboto"/>
                <a:cs typeface="Roboto"/>
              </a:rPr>
              <a:t>• </a:t>
            </a:r>
            <a:r>
              <a:rPr lang="en-US" sz="3200" b="1">
                <a:solidFill>
                  <a:srgbClr val="0F172A"/>
                </a:solidFill>
                <a:latin typeface="Roboto"/>
                <a:ea typeface="Roboto"/>
                <a:cs typeface="Roboto"/>
              </a:rPr>
              <a:t>TA0005 </a:t>
            </a:r>
            <a:r>
              <a:rPr lang="en-US" sz="3200">
                <a:solidFill>
                  <a:srgbClr val="0F172A"/>
                </a:solidFill>
                <a:latin typeface="Roboto"/>
                <a:ea typeface="Roboto"/>
                <a:cs typeface="Roboto"/>
              </a:rPr>
              <a:t>— Defense Evasion;</a:t>
            </a:r>
            <a:endParaRPr lang="en-US" sz="3200">
              <a:latin typeface="Roboto"/>
              <a:cs typeface="Roboto"/>
            </a:endParaRPr>
          </a:p>
          <a:p>
            <a:pPr marL="400050" lvl="1" indent="0">
              <a:buNone/>
              <a:defRPr/>
            </a:pPr>
            <a:r>
              <a:rPr lang="en-US" sz="3200">
                <a:solidFill>
                  <a:srgbClr val="0F172A"/>
                </a:solidFill>
                <a:latin typeface="Roboto"/>
                <a:ea typeface="Roboto"/>
                <a:cs typeface="Roboto"/>
              </a:rPr>
              <a:t>• </a:t>
            </a:r>
            <a:r>
              <a:rPr lang="en-US" sz="3200" b="1">
                <a:solidFill>
                  <a:srgbClr val="0F172A"/>
                </a:solidFill>
                <a:latin typeface="Roboto"/>
                <a:ea typeface="Roboto"/>
                <a:cs typeface="Roboto"/>
              </a:rPr>
              <a:t>TA0008 </a:t>
            </a:r>
            <a:r>
              <a:rPr lang="en-US" sz="3200">
                <a:solidFill>
                  <a:srgbClr val="0F172A"/>
                </a:solidFill>
                <a:latin typeface="Roboto"/>
                <a:ea typeface="Roboto"/>
                <a:cs typeface="Roboto"/>
              </a:rPr>
              <a:t>— Lateral Movement;</a:t>
            </a:r>
            <a:endParaRPr lang="en-US" sz="3200">
              <a:latin typeface="Roboto"/>
              <a:cs typeface="Roboto"/>
            </a:endParaRPr>
          </a:p>
          <a:p>
            <a:pPr marL="400050" lvl="1" indent="0">
              <a:buNone/>
              <a:defRPr/>
            </a:pPr>
            <a:r>
              <a:rPr lang="en-US" sz="3200">
                <a:solidFill>
                  <a:srgbClr val="0F172A"/>
                </a:solidFill>
                <a:latin typeface="Roboto"/>
                <a:ea typeface="Roboto"/>
                <a:cs typeface="Roboto"/>
              </a:rPr>
              <a:t>• </a:t>
            </a:r>
            <a:r>
              <a:rPr lang="en-US" sz="3200" b="1">
                <a:solidFill>
                  <a:srgbClr val="0F172A"/>
                </a:solidFill>
                <a:latin typeface="Roboto"/>
                <a:ea typeface="Roboto"/>
                <a:cs typeface="Roboto"/>
              </a:rPr>
              <a:t>TA0011</a:t>
            </a:r>
            <a:r>
              <a:rPr lang="en-US" sz="3200">
                <a:solidFill>
                  <a:srgbClr val="0F172A"/>
                </a:solidFill>
                <a:latin typeface="Roboto"/>
                <a:ea typeface="Roboto"/>
                <a:cs typeface="Roboto"/>
              </a:rPr>
              <a:t> — Command and Control.</a:t>
            </a:r>
            <a:endParaRPr sz="3200">
              <a:latin typeface="Roboto"/>
              <a:cs typeface="Roboto"/>
            </a:endParaRPr>
          </a:p>
          <a:p>
            <a:pPr marL="0" indent="0">
              <a:buNone/>
              <a:defRPr/>
            </a:pPr>
            <a:endParaRPr sz="1100">
              <a:latin typeface="Roboto"/>
              <a:cs typeface="Roboto"/>
            </a:endParaRPr>
          </a:p>
          <a:p>
            <a:pPr marL="0" indent="0">
              <a:buNone/>
              <a:defRPr/>
            </a:pPr>
            <a:r>
              <a:rPr lang="ru-RU" sz="3200">
                <a:solidFill>
                  <a:srgbClr val="0F172A"/>
                </a:solidFill>
                <a:latin typeface="Roboto"/>
                <a:ea typeface="Roboto"/>
                <a:cs typeface="Roboto"/>
              </a:rPr>
              <a:t>Комплексная защита обеспечивается </a:t>
            </a:r>
            <a:r>
              <a:rPr lang="ru-RU" sz="3200">
                <a:solidFill>
                  <a:srgbClr val="0F172A"/>
                </a:solidFill>
                <a:latin typeface="Roboto"/>
                <a:ea typeface="Roboto"/>
                <a:cs typeface="Roboto"/>
              </a:rPr>
              <a:t>за счёт использования DID, проверкой DAG, распределённой валидации и отсутствием единого управляющего узла, предотвращая использования всех перечисленных тактик.</a:t>
            </a:r>
            <a:endParaRPr sz="3200">
              <a:latin typeface="Roboto"/>
              <a:cs typeface="Roboto"/>
            </a:endParaRPr>
          </a:p>
        </p:txBody>
      </p:sp>
      <p:sp>
        <p:nvSpPr>
          <p:cNvPr id="1052404413" name="Text 145"/>
          <p:cNvSpPr/>
          <p:nvPr/>
        </p:nvSpPr>
        <p:spPr bwMode="auto">
          <a:xfrm flipH="0" flipV="0">
            <a:off x="20561767" y="35399836"/>
            <a:ext cx="8677209" cy="6390298"/>
          </a:xfrm>
          <a:prstGeom prst="rect">
            <a:avLst/>
          </a:prstGeom>
          <a:noFill/>
          <a:ln/>
        </p:spPr>
        <p:txBody>
          <a:bodyPr wrap="square" lIns="760" tIns="760" rIns="760" bIns="760" rtlCol="0" anchor="t">
            <a:normAutofit/>
          </a:bodyPr>
          <a:lstStyle/>
          <a:p>
            <a:pPr marL="0" indent="0">
              <a:buNone/>
              <a:defRPr/>
            </a:pPr>
            <a:r>
              <a:rPr lang="ru-RU" sz="3200" b="1">
                <a:solidFill>
                  <a:srgbClr val="0F172A"/>
                </a:solidFill>
                <a:latin typeface="Roboto"/>
                <a:ea typeface="Roboto"/>
                <a:cs typeface="Roboto"/>
              </a:rPr>
              <a:t>Итоги:</a:t>
            </a:r>
            <a:endParaRPr sz="3200">
              <a:latin typeface="Roboto"/>
              <a:cs typeface="Roboto"/>
            </a:endParaRPr>
          </a:p>
          <a:p>
            <a:pPr marL="400050" lvl="1" indent="0">
              <a:buNone/>
              <a:defRPr/>
            </a:pPr>
            <a:r>
              <a:rPr lang="ru-RU" sz="3200">
                <a:solidFill>
                  <a:srgbClr val="0F172A"/>
                </a:solidFill>
                <a:latin typeface="Roboto"/>
                <a:ea typeface="Roboto"/>
                <a:cs typeface="Roboto"/>
              </a:rPr>
              <a:t>• предложена архитектура P2P-сети;</a:t>
            </a:r>
            <a:endParaRPr sz="3200">
              <a:latin typeface="Roboto"/>
              <a:cs typeface="Roboto"/>
            </a:endParaRPr>
          </a:p>
          <a:p>
            <a:pPr marL="400050" lvl="1" indent="0">
              <a:buNone/>
              <a:defRPr/>
            </a:pPr>
            <a:r>
              <a:rPr lang="ru-RU" sz="3200">
                <a:solidFill>
                  <a:srgbClr val="0F172A"/>
                </a:solidFill>
                <a:latin typeface="Roboto"/>
                <a:ea typeface="Roboto"/>
                <a:cs typeface="Roboto"/>
              </a:rPr>
              <a:t>• разработан алгоритм WIDAG;</a:t>
            </a:r>
            <a:endParaRPr sz="3200">
              <a:latin typeface="Roboto"/>
              <a:cs typeface="Roboto"/>
            </a:endParaRPr>
          </a:p>
          <a:p>
            <a:pPr marL="400050" lvl="1" indent="0">
              <a:buNone/>
              <a:defRPr/>
            </a:pPr>
            <a:r>
              <a:rPr lang="ru-RU" sz="3200">
                <a:solidFill>
                  <a:srgbClr val="0F172A"/>
                </a:solidFill>
                <a:latin typeface="Roboto"/>
                <a:ea typeface="Roboto"/>
                <a:cs typeface="Roboto"/>
              </a:rPr>
              <a:t>• создан прототип узла;</a:t>
            </a:r>
            <a:endParaRPr sz="3200">
              <a:latin typeface="Roboto"/>
              <a:cs typeface="Roboto"/>
            </a:endParaRPr>
          </a:p>
          <a:p>
            <a:pPr marL="400050" lvl="1" indent="0">
              <a:buNone/>
              <a:defRPr/>
            </a:pPr>
            <a:r>
              <a:rPr lang="ru-RU" sz="3200">
                <a:solidFill>
                  <a:srgbClr val="0F172A"/>
                </a:solidFill>
                <a:latin typeface="Roboto"/>
                <a:ea typeface="Roboto"/>
                <a:cs typeface="Roboto"/>
              </a:rPr>
              <a:t>• подтверждена работоспособность </a:t>
            </a:r>
            <a:br>
              <a:rPr lang="ru-RU" sz="3200">
                <a:solidFill>
                  <a:srgbClr val="0F172A"/>
                </a:solidFill>
                <a:latin typeface="Roboto"/>
                <a:ea typeface="Roboto"/>
                <a:cs typeface="Roboto"/>
              </a:rPr>
            </a:br>
            <a:r>
              <a:rPr lang="en-US" sz="3200">
                <a:solidFill>
                  <a:srgbClr val="0F172A"/>
                </a:solidFill>
                <a:latin typeface="Roboto"/>
                <a:ea typeface="Roboto"/>
                <a:cs typeface="Roboto"/>
              </a:rPr>
              <a:t>  </a:t>
            </a:r>
            <a:r>
              <a:rPr lang="ru-RU" sz="1200">
                <a:solidFill>
                  <a:srgbClr val="0F172A"/>
                </a:solidFill>
                <a:latin typeface="Roboto"/>
                <a:ea typeface="Roboto"/>
                <a:cs typeface="Roboto"/>
              </a:rPr>
              <a:t> </a:t>
            </a:r>
            <a:r>
              <a:rPr lang="ru-RU" sz="3200">
                <a:solidFill>
                  <a:srgbClr val="0F172A"/>
                </a:solidFill>
                <a:latin typeface="Roboto"/>
                <a:ea typeface="Roboto"/>
                <a:cs typeface="Roboto"/>
              </a:rPr>
              <a:t>и эффективность защиты.</a:t>
            </a:r>
            <a:endParaRPr sz="3200">
              <a:latin typeface="Roboto"/>
              <a:cs typeface="Roboto"/>
            </a:endParaRPr>
          </a:p>
          <a:p>
            <a:pPr marL="0" indent="0">
              <a:buNone/>
              <a:defRPr/>
            </a:pPr>
            <a:endParaRPr sz="1200">
              <a:latin typeface="Roboto"/>
              <a:cs typeface="Roboto"/>
            </a:endParaRPr>
          </a:p>
          <a:p>
            <a:pPr marL="0" indent="0">
              <a:buNone/>
              <a:defRPr/>
            </a:pPr>
            <a:r>
              <a:rPr lang="ru-RU" sz="3200" b="1">
                <a:solidFill>
                  <a:srgbClr val="0F172A"/>
                </a:solidFill>
                <a:latin typeface="Roboto"/>
                <a:ea typeface="Roboto"/>
                <a:cs typeface="Roboto"/>
              </a:rPr>
              <a:t>Перспективы:</a:t>
            </a:r>
            <a:endParaRPr sz="3200">
              <a:latin typeface="Roboto"/>
              <a:cs typeface="Roboto"/>
            </a:endParaRPr>
          </a:p>
          <a:p>
            <a:pPr marL="400050" lvl="1" indent="0">
              <a:buNone/>
              <a:defRPr/>
            </a:pPr>
            <a:r>
              <a:rPr lang="ru-RU" sz="3200">
                <a:solidFill>
                  <a:srgbClr val="0F172A"/>
                </a:solidFill>
                <a:latin typeface="Roboto"/>
                <a:ea typeface="Roboto"/>
                <a:cs typeface="Roboto"/>
              </a:rPr>
              <a:t>• глобальной P2P-сеть;</a:t>
            </a:r>
            <a:endParaRPr sz="3200">
              <a:latin typeface="Roboto"/>
              <a:cs typeface="Roboto"/>
            </a:endParaRPr>
          </a:p>
          <a:p>
            <a:pPr marL="400050" lvl="1" indent="0">
              <a:buNone/>
              <a:defRPr/>
            </a:pPr>
            <a:r>
              <a:rPr lang="ru-RU" sz="3200">
                <a:solidFill>
                  <a:srgbClr val="0F172A"/>
                </a:solidFill>
                <a:latin typeface="Roboto"/>
                <a:ea typeface="Roboto"/>
                <a:cs typeface="Roboto"/>
              </a:rPr>
              <a:t>• интеграция IoT-устройств;</a:t>
            </a:r>
            <a:endParaRPr sz="3200">
              <a:latin typeface="Roboto"/>
              <a:cs typeface="Roboto"/>
            </a:endParaRPr>
          </a:p>
          <a:p>
            <a:pPr marL="400050" lvl="1" indent="0">
              <a:buNone/>
              <a:defRPr/>
            </a:pPr>
            <a:r>
              <a:rPr lang="ru-RU" sz="3200">
                <a:solidFill>
                  <a:srgbClr val="0F172A"/>
                </a:solidFill>
                <a:latin typeface="Roboto"/>
                <a:ea typeface="Roboto"/>
                <a:cs typeface="Roboto"/>
              </a:rPr>
              <a:t>• развитие WIDAG и сети комитетов;</a:t>
            </a:r>
            <a:endParaRPr sz="3200">
              <a:latin typeface="Roboto"/>
              <a:cs typeface="Roboto"/>
            </a:endParaRPr>
          </a:p>
          <a:p>
            <a:pPr marL="400050" lvl="1" indent="0">
              <a:buNone/>
              <a:defRPr/>
            </a:pPr>
            <a:r>
              <a:rPr lang="ru-RU" sz="3200">
                <a:solidFill>
                  <a:srgbClr val="0F172A"/>
                </a:solidFill>
                <a:latin typeface="Roboto"/>
                <a:ea typeface="Roboto"/>
                <a:cs typeface="Roboto"/>
              </a:rPr>
              <a:t>• государственная интеграция.</a:t>
            </a:r>
            <a:endParaRPr sz="3200">
              <a:solidFill>
                <a:srgbClr val="0F172A"/>
              </a:solidFill>
              <a:latin typeface="Roboto"/>
              <a:cs typeface="Roboto"/>
            </a:endParaRPr>
          </a:p>
        </p:txBody>
      </p:sp>
      <p:sp>
        <p:nvSpPr>
          <p:cNvPr id="184436328" name="Shape 146"/>
          <p:cNvSpPr/>
          <p:nvPr/>
        </p:nvSpPr>
        <p:spPr bwMode="auto">
          <a:xfrm flipH="0" flipV="0">
            <a:off x="0" y="41404843"/>
            <a:ext cx="30275784" cy="1418175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 anchor="ctr"/>
          <a:p>
            <a:pPr algn="ctr">
              <a:defRPr/>
            </a:pPr>
            <a:endParaRPr>
              <a:latin typeface="Roboto"/>
              <a:cs typeface="Roboto"/>
            </a:endParaRPr>
          </a:p>
        </p:txBody>
      </p:sp>
      <p:sp>
        <p:nvSpPr>
          <p:cNvPr id="1060421923" name=""/>
          <p:cNvSpPr/>
          <p:nvPr/>
        </p:nvSpPr>
        <p:spPr bwMode="auto">
          <a:xfrm rot="0" flipH="0" flipV="0">
            <a:off x="818110" y="4125001"/>
            <a:ext cx="9299448" cy="883227"/>
          </a:xfrm>
          <a:prstGeom prst="roundRect">
            <a:avLst>
              <a:gd name="adj" fmla="val 16667"/>
            </a:avLst>
          </a:prstGeom>
          <a:solidFill>
            <a:srgbClr val="1F53C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marL="0" indent="0" algn="ctr">
              <a:buNone/>
              <a:defRPr/>
            </a:pPr>
            <a:r>
              <a:rPr lang="ru-RU" sz="4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Актуальность и проблема</a:t>
            </a:r>
            <a:endParaRPr sz="4800">
              <a:solidFill>
                <a:schemeClr val="bg1"/>
              </a:solidFill>
              <a:latin typeface="Roboto"/>
              <a:cs typeface="Roboto"/>
            </a:endParaRPr>
          </a:p>
        </p:txBody>
      </p:sp>
      <p:sp>
        <p:nvSpPr>
          <p:cNvPr id="1324672870" name=""/>
          <p:cNvSpPr/>
          <p:nvPr/>
        </p:nvSpPr>
        <p:spPr bwMode="auto">
          <a:xfrm rot="0" flipH="0" flipV="0">
            <a:off x="10488167" y="4143081"/>
            <a:ext cx="9299447" cy="883226"/>
          </a:xfrm>
          <a:prstGeom prst="roundRect">
            <a:avLst>
              <a:gd name="adj" fmla="val 16667"/>
            </a:avLst>
          </a:prstGeom>
          <a:solidFill>
            <a:srgbClr val="1F53C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marL="0" indent="0" algn="ctr">
              <a:buNone/>
              <a:defRPr/>
            </a:pPr>
            <a:r>
              <a:rPr lang="ru-RU" sz="4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Архитектура узла</a:t>
            </a:r>
            <a:endParaRPr sz="4800">
              <a:solidFill>
                <a:schemeClr val="bg1"/>
              </a:solidFill>
              <a:latin typeface="Roboto"/>
              <a:cs typeface="Roboto"/>
            </a:endParaRPr>
          </a:p>
        </p:txBody>
      </p:sp>
      <p:sp>
        <p:nvSpPr>
          <p:cNvPr id="1926204839" name=""/>
          <p:cNvSpPr/>
          <p:nvPr/>
        </p:nvSpPr>
        <p:spPr bwMode="auto">
          <a:xfrm rot="0" flipH="0" flipV="0">
            <a:off x="20123172" y="4143081"/>
            <a:ext cx="9334498" cy="883226"/>
          </a:xfrm>
          <a:prstGeom prst="roundRect">
            <a:avLst>
              <a:gd name="adj" fmla="val 16667"/>
            </a:avLst>
          </a:prstGeom>
          <a:solidFill>
            <a:srgbClr val="1F53C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marL="0" indent="0" algn="ctr">
              <a:buNone/>
              <a:defRPr/>
            </a:pPr>
            <a:r>
              <a:rPr lang="ru-RU" sz="4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Новизна и значимость</a:t>
            </a:r>
            <a:endParaRPr sz="4800">
              <a:solidFill>
                <a:schemeClr val="bg1"/>
              </a:solidFill>
              <a:latin typeface="Roboto"/>
              <a:cs typeface="Roboto"/>
            </a:endParaRPr>
          </a:p>
        </p:txBody>
      </p:sp>
      <p:sp>
        <p:nvSpPr>
          <p:cNvPr id="1715834938" name=""/>
          <p:cNvSpPr/>
          <p:nvPr/>
        </p:nvSpPr>
        <p:spPr bwMode="auto">
          <a:xfrm rot="0" flipH="0" flipV="0">
            <a:off x="744244" y="34410997"/>
            <a:ext cx="9210202" cy="883225"/>
          </a:xfrm>
          <a:prstGeom prst="roundRect">
            <a:avLst>
              <a:gd name="adj" fmla="val 16667"/>
            </a:avLst>
          </a:prstGeom>
          <a:solidFill>
            <a:srgbClr val="1F53C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marL="0" indent="0" algn="ctr">
              <a:buNone/>
              <a:defRPr/>
            </a:pPr>
            <a:r>
              <a:rPr lang="en-US" sz="4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Ц</a:t>
            </a:r>
            <a:r>
              <a:rPr lang="ru-RU" sz="4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елевая аудитория </a:t>
            </a:r>
            <a:endParaRPr sz="4800">
              <a:solidFill>
                <a:schemeClr val="bg1"/>
              </a:solidFill>
              <a:latin typeface="Roboto"/>
              <a:cs typeface="Roboto"/>
            </a:endParaRPr>
          </a:p>
        </p:txBody>
      </p:sp>
      <p:sp>
        <p:nvSpPr>
          <p:cNvPr id="2050023497" name=""/>
          <p:cNvSpPr/>
          <p:nvPr/>
        </p:nvSpPr>
        <p:spPr bwMode="auto">
          <a:xfrm rot="0" flipH="0" flipV="0">
            <a:off x="10397174" y="34410997"/>
            <a:ext cx="9390438" cy="883225"/>
          </a:xfrm>
          <a:prstGeom prst="roundRect">
            <a:avLst>
              <a:gd name="adj" fmla="val 16667"/>
            </a:avLst>
          </a:prstGeom>
          <a:solidFill>
            <a:srgbClr val="1F53C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marL="0" indent="0" algn="ctr">
              <a:buNone/>
              <a:defRPr/>
            </a:pPr>
            <a:r>
              <a:rPr lang="en-US" sz="4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MITRE ATT&amp;CK</a:t>
            </a:r>
            <a:endParaRPr sz="4800">
              <a:solidFill>
                <a:schemeClr val="bg1"/>
              </a:solidFill>
              <a:latin typeface="Roboto"/>
              <a:cs typeface="Roboto"/>
            </a:endParaRPr>
          </a:p>
        </p:txBody>
      </p:sp>
      <p:sp>
        <p:nvSpPr>
          <p:cNvPr id="1144811109" name=""/>
          <p:cNvSpPr/>
          <p:nvPr/>
        </p:nvSpPr>
        <p:spPr bwMode="auto">
          <a:xfrm rot="0" flipH="0" flipV="0">
            <a:off x="20105644" y="34410997"/>
            <a:ext cx="9299448" cy="883226"/>
          </a:xfrm>
          <a:prstGeom prst="roundRect">
            <a:avLst>
              <a:gd name="adj" fmla="val 16667"/>
            </a:avLst>
          </a:prstGeom>
          <a:solidFill>
            <a:srgbClr val="1F53C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marL="0" indent="0" algn="ctr">
              <a:buNone/>
              <a:defRPr/>
            </a:pPr>
            <a:r>
              <a:rPr lang="ru-RU" sz="4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Итоги и перспективы</a:t>
            </a:r>
            <a:endParaRPr sz="4800">
              <a:solidFill>
                <a:schemeClr val="bg1"/>
              </a:solidFill>
              <a:latin typeface="Roboto"/>
              <a:cs typeface="Roboto"/>
            </a:endParaRPr>
          </a:p>
        </p:txBody>
      </p:sp>
      <p:sp>
        <p:nvSpPr>
          <p:cNvPr id="686313905" name=""/>
          <p:cNvSpPr/>
          <p:nvPr/>
        </p:nvSpPr>
        <p:spPr bwMode="auto">
          <a:xfrm rot="0" flipH="0" flipV="0">
            <a:off x="2064736" y="9641135"/>
            <a:ext cx="2199852" cy="738186"/>
          </a:xfrm>
          <a:prstGeom prst="ellipse">
            <a:avLst/>
          </a:prstGeom>
          <a:solidFill>
            <a:srgbClr val="FA8C1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ru-RU" sz="2800">
                <a:solidFill>
                  <a:schemeClr val="bg1"/>
                </a:solidFill>
                <a:latin typeface="Roboto"/>
                <a:ea typeface="Roboto"/>
                <a:cs typeface="Roboto"/>
              </a:rPr>
              <a:t>Сервер</a:t>
            </a:r>
            <a:endParaRPr sz="2800">
              <a:solidFill>
                <a:schemeClr val="bg1"/>
              </a:solidFill>
              <a:latin typeface="Roboto"/>
              <a:cs typeface="Roboto"/>
            </a:endParaRPr>
          </a:p>
        </p:txBody>
      </p:sp>
      <p:sp>
        <p:nvSpPr>
          <p:cNvPr id="1917121719" name=""/>
          <p:cNvSpPr/>
          <p:nvPr/>
        </p:nvSpPr>
        <p:spPr bwMode="auto">
          <a:xfrm rot="1844316" flipH="1" flipV="0">
            <a:off x="1236124" y="11176044"/>
            <a:ext cx="1983882" cy="738185"/>
          </a:xfrm>
          <a:prstGeom prst="ellipse">
            <a:avLst/>
          </a:prstGeom>
          <a:solidFill>
            <a:srgbClr val="1D939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ru-RU" sz="2800">
                <a:solidFill>
                  <a:schemeClr val="bg1"/>
                </a:solidFill>
                <a:latin typeface="Roboto"/>
                <a:ea typeface="Roboto"/>
                <a:cs typeface="Roboto"/>
              </a:rPr>
              <a:t>Клиент</a:t>
            </a:r>
            <a:endParaRPr sz="2800">
              <a:solidFill>
                <a:schemeClr val="bg1"/>
              </a:solidFill>
              <a:latin typeface="Roboto"/>
              <a:cs typeface="Roboto"/>
            </a:endParaRPr>
          </a:p>
        </p:txBody>
      </p:sp>
      <p:sp>
        <p:nvSpPr>
          <p:cNvPr id="1469959458" name="Shape 28"/>
          <p:cNvSpPr/>
          <p:nvPr/>
        </p:nvSpPr>
        <p:spPr bwMode="auto">
          <a:xfrm flipH="1" flipV="1">
            <a:off x="3660556" y="10379322"/>
            <a:ext cx="158983" cy="920208"/>
          </a:xfrm>
          <a:prstGeom prst="line">
            <a:avLst/>
          </a:prstGeom>
          <a:noFill/>
          <a:ln w="38100">
            <a:solidFill>
              <a:srgbClr val="2F528F"/>
            </a:solidFill>
            <a:prstDash val="solid"/>
            <a:tailEnd type="triangle"/>
          </a:ln>
        </p:spPr>
      </p:sp>
      <p:sp>
        <p:nvSpPr>
          <p:cNvPr id="1284217963" name=""/>
          <p:cNvSpPr/>
          <p:nvPr/>
        </p:nvSpPr>
        <p:spPr bwMode="auto">
          <a:xfrm rot="0" flipH="0" flipV="0">
            <a:off x="5482685" y="11305153"/>
            <a:ext cx="1826129" cy="738186"/>
          </a:xfrm>
          <a:prstGeom prst="ellipse">
            <a:avLst/>
          </a:prstGeom>
          <a:solidFill>
            <a:srgbClr val="149BB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ru-RU" sz="2800">
                <a:solidFill>
                  <a:schemeClr val="bg1"/>
                </a:solidFill>
                <a:latin typeface="Roboto"/>
                <a:ea typeface="Roboto"/>
                <a:cs typeface="Roboto"/>
              </a:rPr>
              <a:t>Узел</a:t>
            </a:r>
            <a:endParaRPr sz="2800">
              <a:solidFill>
                <a:schemeClr val="bg1"/>
              </a:solidFill>
              <a:latin typeface="Roboto"/>
              <a:cs typeface="Roboto"/>
            </a:endParaRPr>
          </a:p>
        </p:txBody>
      </p:sp>
      <p:sp>
        <p:nvSpPr>
          <p:cNvPr id="1476053403" name="Shape 28"/>
          <p:cNvSpPr/>
          <p:nvPr/>
        </p:nvSpPr>
        <p:spPr bwMode="auto">
          <a:xfrm rot="17697684" flipH="0" flipV="1">
            <a:off x="8094744" y="10653852"/>
            <a:ext cx="830465" cy="386571"/>
          </a:xfrm>
          <a:prstGeom prst="line">
            <a:avLst/>
          </a:prstGeom>
          <a:noFill/>
          <a:ln w="38100">
            <a:solidFill>
              <a:srgbClr val="2F528F"/>
            </a:solidFill>
            <a:prstDash val="solid"/>
            <a:tailEnd type="triangle"/>
          </a:ln>
        </p:spPr>
      </p:sp>
      <p:sp>
        <p:nvSpPr>
          <p:cNvPr id="713880806" name=""/>
          <p:cNvSpPr/>
          <p:nvPr/>
        </p:nvSpPr>
        <p:spPr bwMode="auto">
          <a:xfrm rot="0" flipH="0" flipV="0">
            <a:off x="10397174" y="24998368"/>
            <a:ext cx="9390438" cy="883225"/>
          </a:xfrm>
          <a:prstGeom prst="roundRect">
            <a:avLst>
              <a:gd name="adj" fmla="val 16667"/>
            </a:avLst>
          </a:prstGeom>
          <a:solidFill>
            <a:srgbClr val="1F53C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marL="0" indent="0" algn="ctr">
              <a:buNone/>
              <a:defRPr/>
            </a:pPr>
            <a:r>
              <a:rPr lang="ru-RU" sz="4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Результаты и тестирование</a:t>
            </a:r>
            <a:endParaRPr sz="4800">
              <a:solidFill>
                <a:schemeClr val="bg1"/>
              </a:solidFill>
              <a:latin typeface="Roboto"/>
              <a:cs typeface="Roboto"/>
            </a:endParaRPr>
          </a:p>
        </p:txBody>
      </p:sp>
      <p:graphicFrame>
        <p:nvGraphicFramePr>
          <p:cNvPr id="1369443299" name=""/>
          <p:cNvGraphicFramePr>
            <a:graphicFrameLocks xmlns:a="http://schemas.openxmlformats.org/drawingml/2006/main"/>
          </p:cNvGraphicFramePr>
          <p:nvPr/>
        </p:nvGraphicFramePr>
        <p:xfrm>
          <a:off x="20655534" y="7489122"/>
          <a:ext cx="8304827" cy="4633504"/>
        </p:xfrm>
        <a:graphic>
          <a:graphicData uri="http://schemas.openxmlformats.org/drawingml/2006/table">
            <a:tbl>
              <a:tblPr firstRow="1" firstCol="0" lastRow="0" lastCol="0" bandRow="1" bandCol="0">
                <a:tableStyleId>{5C22544A-7EE6-4342-B048-85BDC9FD1C3A}</a:tableStyleId>
              </a:tblPr>
              <a:tblGrid>
                <a:gridCol w="2183846"/>
                <a:gridCol w="1138083"/>
                <a:gridCol w="1660965"/>
                <a:gridCol w="1660965"/>
                <a:gridCol w="1660965"/>
              </a:tblGrid>
              <a:tr h="655456"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ru-RU" sz="3000">
                          <a:latin typeface="Roboto"/>
                          <a:ea typeface="Roboto"/>
                          <a:cs typeface="Roboto"/>
                        </a:rPr>
                        <a:t>Решение</a:t>
                      </a:r>
                      <a:endParaRPr sz="3000">
                        <a:latin typeface="Roboto"/>
                        <a:cs typeface="Roboto"/>
                      </a:endParaRP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3000">
                          <a:latin typeface="Roboto"/>
                          <a:ea typeface="Roboto"/>
                          <a:cs typeface="Roboto"/>
                        </a:rPr>
                        <a:t>DID</a:t>
                      </a:r>
                      <a:endParaRPr sz="3000">
                        <a:latin typeface="Roboto"/>
                        <a:cs typeface="Roboto"/>
                      </a:endParaRP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ru-RU" sz="3000">
                          <a:latin typeface="Roboto"/>
                          <a:ea typeface="Roboto"/>
                          <a:cs typeface="Roboto"/>
                        </a:rPr>
                        <a:t>Марш.</a:t>
                      </a:r>
                      <a:endParaRPr sz="3000">
                        <a:latin typeface="Roboto"/>
                        <a:cs typeface="Roboto"/>
                      </a:endParaRP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3000">
                          <a:latin typeface="Roboto"/>
                          <a:ea typeface="Roboto"/>
                          <a:cs typeface="Roboto"/>
                        </a:rPr>
                        <a:t>DAG</a:t>
                      </a:r>
                      <a:endParaRPr sz="3000">
                        <a:latin typeface="Roboto"/>
                        <a:cs typeface="Roboto"/>
                      </a:endParaRP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3000">
                          <a:latin typeface="Roboto"/>
                          <a:ea typeface="Roboto"/>
                          <a:cs typeface="Roboto"/>
                        </a:rPr>
                        <a:t>dApps</a:t>
                      </a:r>
                      <a:endParaRPr sz="3000">
                        <a:latin typeface="Roboto"/>
                        <a:cs typeface="Roboto"/>
                      </a:endParaRPr>
                    </a:p>
                  </a:txBody>
                  <a:tcPr>
                    <a:solidFill>
                      <a:srgbClr val="2563EB"/>
                    </a:solidFill>
                  </a:tcPr>
                </a:tc>
              </a:tr>
              <a:tr h="948065"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3000">
                          <a:latin typeface="Roboto"/>
                          <a:ea typeface="Roboto"/>
                          <a:cs typeface="Roboto"/>
                        </a:rPr>
                        <a:t>Holochain</a:t>
                      </a:r>
                      <a:endParaRPr sz="3000">
                        <a:latin typeface="Roboto"/>
                        <a:cs typeface="Roboto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ru-RU" sz="3000" b="0" i="0" u="none" strike="noStrike" cap="none" spc="0">
                          <a:solidFill>
                            <a:srgbClr val="0F172A"/>
                          </a:solidFill>
                          <a:latin typeface="Roboto"/>
                          <a:ea typeface="Roboto"/>
                          <a:cs typeface="Roboto"/>
                        </a:rPr>
                        <a:t>±</a:t>
                      </a:r>
                      <a:endParaRPr sz="3000">
                        <a:latin typeface="Roboto"/>
                        <a:cs typeface="Roboto"/>
                      </a:endParaRPr>
                    </a:p>
                    <a:p>
                      <a:pPr algn="ctr">
                        <a:defRPr/>
                      </a:pPr>
                      <a:endParaRPr sz="3000">
                        <a:latin typeface="Roboto"/>
                        <a:cs typeface="Roboto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3000">
                          <a:latin typeface="Roboto"/>
                          <a:ea typeface="Roboto"/>
                          <a:cs typeface="Roboto"/>
                        </a:rPr>
                        <a:t>+</a:t>
                      </a:r>
                      <a:endParaRPr sz="3000">
                        <a:latin typeface="Roboto"/>
                        <a:cs typeface="Roboto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ru-RU" sz="3000" b="0" i="0" u="none" strike="noStrike" cap="none" spc="0">
                          <a:solidFill>
                            <a:srgbClr val="0F172A"/>
                          </a:solidFill>
                          <a:latin typeface="Roboto"/>
                          <a:ea typeface="Roboto"/>
                          <a:cs typeface="Roboto"/>
                        </a:rPr>
                        <a:t>±</a:t>
                      </a:r>
                      <a:endParaRPr sz="3000">
                        <a:latin typeface="Roboto"/>
                        <a:cs typeface="Roboto"/>
                      </a:endParaRPr>
                    </a:p>
                    <a:p>
                      <a:pPr algn="ctr">
                        <a:defRPr/>
                      </a:pPr>
                      <a:endParaRPr sz="3000">
                        <a:latin typeface="Roboto"/>
                        <a:cs typeface="Roboto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3000">
                          <a:latin typeface="Roboto"/>
                          <a:ea typeface="Roboto"/>
                          <a:cs typeface="Roboto"/>
                        </a:rPr>
                        <a:t>+</a:t>
                      </a:r>
                      <a:endParaRPr sz="3000">
                        <a:latin typeface="Roboto"/>
                        <a:cs typeface="Roboto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5456"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3000">
                          <a:latin typeface="Roboto"/>
                          <a:ea typeface="Roboto"/>
                          <a:cs typeface="Roboto"/>
                        </a:rPr>
                        <a:t>Avalanche</a:t>
                      </a:r>
                      <a:endParaRPr sz="3000">
                        <a:latin typeface="Roboto"/>
                        <a:cs typeface="Roboto"/>
                      </a:endParaRP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3000">
                          <a:latin typeface="Roboto"/>
                          <a:ea typeface="Roboto"/>
                          <a:cs typeface="Roboto"/>
                        </a:rPr>
                        <a:t>-</a:t>
                      </a:r>
                      <a:endParaRPr sz="3000">
                        <a:latin typeface="Roboto"/>
                        <a:cs typeface="Roboto"/>
                      </a:endParaRP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3000">
                          <a:latin typeface="Roboto"/>
                          <a:ea typeface="Roboto"/>
                          <a:cs typeface="Roboto"/>
                        </a:rPr>
                        <a:t>-</a:t>
                      </a:r>
                      <a:endParaRPr sz="3000">
                        <a:latin typeface="Roboto"/>
                        <a:cs typeface="Roboto"/>
                      </a:endParaRP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3000">
                          <a:latin typeface="Roboto"/>
                          <a:ea typeface="Roboto"/>
                          <a:cs typeface="Roboto"/>
                        </a:rPr>
                        <a:t>+</a:t>
                      </a:r>
                      <a:endParaRPr sz="3000">
                        <a:latin typeface="Roboto"/>
                        <a:cs typeface="Roboto"/>
                      </a:endParaRP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3000">
                          <a:latin typeface="Roboto"/>
                          <a:ea typeface="Roboto"/>
                          <a:cs typeface="Roboto"/>
                        </a:rPr>
                        <a:t>+</a:t>
                      </a:r>
                      <a:endParaRPr sz="3000">
                        <a:latin typeface="Roboto"/>
                        <a:cs typeface="Roboto"/>
                      </a:endParaRPr>
                    </a:p>
                  </a:txBody>
                  <a:tcPr>
                    <a:solidFill>
                      <a:srgbClr val="EFF6FF"/>
                    </a:solidFill>
                  </a:tcPr>
                </a:tc>
              </a:tr>
              <a:tr h="653247"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3000">
                          <a:latin typeface="Roboto"/>
                          <a:ea typeface="Roboto"/>
                          <a:cs typeface="Roboto"/>
                        </a:rPr>
                        <a:t>IOTA</a:t>
                      </a:r>
                      <a:endParaRPr sz="3000">
                        <a:latin typeface="Roboto"/>
                        <a:cs typeface="Roboto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3000">
                          <a:latin typeface="Roboto"/>
                          <a:ea typeface="Roboto"/>
                          <a:cs typeface="Roboto"/>
                        </a:rPr>
                        <a:t>-</a:t>
                      </a:r>
                      <a:endParaRPr sz="3000">
                        <a:latin typeface="Roboto"/>
                        <a:cs typeface="Roboto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3000">
                          <a:latin typeface="Roboto"/>
                          <a:ea typeface="Roboto"/>
                          <a:cs typeface="Roboto"/>
                        </a:rPr>
                        <a:t>-</a:t>
                      </a:r>
                      <a:endParaRPr sz="3000">
                        <a:latin typeface="Roboto"/>
                        <a:cs typeface="Roboto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3000">
                          <a:latin typeface="Roboto"/>
                          <a:ea typeface="Roboto"/>
                          <a:cs typeface="Roboto"/>
                        </a:rPr>
                        <a:t>+</a:t>
                      </a:r>
                      <a:endParaRPr sz="3000">
                        <a:latin typeface="Roboto"/>
                        <a:cs typeface="Roboto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ru-RU" sz="3000" b="0" i="0" u="none" strike="noStrike" cap="none" spc="0">
                          <a:solidFill>
                            <a:srgbClr val="0F172A"/>
                          </a:solidFill>
                          <a:latin typeface="Roboto"/>
                          <a:ea typeface="Roboto"/>
                          <a:cs typeface="Roboto"/>
                        </a:rPr>
                        <a:t>±</a:t>
                      </a:r>
                      <a:endParaRPr sz="3000">
                        <a:latin typeface="Roboto"/>
                        <a:cs typeface="Roboto"/>
                      </a:endParaRPr>
                    </a:p>
                    <a:p>
                      <a:pPr algn="ctr">
                        <a:defRPr/>
                      </a:pPr>
                      <a:endParaRPr sz="3000">
                        <a:latin typeface="Roboto"/>
                        <a:cs typeface="Roboto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5456"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3000">
                          <a:latin typeface="Roboto"/>
                          <a:ea typeface="Roboto"/>
                          <a:cs typeface="Roboto"/>
                        </a:rPr>
                        <a:t>Yggdrasil</a:t>
                      </a:r>
                      <a:endParaRPr sz="3000">
                        <a:latin typeface="Roboto"/>
                        <a:cs typeface="Roboto"/>
                      </a:endParaRP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3000">
                          <a:latin typeface="Roboto"/>
                          <a:ea typeface="Roboto"/>
                          <a:cs typeface="Roboto"/>
                        </a:rPr>
                        <a:t>-</a:t>
                      </a:r>
                      <a:endParaRPr sz="3000">
                        <a:latin typeface="Roboto"/>
                        <a:cs typeface="Roboto"/>
                      </a:endParaRP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3000">
                          <a:latin typeface="Roboto"/>
                          <a:ea typeface="Roboto"/>
                          <a:cs typeface="Roboto"/>
                        </a:rPr>
                        <a:t>+</a:t>
                      </a:r>
                      <a:endParaRPr sz="3000">
                        <a:latin typeface="Roboto"/>
                        <a:cs typeface="Roboto"/>
                      </a:endParaRP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3000">
                          <a:latin typeface="Roboto"/>
                          <a:ea typeface="Roboto"/>
                          <a:cs typeface="Roboto"/>
                        </a:rPr>
                        <a:t>-</a:t>
                      </a:r>
                      <a:endParaRPr sz="3000">
                        <a:latin typeface="Roboto"/>
                        <a:cs typeface="Roboto"/>
                      </a:endParaRPr>
                    </a:p>
                  </a:txBody>
                  <a:tcPr>
                    <a:solidFill>
                      <a:srgbClr val="EFF6FF"/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3000">
                          <a:latin typeface="Roboto"/>
                          <a:ea typeface="Roboto"/>
                          <a:cs typeface="Roboto"/>
                        </a:rPr>
                        <a:t>-</a:t>
                      </a:r>
                      <a:endParaRPr sz="3000">
                        <a:latin typeface="Roboto"/>
                        <a:cs typeface="Roboto"/>
                      </a:endParaRPr>
                    </a:p>
                  </a:txBody>
                  <a:tcPr>
                    <a:solidFill>
                      <a:srgbClr val="EFF6FF"/>
                    </a:solidFill>
                  </a:tcPr>
                </a:tc>
              </a:tr>
              <a:tr h="655456"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ru-RU" sz="3000">
                          <a:latin typeface="Roboto"/>
                          <a:ea typeface="Roboto"/>
                          <a:cs typeface="Roboto"/>
                        </a:rPr>
                        <a:t>Проект</a:t>
                      </a:r>
                      <a:endParaRPr sz="3000">
                        <a:latin typeface="Roboto"/>
                        <a:cs typeface="Roboto"/>
                      </a:endParaRPr>
                    </a:p>
                  </a:txBody>
                  <a:tcPr>
                    <a:solidFill>
                      <a:srgbClr val="DCFCE7"/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3000">
                          <a:latin typeface="Roboto"/>
                          <a:ea typeface="Roboto"/>
                          <a:cs typeface="Roboto"/>
                        </a:rPr>
                        <a:t>+</a:t>
                      </a:r>
                      <a:endParaRPr sz="3000">
                        <a:latin typeface="Roboto"/>
                        <a:cs typeface="Roboto"/>
                      </a:endParaRPr>
                    </a:p>
                  </a:txBody>
                  <a:tcPr>
                    <a:solidFill>
                      <a:srgbClr val="DCFCE7"/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3000">
                          <a:latin typeface="Roboto"/>
                          <a:ea typeface="Roboto"/>
                          <a:cs typeface="Roboto"/>
                        </a:rPr>
                        <a:t>+</a:t>
                      </a:r>
                      <a:endParaRPr sz="3000">
                        <a:latin typeface="Roboto"/>
                        <a:cs typeface="Roboto"/>
                      </a:endParaRPr>
                    </a:p>
                  </a:txBody>
                  <a:tcPr>
                    <a:solidFill>
                      <a:srgbClr val="DCFCE7"/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3000">
                          <a:latin typeface="Roboto"/>
                          <a:ea typeface="Roboto"/>
                          <a:cs typeface="Roboto"/>
                        </a:rPr>
                        <a:t>+</a:t>
                      </a:r>
                      <a:endParaRPr sz="3000">
                        <a:latin typeface="Roboto"/>
                        <a:cs typeface="Roboto"/>
                      </a:endParaRPr>
                    </a:p>
                  </a:txBody>
                  <a:tcPr>
                    <a:solidFill>
                      <a:srgbClr val="DCFCE7"/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3000">
                          <a:latin typeface="Roboto"/>
                          <a:ea typeface="Roboto"/>
                          <a:cs typeface="Roboto"/>
                        </a:rPr>
                        <a:t>+</a:t>
                      </a:r>
                      <a:endParaRPr sz="3000">
                        <a:latin typeface="Roboto"/>
                        <a:cs typeface="Roboto"/>
                      </a:endParaRPr>
                    </a:p>
                  </a:txBody>
                  <a:tcPr>
                    <a:solidFill>
                      <a:srgbClr val="DCFCE7"/>
                    </a:solidFill>
                  </a:tcPr>
                </a:tc>
              </a:tr>
            </a:tbl>
          </a:graphicData>
        </a:graphic>
      </p:graphicFrame>
      <p:sp>
        <p:nvSpPr>
          <p:cNvPr id="1600661403" name=""/>
          <p:cNvSpPr/>
          <p:nvPr/>
        </p:nvSpPr>
        <p:spPr bwMode="auto">
          <a:xfrm rot="0" flipH="0" flipV="0">
            <a:off x="11890252" y="6093041"/>
            <a:ext cx="2038349" cy="1028699"/>
          </a:xfrm>
          <a:prstGeom prst="roundRect">
            <a:avLst>
              <a:gd name="adj" fmla="val 16667"/>
            </a:avLst>
          </a:prstGeom>
          <a:solidFill>
            <a:srgbClr val="FDB80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sz="2800">
                <a:solidFill>
                  <a:schemeClr val="tx1"/>
                </a:solidFill>
                <a:latin typeface="Roboto"/>
                <a:ea typeface="Roboto"/>
                <a:cs typeface="Roboto"/>
              </a:rPr>
              <a:t>DID / Key </a:t>
            </a:r>
            <a:r>
              <a:rPr sz="2800">
                <a:solidFill>
                  <a:schemeClr val="tx1"/>
                </a:solidFill>
                <a:latin typeface="Roboto"/>
                <a:ea typeface="Roboto"/>
                <a:cs typeface="Roboto"/>
              </a:rPr>
              <a:t>Manager</a:t>
            </a:r>
            <a:endParaRPr sz="2800">
              <a:solidFill>
                <a:schemeClr val="tx1"/>
              </a:solidFill>
              <a:latin typeface="Roboto"/>
              <a:cs typeface="Roboto"/>
            </a:endParaRPr>
          </a:p>
        </p:txBody>
      </p:sp>
      <p:sp>
        <p:nvSpPr>
          <p:cNvPr id="2008809283" name=""/>
          <p:cNvSpPr/>
          <p:nvPr/>
        </p:nvSpPr>
        <p:spPr bwMode="auto">
          <a:xfrm rot="0" flipH="0" flipV="0">
            <a:off x="14143060" y="6093041"/>
            <a:ext cx="2038349" cy="1028698"/>
          </a:xfrm>
          <a:prstGeom prst="roundRect">
            <a:avLst>
              <a:gd name="adj" fmla="val 16667"/>
            </a:avLst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sz="2800">
                <a:latin typeface="Roboto"/>
                <a:ea typeface="Roboto"/>
                <a:cs typeface="Roboto"/>
              </a:rPr>
              <a:t>Name Resolver</a:t>
            </a:r>
            <a:endParaRPr sz="2800">
              <a:latin typeface="Roboto"/>
              <a:cs typeface="Roboto"/>
            </a:endParaRPr>
          </a:p>
        </p:txBody>
      </p:sp>
      <p:sp>
        <p:nvSpPr>
          <p:cNvPr id="1546049180" name=""/>
          <p:cNvSpPr/>
          <p:nvPr/>
        </p:nvSpPr>
        <p:spPr bwMode="auto">
          <a:xfrm rot="0" flipH="0" flipV="0">
            <a:off x="16374026" y="6093041"/>
            <a:ext cx="2031324" cy="1028698"/>
          </a:xfrm>
          <a:prstGeom prst="roundRect">
            <a:avLst>
              <a:gd name="adj" fmla="val 16667"/>
            </a:avLst>
          </a:prstGeom>
          <a:solidFill>
            <a:srgbClr val="297CD9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sz="2800">
                <a:latin typeface="Roboto"/>
                <a:ea typeface="Roboto"/>
                <a:cs typeface="Roboto"/>
              </a:rPr>
              <a:t>Kad-DHT</a:t>
            </a:r>
            <a:endParaRPr sz="2800">
              <a:latin typeface="Roboto"/>
              <a:cs typeface="Roboto"/>
            </a:endParaRPr>
          </a:p>
        </p:txBody>
      </p:sp>
      <p:sp>
        <p:nvSpPr>
          <p:cNvPr id="1978309633" name=""/>
          <p:cNvSpPr/>
          <p:nvPr/>
        </p:nvSpPr>
        <p:spPr bwMode="auto">
          <a:xfrm rot="0" flipH="0" flipV="0">
            <a:off x="11904685" y="7407491"/>
            <a:ext cx="6515098" cy="761999"/>
          </a:xfrm>
          <a:prstGeom prst="roundRect">
            <a:avLst>
              <a:gd name="adj" fmla="val 16667"/>
            </a:avLst>
          </a:prstGeom>
          <a:solidFill>
            <a:srgbClr val="FA8C1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sz="3200">
                <a:latin typeface="Roboto"/>
                <a:ea typeface="Roboto"/>
                <a:cs typeface="Roboto"/>
              </a:rPr>
              <a:t>WIDAG Engine</a:t>
            </a:r>
            <a:endParaRPr sz="3200">
              <a:latin typeface="Roboto"/>
              <a:cs typeface="Roboto"/>
            </a:endParaRPr>
          </a:p>
        </p:txBody>
      </p:sp>
      <p:sp>
        <p:nvSpPr>
          <p:cNvPr id="606063833" name=""/>
          <p:cNvSpPr/>
          <p:nvPr/>
        </p:nvSpPr>
        <p:spPr bwMode="auto">
          <a:xfrm rot="0" flipH="0" flipV="0">
            <a:off x="12847572" y="9670622"/>
            <a:ext cx="2162057" cy="1028698"/>
          </a:xfrm>
          <a:prstGeom prst="roundRect">
            <a:avLst>
              <a:gd name="adj" fmla="val 16667"/>
            </a:avLst>
          </a:prstGeom>
          <a:solidFill>
            <a:srgbClr val="149BB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sz="2800">
                <a:latin typeface="Roboto"/>
                <a:ea typeface="Roboto"/>
                <a:cs typeface="Roboto"/>
              </a:rPr>
              <a:t>Local Event Journal</a:t>
            </a:r>
            <a:endParaRPr sz="2800">
              <a:latin typeface="Roboto"/>
              <a:cs typeface="Roboto"/>
            </a:endParaRPr>
          </a:p>
        </p:txBody>
      </p:sp>
      <p:sp>
        <p:nvSpPr>
          <p:cNvPr id="886017288" name=""/>
          <p:cNvSpPr/>
          <p:nvPr/>
        </p:nvSpPr>
        <p:spPr bwMode="auto">
          <a:xfrm rot="0" flipH="0" flipV="0">
            <a:off x="14143061" y="8441386"/>
            <a:ext cx="2006261" cy="1028698"/>
          </a:xfrm>
          <a:prstGeom prst="roundRect">
            <a:avLst>
              <a:gd name="adj" fmla="val 16667"/>
            </a:avLst>
          </a:prstGeom>
          <a:solidFill>
            <a:srgbClr val="1878D9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sz="2800">
                <a:latin typeface="Roboto"/>
                <a:ea typeface="Roboto"/>
                <a:cs typeface="Roboto"/>
              </a:rPr>
              <a:t>Blob Storage</a:t>
            </a:r>
            <a:endParaRPr sz="2800">
              <a:latin typeface="Roboto"/>
              <a:cs typeface="Roboto"/>
            </a:endParaRPr>
          </a:p>
        </p:txBody>
      </p:sp>
      <p:sp>
        <p:nvSpPr>
          <p:cNvPr id="337241019" name=""/>
          <p:cNvSpPr/>
          <p:nvPr/>
        </p:nvSpPr>
        <p:spPr bwMode="auto">
          <a:xfrm rot="0" flipH="0" flipV="0">
            <a:off x="16367002" y="8441386"/>
            <a:ext cx="2038348" cy="1028698"/>
          </a:xfrm>
          <a:prstGeom prst="roundRect">
            <a:avLst>
              <a:gd name="adj" fmla="val 16667"/>
            </a:avLst>
          </a:prstGeom>
          <a:solidFill>
            <a:srgbClr val="6665B7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sz="2800">
                <a:latin typeface="Roboto"/>
                <a:ea typeface="Roboto"/>
                <a:cs typeface="Roboto"/>
              </a:rPr>
              <a:t>Validation Committee</a:t>
            </a:r>
            <a:endParaRPr sz="2800">
              <a:latin typeface="Roboto"/>
              <a:cs typeface="Roboto"/>
            </a:endParaRPr>
          </a:p>
        </p:txBody>
      </p:sp>
      <p:sp>
        <p:nvSpPr>
          <p:cNvPr id="1480413381" name=""/>
          <p:cNvSpPr/>
          <p:nvPr/>
        </p:nvSpPr>
        <p:spPr bwMode="auto">
          <a:xfrm rot="0" flipH="0" flipV="0">
            <a:off x="11890252" y="8441386"/>
            <a:ext cx="2038348" cy="1028698"/>
          </a:xfrm>
          <a:prstGeom prst="roundRect">
            <a:avLst>
              <a:gd name="adj" fmla="val 16667"/>
            </a:avLst>
          </a:prstGeom>
          <a:solidFill>
            <a:srgbClr val="3B9A39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sz="2800">
                <a:latin typeface="Roboto"/>
                <a:ea typeface="Roboto"/>
                <a:cs typeface="Roboto"/>
              </a:rPr>
              <a:t>Conflict Resolver</a:t>
            </a:r>
            <a:endParaRPr sz="2800">
              <a:latin typeface="Roboto"/>
              <a:cs typeface="Roboto"/>
            </a:endParaRPr>
          </a:p>
        </p:txBody>
      </p:sp>
      <p:sp>
        <p:nvSpPr>
          <p:cNvPr id="741839918" name=""/>
          <p:cNvSpPr txBox="1"/>
          <p:nvPr/>
        </p:nvSpPr>
        <p:spPr bwMode="auto">
          <a:xfrm rot="0" flipH="0" flipV="0">
            <a:off x="11687376" y="11064326"/>
            <a:ext cx="2288281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endParaRPr/>
          </a:p>
        </p:txBody>
      </p:sp>
      <p:sp>
        <p:nvSpPr>
          <p:cNvPr id="473389773" name=""/>
          <p:cNvSpPr/>
          <p:nvPr/>
        </p:nvSpPr>
        <p:spPr bwMode="auto">
          <a:xfrm rot="0" flipH="0" flipV="0">
            <a:off x="15285974" y="9670622"/>
            <a:ext cx="2162056" cy="1028698"/>
          </a:xfrm>
          <a:prstGeom prst="roundRect">
            <a:avLst>
              <a:gd name="adj" fmla="val 16667"/>
            </a:avLst>
          </a:prstGeom>
          <a:solidFill>
            <a:srgbClr val="1D939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en-US" sz="2800" b="0" i="0" u="none" strike="noStrike" cap="none" spc="0">
                <a:solidFill>
                  <a:schemeClr val="lt1"/>
                </a:solidFill>
                <a:latin typeface="Roboto"/>
                <a:ea typeface="Roboto"/>
                <a:cs typeface="Roboto"/>
              </a:rPr>
              <a:t>Checkpoint Manager</a:t>
            </a:r>
            <a:endParaRPr sz="2800">
              <a:latin typeface="Roboto"/>
              <a:cs typeface="Roboto"/>
            </a:endParaRPr>
          </a:p>
        </p:txBody>
      </p:sp>
      <p:sp>
        <p:nvSpPr>
          <p:cNvPr id="434686099" name=""/>
          <p:cNvSpPr/>
          <p:nvPr/>
        </p:nvSpPr>
        <p:spPr bwMode="auto">
          <a:xfrm rot="0" flipH="0" flipV="0">
            <a:off x="12731155" y="8169491"/>
            <a:ext cx="232833" cy="271895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2F528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082200671" name=""/>
          <p:cNvSpPr/>
          <p:nvPr/>
        </p:nvSpPr>
        <p:spPr bwMode="auto">
          <a:xfrm rot="0" flipH="0" flipV="0">
            <a:off x="15045818" y="8169491"/>
            <a:ext cx="232832" cy="271894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2F528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7927638" name=""/>
          <p:cNvSpPr/>
          <p:nvPr/>
        </p:nvSpPr>
        <p:spPr bwMode="auto">
          <a:xfrm rot="0" flipH="0" flipV="0">
            <a:off x="17269760" y="8169491"/>
            <a:ext cx="232832" cy="271894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2F528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448853785" name=""/>
          <p:cNvSpPr/>
          <p:nvPr/>
        </p:nvSpPr>
        <p:spPr bwMode="auto">
          <a:xfrm rot="0" flipH="0" flipV="0">
            <a:off x="13910228" y="8169491"/>
            <a:ext cx="232832" cy="150113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2F528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08601709" name=""/>
          <p:cNvSpPr/>
          <p:nvPr/>
        </p:nvSpPr>
        <p:spPr bwMode="auto">
          <a:xfrm rot="0" flipH="0" flipV="0">
            <a:off x="16141193" y="8169491"/>
            <a:ext cx="232832" cy="150113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2F528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642024836" name=""/>
          <p:cNvSpPr/>
          <p:nvPr/>
        </p:nvSpPr>
        <p:spPr bwMode="auto">
          <a:xfrm rot="0" flipH="0" flipV="0">
            <a:off x="11870792" y="11114281"/>
            <a:ext cx="6534559" cy="816035"/>
          </a:xfrm>
          <a:prstGeom prst="ellipse">
            <a:avLst/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ru-RU" sz="2800">
                <a:solidFill>
                  <a:schemeClr val="tx1"/>
                </a:solidFill>
              </a:rPr>
              <a:t>Распределённая сеть</a:t>
            </a:r>
            <a:endParaRPr sz="2800">
              <a:solidFill>
                <a:schemeClr val="tx1"/>
              </a:solidFill>
            </a:endParaRPr>
          </a:p>
        </p:txBody>
      </p:sp>
      <p:sp>
        <p:nvSpPr>
          <p:cNvPr id="710903148" name=""/>
          <p:cNvSpPr txBox="1"/>
          <p:nvPr/>
        </p:nvSpPr>
        <p:spPr bwMode="auto">
          <a:xfrm rot="0" flipH="0" flipV="0">
            <a:off x="13889660" y="5348001"/>
            <a:ext cx="2440199" cy="5794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tabLst>
                <a:tab pos="11970000" algn="l"/>
              </a:tabLst>
              <a:defRPr/>
            </a:pPr>
            <a:r>
              <a:rPr lang="ru-RU" sz="3200" b="1">
                <a:latin typeface="Roboto"/>
                <a:ea typeface="Roboto"/>
                <a:cs typeface="Roboto"/>
              </a:rPr>
              <a:t>Узел сети</a:t>
            </a:r>
            <a:endParaRPr sz="3200" b="1">
              <a:latin typeface="Roboto"/>
              <a:cs typeface="Roboto"/>
            </a:endParaRPr>
          </a:p>
        </p:txBody>
      </p:sp>
      <p:sp>
        <p:nvSpPr>
          <p:cNvPr id="754234048" name=""/>
          <p:cNvSpPr/>
          <p:nvPr/>
        </p:nvSpPr>
        <p:spPr bwMode="auto">
          <a:xfrm rot="0" flipH="0" flipV="0">
            <a:off x="11187251" y="6526740"/>
            <a:ext cx="703000" cy="5172460"/>
          </a:xfrm>
          <a:prstGeom prst="curvedRightArrow">
            <a:avLst>
              <a:gd name="adj1" fmla="val 21283"/>
              <a:gd name="adj2" fmla="val 46465"/>
              <a:gd name="adj3" fmla="val 25000"/>
            </a:avLst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088719509" name=""/>
          <p:cNvSpPr/>
          <p:nvPr/>
        </p:nvSpPr>
        <p:spPr bwMode="auto">
          <a:xfrm rot="0" flipH="0" flipV="0">
            <a:off x="18378236" y="6526740"/>
            <a:ext cx="720606" cy="5172460"/>
          </a:xfrm>
          <a:prstGeom prst="curvedLeftArrow">
            <a:avLst>
              <a:gd name="adj1" fmla="val 25000"/>
              <a:gd name="adj2" fmla="val 50000"/>
              <a:gd name="adj3" fmla="val 25000"/>
            </a:avLst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71045773" name=""/>
          <p:cNvSpPr/>
          <p:nvPr/>
        </p:nvSpPr>
        <p:spPr bwMode="auto">
          <a:xfrm rot="10800000" flipH="0" flipV="0">
            <a:off x="11394288" y="6677553"/>
            <a:ext cx="510397" cy="4844745"/>
          </a:xfrm>
          <a:prstGeom prst="curvedLeftArrow">
            <a:avLst>
              <a:gd name="adj1" fmla="val 25000"/>
              <a:gd name="adj2" fmla="val 50000"/>
              <a:gd name="adj3" fmla="val 25000"/>
            </a:avLst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01690210" name=""/>
          <p:cNvSpPr/>
          <p:nvPr/>
        </p:nvSpPr>
        <p:spPr bwMode="auto">
          <a:xfrm rot="10800000" flipH="0" flipV="0">
            <a:off x="18378236" y="6677553"/>
            <a:ext cx="518200" cy="4841759"/>
          </a:xfrm>
          <a:prstGeom prst="curvedRightArrow">
            <a:avLst>
              <a:gd name="adj1" fmla="val 21283"/>
              <a:gd name="adj2" fmla="val 46465"/>
              <a:gd name="adj3" fmla="val 25000"/>
            </a:avLst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64687619" name=""/>
          <p:cNvSpPr/>
          <p:nvPr/>
        </p:nvSpPr>
        <p:spPr bwMode="auto">
          <a:xfrm rot="0" flipH="0" flipV="0">
            <a:off x="13925299" y="6494991"/>
            <a:ext cx="246062" cy="238124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2F528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3559857" name=""/>
          <p:cNvSpPr/>
          <p:nvPr/>
        </p:nvSpPr>
        <p:spPr bwMode="auto">
          <a:xfrm rot="0" flipH="0" flipV="0">
            <a:off x="16181410" y="6526740"/>
            <a:ext cx="246061" cy="238124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2F528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64219535" name="Shape 34"/>
          <p:cNvSpPr/>
          <p:nvPr/>
        </p:nvSpPr>
        <p:spPr bwMode="auto">
          <a:xfrm flipH="0" flipV="0">
            <a:off x="10597262" y="15357555"/>
            <a:ext cx="8989184" cy="9120569"/>
          </a:xfrm>
          <a:prstGeom prst="roundRect">
            <a:avLst>
              <a:gd name="adj" fmla="val 59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  <a:effectLst>
            <a:outerShdw blurRad="12700" dist="3810" dir="2700000" sx="100000" sy="100000" kx="0" ky="0" algn="bl" rotWithShape="0">
              <a:srgbClr val="000000">
                <a:alpha val="8000"/>
              </a:srgbClr>
            </a:outerShdw>
          </a:effectLst>
        </p:spPr>
        <p:txBody>
          <a:bodyPr anchor="ctr"/>
          <a:p>
            <a:pPr algn="ctr">
              <a:defRPr/>
            </a:pPr>
            <a:endParaRPr>
              <a:latin typeface="Roboto"/>
              <a:cs typeface="Roboto"/>
            </a:endParaRPr>
          </a:p>
        </p:txBody>
      </p:sp>
      <p:sp>
        <p:nvSpPr>
          <p:cNvPr id="1365842016" name="Text 12"/>
          <p:cNvSpPr/>
          <p:nvPr/>
        </p:nvSpPr>
        <p:spPr bwMode="auto">
          <a:xfrm>
            <a:off x="10598343" y="15305600"/>
            <a:ext cx="8897112" cy="658368"/>
          </a:xfrm>
          <a:prstGeom prst="rect">
            <a:avLst/>
          </a:prstGeom>
          <a:noFill/>
          <a:ln/>
        </p:spPr>
        <p:txBody>
          <a:bodyPr wrap="square" lIns="761" tIns="761" rIns="761" bIns="761" rtlCol="0" anchor="t">
            <a:normAutofit/>
          </a:bodyPr>
          <a:lstStyle/>
          <a:p>
            <a:pPr marL="0" indent="0">
              <a:buNone/>
              <a:defRPr/>
            </a:pPr>
            <a:r>
              <a:rPr lang="ru-RU" sz="4800" b="1">
                <a:solidFill>
                  <a:srgbClr val="0F172A"/>
                </a:solidFill>
                <a:latin typeface="Roboto"/>
                <a:ea typeface="Roboto"/>
                <a:cs typeface="Roboto"/>
              </a:rPr>
              <a:t>Архитектура узла</a:t>
            </a:r>
            <a:endParaRPr sz="4800">
              <a:latin typeface="Roboto"/>
              <a:cs typeface="Roboto"/>
            </a:endParaRPr>
          </a:p>
        </p:txBody>
      </p:sp>
      <p:sp>
        <p:nvSpPr>
          <p:cNvPr id="1574309776" name="Shape 32"/>
          <p:cNvSpPr/>
          <p:nvPr/>
        </p:nvSpPr>
        <p:spPr bwMode="auto">
          <a:xfrm>
            <a:off x="16249335" y="23075091"/>
            <a:ext cx="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1417143847" name=""/>
          <p:cNvSpPr/>
          <p:nvPr/>
        </p:nvSpPr>
        <p:spPr bwMode="auto">
          <a:xfrm rot="0" flipH="0" flipV="0">
            <a:off x="10397174" y="15211250"/>
            <a:ext cx="9390438" cy="883225"/>
          </a:xfrm>
          <a:prstGeom prst="roundRect">
            <a:avLst>
              <a:gd name="adj" fmla="val 16667"/>
            </a:avLst>
          </a:prstGeom>
          <a:solidFill>
            <a:srgbClr val="1F53C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marL="0" indent="0" algn="ctr">
              <a:buNone/>
              <a:defRPr/>
            </a:pPr>
            <a:r>
              <a:rPr lang="ru-RU" sz="48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Цели, задачи и модели угроз</a:t>
            </a:r>
            <a:endParaRPr sz="4800">
              <a:solidFill>
                <a:schemeClr val="bg1"/>
              </a:solidFill>
              <a:latin typeface="Roboto"/>
              <a:cs typeface="Roboto"/>
            </a:endParaRPr>
          </a:p>
        </p:txBody>
      </p:sp>
      <p:sp>
        <p:nvSpPr>
          <p:cNvPr id="877400550" name="Text 10"/>
          <p:cNvSpPr/>
          <p:nvPr/>
        </p:nvSpPr>
        <p:spPr bwMode="auto">
          <a:xfrm flipH="0" flipV="0">
            <a:off x="10971680" y="12479358"/>
            <a:ext cx="8394677" cy="2030526"/>
          </a:xfrm>
          <a:prstGeom prst="rect">
            <a:avLst/>
          </a:prstGeom>
          <a:noFill/>
          <a:ln/>
        </p:spPr>
        <p:txBody>
          <a:bodyPr vertOverflow="overflow" horzOverflow="overflow" vert="horz" wrap="square" lIns="760" tIns="760" rIns="760" bIns="76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endParaRPr/>
          </a:p>
        </p:txBody>
      </p:sp>
      <p:cxnSp>
        <p:nvCxnSpPr>
          <p:cNvPr id="715472009" name=""/>
          <p:cNvCxnSpPr/>
          <p:nvPr/>
        </p:nvCxnSpPr>
        <p:spPr bwMode="auto">
          <a:xfrm rot="5400000" flipH="0" flipV="1">
            <a:off x="3390651" y="24860524"/>
            <a:ext cx="8246838" cy="3100008"/>
          </a:xfrm>
          <a:prstGeom prst="curvedConnector4">
            <a:avLst>
              <a:gd name="adj1" fmla="val 8414"/>
              <a:gd name="adj2" fmla="val 107374"/>
            </a:avLst>
          </a:prstGeom>
          <a:ln w="57150" cap="flat" cmpd="sng" algn="ctr">
            <a:solidFill>
              <a:schemeClr val="accent1">
                <a:shade val="50000"/>
              </a:schemeClr>
            </a:solidFill>
            <a:prstDash val="solid"/>
            <a:miter lim="800000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2496149" name=""/>
          <p:cNvCxnSpPr/>
          <p:nvPr/>
        </p:nvCxnSpPr>
        <p:spPr bwMode="auto">
          <a:xfrm rot="5400000" flipH="0" flipV="1">
            <a:off x="3367523" y="24837396"/>
            <a:ext cx="7988303" cy="3404800"/>
          </a:xfrm>
          <a:prstGeom prst="curvedConnector4">
            <a:avLst>
              <a:gd name="adj1" fmla="val 17397"/>
              <a:gd name="adj2" fmla="val 106714"/>
            </a:avLst>
          </a:prstGeom>
          <a:ln w="57150" cap="flat" cmpd="sng" algn="ctr">
            <a:solidFill>
              <a:schemeClr val="accent1">
                <a:shade val="50000"/>
              </a:schemeClr>
            </a:solidFill>
            <a:prstDash val="solid"/>
            <a:miter lim="800000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1466289" name=""/>
          <p:cNvSpPr/>
          <p:nvPr/>
        </p:nvSpPr>
        <p:spPr bwMode="auto">
          <a:xfrm rot="0" flipH="0" flipV="0">
            <a:off x="6182722" y="22545645"/>
            <a:ext cx="1005021" cy="442333"/>
          </a:xfrm>
          <a:prstGeom prst="rect">
            <a:avLst/>
          </a:prstGeom>
          <a:solidFill>
            <a:srgbClr val="F8FAFC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33155481" name=""/>
          <p:cNvSpPr/>
          <p:nvPr/>
        </p:nvSpPr>
        <p:spPr bwMode="auto">
          <a:xfrm rot="0" flipH="0" flipV="0">
            <a:off x="6294233" y="23557041"/>
            <a:ext cx="1572087" cy="1115915"/>
          </a:xfrm>
          <a:prstGeom prst="rect">
            <a:avLst/>
          </a:prstGeom>
          <a:solidFill>
            <a:srgbClr val="F8FAFC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58191167" name=""/>
          <p:cNvSpPr/>
          <p:nvPr/>
        </p:nvSpPr>
        <p:spPr bwMode="auto">
          <a:xfrm rot="0" flipH="0" flipV="0">
            <a:off x="4607880" y="16380639"/>
            <a:ext cx="3092526" cy="1028698"/>
          </a:xfrm>
          <a:prstGeom prst="roundRect">
            <a:avLst>
              <a:gd name="adj" fmla="val 16667"/>
            </a:avLst>
          </a:prstGeom>
          <a:solidFill>
            <a:srgbClr val="FA8C1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ru-RU" sz="2800">
                <a:latin typeface="Roboto"/>
                <a:ea typeface="Roboto"/>
                <a:cs typeface="Roboto"/>
              </a:rPr>
              <a:t>Формирование вершины </a:t>
            </a:r>
            <a:r>
              <a:rPr lang="en-US" sz="2800">
                <a:latin typeface="Roboto"/>
                <a:ea typeface="Roboto"/>
                <a:cs typeface="Roboto"/>
              </a:rPr>
              <a:t>WIDAG</a:t>
            </a:r>
            <a:endParaRPr lang="ru-RU" sz="2800">
              <a:latin typeface="Roboto"/>
              <a:cs typeface="Roboto"/>
            </a:endParaRPr>
          </a:p>
        </p:txBody>
      </p:sp>
      <p:sp>
        <p:nvSpPr>
          <p:cNvPr id="728296629" name=""/>
          <p:cNvSpPr/>
          <p:nvPr/>
        </p:nvSpPr>
        <p:spPr bwMode="auto">
          <a:xfrm rot="0" flipH="0" flipV="0">
            <a:off x="4650429" y="17817552"/>
            <a:ext cx="3092526" cy="1028698"/>
          </a:xfrm>
          <a:prstGeom prst="roundRect">
            <a:avLst>
              <a:gd name="adj" fmla="val 16667"/>
            </a:avLst>
          </a:prstGeom>
          <a:solidFill>
            <a:srgbClr val="149BB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ru-RU" sz="2800">
                <a:latin typeface="Roboto"/>
                <a:ea typeface="Roboto"/>
                <a:cs typeface="Roboto"/>
              </a:rPr>
              <a:t>Добавление в </a:t>
            </a:r>
            <a:r>
              <a:rPr lang="en-US" sz="2800">
                <a:latin typeface="Roboto"/>
                <a:ea typeface="Roboto"/>
                <a:cs typeface="Roboto"/>
              </a:rPr>
              <a:t>lan</a:t>
            </a:r>
            <a:r>
              <a:rPr lang="ru-RU" sz="2800">
                <a:latin typeface="Roboto"/>
                <a:ea typeface="Roboto"/>
                <a:cs typeface="Roboto"/>
              </a:rPr>
              <a:t> журнал</a:t>
            </a:r>
            <a:endParaRPr lang="ru-RU" sz="2800">
              <a:latin typeface="Roboto"/>
              <a:cs typeface="Roboto"/>
            </a:endParaRPr>
          </a:p>
        </p:txBody>
      </p:sp>
      <p:sp>
        <p:nvSpPr>
          <p:cNvPr id="585650919" name=""/>
          <p:cNvSpPr/>
          <p:nvPr/>
        </p:nvSpPr>
        <p:spPr bwMode="auto">
          <a:xfrm rot="0" flipH="0" flipV="0">
            <a:off x="4607880" y="19254465"/>
            <a:ext cx="3092526" cy="1028698"/>
          </a:xfrm>
          <a:prstGeom prst="roundRect">
            <a:avLst>
              <a:gd name="adj" fmla="val 16667"/>
            </a:avLst>
          </a:prstGeom>
          <a:solidFill>
            <a:srgbClr val="297CD9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ru-RU" sz="2800">
                <a:latin typeface="Roboto"/>
                <a:ea typeface="Roboto"/>
                <a:cs typeface="Roboto"/>
              </a:rPr>
              <a:t>Репликация заголовка в </a:t>
            </a:r>
            <a:r>
              <a:rPr lang="en-US" sz="2800">
                <a:latin typeface="Roboto"/>
                <a:ea typeface="Roboto"/>
                <a:cs typeface="Roboto"/>
              </a:rPr>
              <a:t>DHT</a:t>
            </a:r>
            <a:endParaRPr lang="ru-RU" sz="2800">
              <a:latin typeface="Roboto"/>
              <a:cs typeface="Roboto"/>
            </a:endParaRPr>
          </a:p>
        </p:txBody>
      </p:sp>
      <p:sp>
        <p:nvSpPr>
          <p:cNvPr id="979107359" name=""/>
          <p:cNvSpPr/>
          <p:nvPr/>
        </p:nvSpPr>
        <p:spPr bwMode="auto">
          <a:xfrm rot="0" flipH="0" flipV="0">
            <a:off x="4650429" y="20691378"/>
            <a:ext cx="3092526" cy="1028698"/>
          </a:xfrm>
          <a:prstGeom prst="roundRect">
            <a:avLst>
              <a:gd name="adj" fmla="val 16667"/>
            </a:avLst>
          </a:prstGeom>
          <a:solidFill>
            <a:srgbClr val="6665B7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ru-RU" sz="2800">
                <a:latin typeface="Roboto"/>
                <a:ea typeface="Roboto"/>
                <a:cs typeface="Roboto"/>
              </a:rPr>
              <a:t>Выбор комитета через </a:t>
            </a:r>
            <a:r>
              <a:rPr lang="en-US" sz="2800">
                <a:latin typeface="Roboto"/>
                <a:ea typeface="Roboto"/>
                <a:cs typeface="Roboto"/>
              </a:rPr>
              <a:t>VRF</a:t>
            </a:r>
            <a:endParaRPr lang="ru-RU" sz="2800">
              <a:latin typeface="Roboto"/>
              <a:cs typeface="Roboto"/>
            </a:endParaRPr>
          </a:p>
        </p:txBody>
      </p:sp>
      <p:sp>
        <p:nvSpPr>
          <p:cNvPr id="1646002239" name=""/>
          <p:cNvSpPr/>
          <p:nvPr/>
        </p:nvSpPr>
        <p:spPr bwMode="auto">
          <a:xfrm rot="0" flipH="0" flipV="0">
            <a:off x="2854028" y="23557041"/>
            <a:ext cx="3328693" cy="1028698"/>
          </a:xfrm>
          <a:prstGeom prst="roundRect">
            <a:avLst>
              <a:gd name="adj" fmla="val 16667"/>
            </a:avLst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ru-RU" sz="2800">
                <a:latin typeface="Roboto"/>
                <a:ea typeface="Roboto"/>
                <a:cs typeface="Roboto"/>
              </a:rPr>
              <a:t>Есть конфликт?</a:t>
            </a:r>
            <a:endParaRPr lang="ru-RU" sz="2800">
              <a:latin typeface="Roboto"/>
              <a:cs typeface="Roboto"/>
            </a:endParaRPr>
          </a:p>
        </p:txBody>
      </p:sp>
      <p:sp>
        <p:nvSpPr>
          <p:cNvPr id="1131314414" name=""/>
          <p:cNvSpPr txBox="1"/>
          <p:nvPr/>
        </p:nvSpPr>
        <p:spPr bwMode="auto">
          <a:xfrm rot="0" flipH="0" flipV="0">
            <a:off x="5775879" y="22511056"/>
            <a:ext cx="3437260" cy="45755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ru-RU" sz="2400">
                <a:latin typeface="Roboto"/>
                <a:ea typeface="Roboto"/>
                <a:cs typeface="Roboto"/>
              </a:rPr>
              <a:t>Событие не </a:t>
            </a:r>
            <a:r>
              <a:rPr lang="ru-RU" sz="2400">
                <a:latin typeface="Roboto"/>
                <a:ea typeface="Roboto"/>
                <a:cs typeface="Roboto"/>
              </a:rPr>
              <a:t>корректно</a:t>
            </a:r>
            <a:endParaRPr sz="2400">
              <a:latin typeface="Roboto"/>
              <a:cs typeface="Roboto"/>
            </a:endParaRPr>
          </a:p>
        </p:txBody>
      </p:sp>
      <p:sp>
        <p:nvSpPr>
          <p:cNvPr id="1865479008" name=""/>
          <p:cNvSpPr txBox="1"/>
          <p:nvPr/>
        </p:nvSpPr>
        <p:spPr bwMode="auto">
          <a:xfrm rot="0" flipH="0" flipV="0">
            <a:off x="6188281" y="23557042"/>
            <a:ext cx="2707403" cy="8233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ru-RU" sz="2400">
                <a:latin typeface="Roboto"/>
                <a:ea typeface="Roboto"/>
                <a:cs typeface="Roboto"/>
              </a:rPr>
              <a:t>Кворум</a:t>
            </a:r>
            <a:r>
              <a:rPr lang="ru-RU" sz="2400">
                <a:latin typeface="Roboto"/>
                <a:ea typeface="Roboto"/>
                <a:cs typeface="Roboto"/>
              </a:rPr>
              <a:t> </a:t>
            </a:r>
            <a:br>
              <a:rPr lang="ru-RU" sz="2400">
                <a:latin typeface="Roboto"/>
                <a:ea typeface="Roboto"/>
                <a:cs typeface="Roboto"/>
              </a:rPr>
            </a:br>
            <a:r>
              <a:rPr lang="ru-RU" sz="2400">
                <a:latin typeface="Roboto"/>
                <a:ea typeface="Roboto"/>
                <a:cs typeface="Roboto"/>
              </a:rPr>
              <a:t>не </a:t>
            </a:r>
            <a:r>
              <a:rPr lang="ru-RU" sz="2400">
                <a:latin typeface="Roboto"/>
                <a:ea typeface="Roboto"/>
                <a:cs typeface="Roboto"/>
              </a:rPr>
              <a:t>получен</a:t>
            </a:r>
            <a:endParaRPr sz="2400">
              <a:latin typeface="Roboto"/>
              <a:cs typeface="Roboto"/>
            </a:endParaRPr>
          </a:p>
        </p:txBody>
      </p:sp>
      <p:sp>
        <p:nvSpPr>
          <p:cNvPr id="954089651" name=""/>
          <p:cNvSpPr/>
          <p:nvPr/>
        </p:nvSpPr>
        <p:spPr bwMode="auto">
          <a:xfrm rot="0" flipH="0" flipV="0">
            <a:off x="3788319" y="28360816"/>
            <a:ext cx="2974775" cy="1249257"/>
          </a:xfrm>
          <a:prstGeom prst="roundRect">
            <a:avLst>
              <a:gd name="adj" fmla="val 16667"/>
            </a:avLst>
          </a:prstGeom>
          <a:solidFill>
            <a:srgbClr val="FA8C1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ru-RU" sz="2800">
                <a:latin typeface="Roboto"/>
                <a:ea typeface="Roboto"/>
                <a:cs typeface="Roboto"/>
              </a:rPr>
              <a:t>Добавление вершины в общий </a:t>
            </a:r>
            <a:r>
              <a:rPr lang="en-US" sz="2800">
                <a:latin typeface="Roboto"/>
                <a:ea typeface="Roboto"/>
                <a:cs typeface="Roboto"/>
              </a:rPr>
              <a:t>DAG</a:t>
            </a:r>
            <a:endParaRPr lang="ru-RU" sz="2800">
              <a:latin typeface="Roboto"/>
              <a:cs typeface="Roboto"/>
            </a:endParaRPr>
          </a:p>
        </p:txBody>
      </p:sp>
      <p:sp>
        <p:nvSpPr>
          <p:cNvPr id="641638402" name=""/>
          <p:cNvSpPr/>
          <p:nvPr/>
        </p:nvSpPr>
        <p:spPr bwMode="auto">
          <a:xfrm rot="0" flipH="0" flipV="0">
            <a:off x="4986848" y="25085275"/>
            <a:ext cx="2578408" cy="1249257"/>
          </a:xfrm>
          <a:prstGeom prst="roundRect">
            <a:avLst>
              <a:gd name="adj" fmla="val 16667"/>
            </a:avLst>
          </a:prstGeom>
          <a:solidFill>
            <a:srgbClr val="6665B7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ru-RU" sz="2800">
                <a:latin typeface="Roboto"/>
                <a:ea typeface="Roboto"/>
                <a:cs typeface="Roboto"/>
              </a:rPr>
              <a:t>Формирование комитета арбитража</a:t>
            </a:r>
            <a:endParaRPr lang="ru-RU" sz="2800">
              <a:latin typeface="Roboto"/>
              <a:cs typeface="Roboto"/>
            </a:endParaRPr>
          </a:p>
        </p:txBody>
      </p:sp>
      <p:sp>
        <p:nvSpPr>
          <p:cNvPr id="1978978489" name=""/>
          <p:cNvSpPr/>
          <p:nvPr/>
        </p:nvSpPr>
        <p:spPr bwMode="auto">
          <a:xfrm rot="0" flipH="0" flipV="0">
            <a:off x="4986848" y="26719341"/>
            <a:ext cx="2578407" cy="1249257"/>
          </a:xfrm>
          <a:prstGeom prst="roundRect">
            <a:avLst>
              <a:gd name="adj" fmla="val 16667"/>
            </a:avLst>
          </a:prstGeom>
          <a:solidFill>
            <a:srgbClr val="6665B7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ru-RU" sz="2800">
                <a:latin typeface="Roboto"/>
                <a:ea typeface="Roboto"/>
                <a:cs typeface="Roboto"/>
              </a:rPr>
              <a:t>Разрешение конфликт через </a:t>
            </a:r>
            <a:r>
              <a:rPr lang="en-US" sz="2800">
                <a:latin typeface="Roboto"/>
                <a:ea typeface="Roboto"/>
                <a:cs typeface="Roboto"/>
              </a:rPr>
              <a:t>VRF</a:t>
            </a:r>
            <a:endParaRPr lang="ru-RU" sz="2800">
              <a:latin typeface="Roboto"/>
              <a:cs typeface="Roboto"/>
            </a:endParaRPr>
          </a:p>
        </p:txBody>
      </p:sp>
      <p:sp>
        <p:nvSpPr>
          <p:cNvPr id="119686099" name=""/>
          <p:cNvSpPr/>
          <p:nvPr/>
        </p:nvSpPr>
        <p:spPr bwMode="auto">
          <a:xfrm rot="0" flipH="0" flipV="0">
            <a:off x="1621217" y="25085275"/>
            <a:ext cx="2872002" cy="1249257"/>
          </a:xfrm>
          <a:prstGeom prst="roundRect">
            <a:avLst>
              <a:gd name="adj" fmla="val 16667"/>
            </a:avLst>
          </a:prstGeom>
          <a:solidFill>
            <a:srgbClr val="3B9A39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ru-RU" sz="2800">
                <a:latin typeface="Roboto"/>
                <a:ea typeface="Roboto"/>
                <a:cs typeface="Roboto"/>
              </a:rPr>
              <a:t>Событие подтверждено</a:t>
            </a:r>
            <a:endParaRPr lang="ru-RU" sz="2800">
              <a:latin typeface="Roboto"/>
              <a:cs typeface="Roboto"/>
            </a:endParaRPr>
          </a:p>
        </p:txBody>
      </p:sp>
      <p:sp>
        <p:nvSpPr>
          <p:cNvPr id="876359004" name=""/>
          <p:cNvSpPr/>
          <p:nvPr/>
        </p:nvSpPr>
        <p:spPr bwMode="auto">
          <a:xfrm rot="0" flipH="0" flipV="0">
            <a:off x="6205745" y="29909320"/>
            <a:ext cx="2858329" cy="1249257"/>
          </a:xfrm>
          <a:prstGeom prst="roundRect">
            <a:avLst>
              <a:gd name="adj" fmla="val 16667"/>
            </a:avLst>
          </a:prstGeom>
          <a:solidFill>
            <a:srgbClr val="1D939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ru-RU" sz="2800">
                <a:latin typeface="Roboto"/>
                <a:ea typeface="Roboto"/>
                <a:cs typeface="Roboto"/>
              </a:rPr>
              <a:t>Формирование </a:t>
            </a:r>
            <a:r>
              <a:rPr lang="en-US" sz="2800">
                <a:latin typeface="Roboto"/>
                <a:ea typeface="Roboto"/>
                <a:cs typeface="Roboto"/>
              </a:rPr>
              <a:t>checkpoint</a:t>
            </a:r>
            <a:endParaRPr lang="ru-RU" sz="2800">
              <a:latin typeface="Roboto"/>
              <a:cs typeface="Roboto"/>
            </a:endParaRPr>
          </a:p>
        </p:txBody>
      </p:sp>
      <p:sp>
        <p:nvSpPr>
          <p:cNvPr id="783345820" name=""/>
          <p:cNvSpPr/>
          <p:nvPr/>
        </p:nvSpPr>
        <p:spPr bwMode="auto">
          <a:xfrm rot="0" flipH="0" flipV="0">
            <a:off x="744244" y="15193171"/>
            <a:ext cx="9299446" cy="883225"/>
          </a:xfrm>
          <a:prstGeom prst="roundRect">
            <a:avLst>
              <a:gd name="adj" fmla="val 16667"/>
            </a:avLst>
          </a:prstGeom>
          <a:solidFill>
            <a:srgbClr val="1F53C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marL="0" indent="0" algn="ctr">
              <a:buNone/>
              <a:defRPr/>
            </a:pPr>
            <a:r>
              <a:rPr lang="ru-RU" sz="36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Логика </a:t>
            </a:r>
            <a:r>
              <a:rPr lang="en-US" sz="36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WIDAG</a:t>
            </a:r>
            <a:endParaRPr sz="3600">
              <a:solidFill>
                <a:schemeClr val="bg1"/>
              </a:solidFill>
              <a:latin typeface="Roboto"/>
              <a:cs typeface="Roboto"/>
            </a:endParaRPr>
          </a:p>
        </p:txBody>
      </p:sp>
      <p:cxnSp>
        <p:nvCxnSpPr>
          <p:cNvPr id="329329681" name=""/>
          <p:cNvCxnSpPr/>
          <p:nvPr/>
        </p:nvCxnSpPr>
        <p:spPr bwMode="auto">
          <a:xfrm rot="5400000" flipH="0" flipV="0">
            <a:off x="4439051" y="21799401"/>
            <a:ext cx="1836963" cy="1678316"/>
          </a:xfrm>
          <a:prstGeom prst="curvedConnector3">
            <a:avLst>
              <a:gd name="adj1" fmla="val 47904"/>
            </a:avLst>
          </a:prstGeom>
          <a:ln w="57150" cap="flat" cmpd="sng" algn="ctr">
            <a:solidFill>
              <a:schemeClr val="accent1">
                <a:shade val="50000"/>
              </a:schemeClr>
            </a:solidFill>
            <a:prstDash val="solid"/>
            <a:miter lim="800000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20242" name=""/>
          <p:cNvCxnSpPr/>
          <p:nvPr/>
        </p:nvCxnSpPr>
        <p:spPr bwMode="auto">
          <a:xfrm rot="5400000" flipH="0" flipV="0">
            <a:off x="5999728" y="17613445"/>
            <a:ext cx="408213" cy="0"/>
          </a:xfrm>
          <a:prstGeom prst="curvedConnector3">
            <a:avLst>
              <a:gd name="adj1" fmla="val 50000"/>
            </a:avLst>
          </a:prstGeom>
          <a:ln w="57150" cap="flat" cmpd="sng" algn="ctr">
            <a:solidFill>
              <a:schemeClr val="accent1">
                <a:shade val="50000"/>
              </a:schemeClr>
            </a:solidFill>
            <a:prstDash val="solid"/>
            <a:miter lim="800000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805855" name=""/>
          <p:cNvCxnSpPr/>
          <p:nvPr/>
        </p:nvCxnSpPr>
        <p:spPr bwMode="auto">
          <a:xfrm rot="5400000" flipH="0" flipV="0">
            <a:off x="6001638" y="19050358"/>
            <a:ext cx="408213" cy="0"/>
          </a:xfrm>
          <a:prstGeom prst="curvedConnector3">
            <a:avLst>
              <a:gd name="adj1" fmla="val 50000"/>
            </a:avLst>
          </a:prstGeom>
          <a:ln w="57150" cap="flat" cmpd="sng" algn="ctr">
            <a:solidFill>
              <a:schemeClr val="accent1">
                <a:shade val="50000"/>
              </a:schemeClr>
            </a:solidFill>
            <a:prstDash val="solid"/>
            <a:miter lim="800000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3555677" name=""/>
          <p:cNvCxnSpPr/>
          <p:nvPr/>
        </p:nvCxnSpPr>
        <p:spPr bwMode="auto">
          <a:xfrm rot="5400000" flipH="0" flipV="0">
            <a:off x="6001638" y="20487271"/>
            <a:ext cx="408213" cy="0"/>
          </a:xfrm>
          <a:prstGeom prst="curvedConnector3">
            <a:avLst>
              <a:gd name="adj1" fmla="val 50000"/>
            </a:avLst>
          </a:prstGeom>
          <a:ln w="57150" cap="flat" cmpd="sng" algn="ctr">
            <a:solidFill>
              <a:schemeClr val="accent1">
                <a:shade val="50000"/>
              </a:schemeClr>
            </a:solidFill>
            <a:prstDash val="solid"/>
            <a:miter lim="800000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6405843" name=""/>
          <p:cNvCxnSpPr/>
          <p:nvPr/>
        </p:nvCxnSpPr>
        <p:spPr bwMode="auto">
          <a:xfrm rot="5400000" flipH="0" flipV="0">
            <a:off x="6134104" y="26538640"/>
            <a:ext cx="408213" cy="0"/>
          </a:xfrm>
          <a:prstGeom prst="curvedConnector3">
            <a:avLst>
              <a:gd name="adj1" fmla="val 50000"/>
            </a:avLst>
          </a:prstGeom>
          <a:ln w="57150" cap="flat" cmpd="sng" algn="ctr">
            <a:solidFill>
              <a:schemeClr val="accent1">
                <a:shade val="50000"/>
              </a:schemeClr>
            </a:solidFill>
            <a:prstDash val="solid"/>
            <a:miter lim="800000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2252735" name=""/>
          <p:cNvCxnSpPr/>
          <p:nvPr/>
        </p:nvCxnSpPr>
        <p:spPr bwMode="auto">
          <a:xfrm rot="5400000" flipH="0" flipV="0">
            <a:off x="3538029" y="24104929"/>
            <a:ext cx="499533" cy="1461155"/>
          </a:xfrm>
          <a:prstGeom prst="curvedConnector3">
            <a:avLst>
              <a:gd name="adj1" fmla="val 50000"/>
            </a:avLst>
          </a:prstGeom>
          <a:ln w="57150" cap="flat" cmpd="sng" algn="ctr">
            <a:solidFill>
              <a:schemeClr val="accent1">
                <a:shade val="50000"/>
              </a:schemeClr>
            </a:solidFill>
            <a:prstDash val="solid"/>
            <a:miter lim="800000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265135" name=""/>
          <p:cNvCxnSpPr/>
          <p:nvPr/>
        </p:nvCxnSpPr>
        <p:spPr bwMode="auto">
          <a:xfrm rot="5400000" flipH="0" flipV="1">
            <a:off x="5147447" y="23956669"/>
            <a:ext cx="499533" cy="1757677"/>
          </a:xfrm>
          <a:prstGeom prst="curvedConnector3">
            <a:avLst>
              <a:gd name="adj1" fmla="val 50000"/>
            </a:avLst>
          </a:prstGeom>
          <a:ln w="57150" cap="flat" cmpd="sng" algn="ctr">
            <a:solidFill>
              <a:schemeClr val="accent1">
                <a:shade val="50000"/>
              </a:schemeClr>
            </a:solidFill>
            <a:prstDash val="solid"/>
            <a:miter lim="800000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424316" name=""/>
          <p:cNvCxnSpPr/>
          <p:nvPr/>
        </p:nvCxnSpPr>
        <p:spPr bwMode="auto">
          <a:xfrm rot="5400000" flipH="0" flipV="1">
            <a:off x="2097312" y="27294439"/>
            <a:ext cx="2650912" cy="731100"/>
          </a:xfrm>
          <a:prstGeom prst="curvedConnector2">
            <a:avLst/>
          </a:prstGeom>
          <a:ln w="57150" cap="flat" cmpd="sng" algn="ctr">
            <a:solidFill>
              <a:schemeClr val="accent1">
                <a:shade val="50000"/>
              </a:schemeClr>
            </a:solidFill>
            <a:prstDash val="solid"/>
            <a:miter lim="800000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3518620" name=""/>
          <p:cNvCxnSpPr/>
          <p:nvPr/>
        </p:nvCxnSpPr>
        <p:spPr bwMode="auto">
          <a:xfrm rot="5400000" flipH="0" flipV="0">
            <a:off x="5579771" y="27664535"/>
            <a:ext cx="392216" cy="1000343"/>
          </a:xfrm>
          <a:prstGeom prst="curvedConnector3">
            <a:avLst>
              <a:gd name="adj1" fmla="val 50000"/>
            </a:avLst>
          </a:prstGeom>
          <a:ln w="57150" cap="flat" cmpd="sng" algn="ctr">
            <a:solidFill>
              <a:schemeClr val="accent1">
                <a:shade val="50000"/>
              </a:schemeClr>
            </a:solidFill>
            <a:prstDash val="solid"/>
            <a:miter lim="800000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9281313" name=""/>
          <p:cNvCxnSpPr/>
          <p:nvPr/>
        </p:nvCxnSpPr>
        <p:spPr bwMode="auto">
          <a:xfrm rot="5400000" flipH="0" flipV="1">
            <a:off x="5278790" y="29606994"/>
            <a:ext cx="923872" cy="930036"/>
          </a:xfrm>
          <a:prstGeom prst="curvedConnector2">
            <a:avLst/>
          </a:prstGeom>
          <a:ln w="57150" cap="flat" cmpd="sng" algn="ctr">
            <a:solidFill>
              <a:schemeClr val="accent1">
                <a:shade val="50000"/>
              </a:schemeClr>
            </a:solidFill>
            <a:prstDash val="solid"/>
            <a:miter lim="800000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4523237" name=""/>
          <p:cNvSpPr/>
          <p:nvPr/>
        </p:nvSpPr>
        <p:spPr bwMode="auto">
          <a:xfrm rot="0" flipH="0" flipV="0">
            <a:off x="2049699" y="16468113"/>
            <a:ext cx="2015037" cy="2786352"/>
          </a:xfrm>
          <a:prstGeom prst="wedgeRectCallout">
            <a:avLst>
              <a:gd name="adj1" fmla="val 75918"/>
              <a:gd name="adj2" fmla="val -35697"/>
            </a:avLst>
          </a:prstGeom>
          <a:noFill/>
          <a:ln w="38100" cap="flat" cmpd="sng" algn="ctr">
            <a:solidFill>
              <a:schemeClr val="accent1">
                <a:shade val="50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l">
              <a:defRPr/>
            </a:pPr>
            <a:r>
              <a:rPr lang="en-US" sz="2400">
                <a:solidFill>
                  <a:schemeClr val="tx1"/>
                </a:solidFill>
                <a:latin typeface="Roboto"/>
                <a:ea typeface="Roboto"/>
                <a:cs typeface="Roboto"/>
              </a:rPr>
              <a:t>Author DID</a:t>
            </a:r>
            <a:endParaRPr sz="2400">
              <a:solidFill>
                <a:schemeClr val="tx1"/>
              </a:solidFill>
              <a:latin typeface="Roboto"/>
              <a:cs typeface="Roboto"/>
            </a:endParaRPr>
          </a:p>
          <a:p>
            <a:pPr algn="l">
              <a:defRPr/>
            </a:pPr>
            <a:r>
              <a:rPr lang="en-US" sz="2400">
                <a:solidFill>
                  <a:schemeClr val="tx1"/>
                </a:solidFill>
                <a:latin typeface="Roboto"/>
                <a:ea typeface="Roboto"/>
                <a:cs typeface="Roboto"/>
              </a:rPr>
              <a:t>Payload hash</a:t>
            </a:r>
            <a:endParaRPr sz="2400">
              <a:solidFill>
                <a:schemeClr val="tx1"/>
              </a:solidFill>
              <a:latin typeface="Roboto"/>
              <a:cs typeface="Roboto"/>
            </a:endParaRPr>
          </a:p>
          <a:p>
            <a:pPr algn="l">
              <a:defRPr/>
            </a:pPr>
            <a:r>
              <a:rPr lang="en-US" sz="2400">
                <a:solidFill>
                  <a:schemeClr val="tx1"/>
                </a:solidFill>
                <a:latin typeface="Roboto"/>
                <a:ea typeface="Roboto"/>
                <a:cs typeface="Roboto"/>
              </a:rPr>
              <a:t>Self-link</a:t>
            </a:r>
            <a:endParaRPr sz="2400">
              <a:solidFill>
                <a:schemeClr val="tx1"/>
              </a:solidFill>
              <a:latin typeface="Roboto"/>
              <a:cs typeface="Roboto"/>
            </a:endParaRPr>
          </a:p>
          <a:p>
            <a:pPr algn="l">
              <a:defRPr/>
            </a:pPr>
            <a:r>
              <a:rPr lang="en-US" sz="2400">
                <a:solidFill>
                  <a:schemeClr val="tx1"/>
                </a:solidFill>
                <a:latin typeface="Roboto"/>
                <a:ea typeface="Roboto"/>
                <a:cs typeface="Roboto"/>
              </a:rPr>
              <a:t>Context-link</a:t>
            </a:r>
            <a:endParaRPr sz="2400">
              <a:solidFill>
                <a:schemeClr val="tx1"/>
              </a:solidFill>
              <a:latin typeface="Roboto"/>
              <a:cs typeface="Roboto"/>
            </a:endParaRPr>
          </a:p>
          <a:p>
            <a:pPr algn="l">
              <a:defRPr/>
            </a:pPr>
            <a:r>
              <a:rPr lang="en-US" sz="2400">
                <a:solidFill>
                  <a:schemeClr val="tx1"/>
                </a:solidFill>
                <a:latin typeface="Roboto"/>
                <a:ea typeface="Roboto"/>
                <a:cs typeface="Roboto"/>
              </a:rPr>
              <a:t>Anchor-link</a:t>
            </a:r>
            <a:endParaRPr sz="2400">
              <a:solidFill>
                <a:schemeClr val="tx1"/>
              </a:solidFill>
              <a:latin typeface="Roboto"/>
              <a:cs typeface="Roboto"/>
            </a:endParaRPr>
          </a:p>
          <a:p>
            <a:pPr algn="l">
              <a:defRPr/>
            </a:pPr>
            <a:r>
              <a:rPr lang="en-US" sz="2400">
                <a:solidFill>
                  <a:schemeClr val="tx1"/>
                </a:solidFill>
                <a:latin typeface="Roboto"/>
                <a:ea typeface="Roboto"/>
                <a:cs typeface="Roboto"/>
              </a:rPr>
              <a:t>Timestamp</a:t>
            </a:r>
            <a:endParaRPr sz="2400">
              <a:solidFill>
                <a:schemeClr val="tx1"/>
              </a:solidFill>
              <a:latin typeface="Roboto"/>
              <a:cs typeface="Roboto"/>
            </a:endParaRPr>
          </a:p>
          <a:p>
            <a:pPr algn="l">
              <a:defRPr/>
            </a:pPr>
            <a:r>
              <a:rPr lang="en-US" sz="2400">
                <a:solidFill>
                  <a:schemeClr val="tx1"/>
                </a:solidFill>
                <a:latin typeface="Roboto"/>
                <a:ea typeface="Roboto"/>
                <a:cs typeface="Roboto"/>
              </a:rPr>
              <a:t>Signature</a:t>
            </a:r>
            <a:endParaRPr sz="2400">
              <a:solidFill>
                <a:schemeClr val="tx1"/>
              </a:solidFill>
              <a:latin typeface="Roboto"/>
              <a:cs typeface="Roboto"/>
            </a:endParaRPr>
          </a:p>
        </p:txBody>
      </p:sp>
      <p:sp>
        <p:nvSpPr>
          <p:cNvPr id="1178595625" name=""/>
          <p:cNvSpPr/>
          <p:nvPr/>
        </p:nvSpPr>
        <p:spPr bwMode="auto">
          <a:xfrm rot="0" flipH="0" flipV="0">
            <a:off x="1350544" y="20230213"/>
            <a:ext cx="3167830" cy="1170873"/>
          </a:xfrm>
          <a:prstGeom prst="wedgeRectCallout">
            <a:avLst>
              <a:gd name="adj1" fmla="val 52101"/>
              <a:gd name="adj2" fmla="val -90897"/>
            </a:avLst>
          </a:prstGeom>
          <a:noFill/>
          <a:ln w="38100" cap="flat" cmpd="sng" algn="ctr">
            <a:solidFill>
              <a:schemeClr val="accent1">
                <a:shade val="50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>
              <a:defRPr/>
            </a:pPr>
            <a:r>
              <a:rPr lang="ru-RU" sz="2400" u="none">
                <a:solidFill>
                  <a:schemeClr val="tx1"/>
                </a:solidFill>
                <a:latin typeface="Roboto"/>
                <a:ea typeface="Roboto"/>
                <a:cs typeface="Roboto"/>
              </a:rPr>
              <a:t>Сохраняют событие</a:t>
            </a:r>
            <a:endParaRPr sz="2400" u="none">
              <a:solidFill>
                <a:schemeClr val="tx1"/>
              </a:solidFill>
              <a:latin typeface="Roboto"/>
              <a:cs typeface="Roboto"/>
            </a:endParaRPr>
          </a:p>
          <a:p>
            <a:pPr>
              <a:defRPr/>
            </a:pPr>
            <a:r>
              <a:rPr lang="ru-RU" sz="2400" u="none">
                <a:solidFill>
                  <a:schemeClr val="tx1"/>
                </a:solidFill>
                <a:latin typeface="Roboto"/>
                <a:ea typeface="Roboto"/>
                <a:cs typeface="Roboto"/>
              </a:rPr>
              <a:t>и распр</a:t>
            </a:r>
            <a:r>
              <a:rPr lang="ru-RU" sz="2400" u="none">
                <a:solidFill>
                  <a:schemeClr val="tx1"/>
                </a:solidFill>
                <a:latin typeface="Roboto"/>
                <a:ea typeface="Roboto"/>
                <a:cs typeface="Roboto"/>
              </a:rPr>
              <a:t>еделяет его</a:t>
            </a:r>
            <a:endParaRPr sz="2400" u="none">
              <a:solidFill>
                <a:schemeClr val="tx1"/>
              </a:solidFill>
              <a:latin typeface="Roboto"/>
              <a:cs typeface="Roboto"/>
            </a:endParaRPr>
          </a:p>
        </p:txBody>
      </p:sp>
      <p:sp>
        <p:nvSpPr>
          <p:cNvPr id="1042845327" name=""/>
          <p:cNvSpPr/>
          <p:nvPr/>
        </p:nvSpPr>
        <p:spPr bwMode="auto">
          <a:xfrm rot="0" flipH="0" flipV="0">
            <a:off x="20105644" y="15242423"/>
            <a:ext cx="9425893" cy="883225"/>
          </a:xfrm>
          <a:prstGeom prst="roundRect">
            <a:avLst>
              <a:gd name="adj" fmla="val 16667"/>
            </a:avLst>
          </a:prstGeom>
          <a:solidFill>
            <a:srgbClr val="1F53C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marL="0" indent="0" algn="ctr">
              <a:buNone/>
              <a:defRPr/>
            </a:pPr>
            <a:r>
              <a:rPr lang="ru-RU" sz="36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Граф </a:t>
            </a:r>
            <a:r>
              <a:rPr lang="en-US" sz="3600" b="1" i="0" u="none" strike="noStrike" cap="none" spc="0">
                <a:solidFill>
                  <a:schemeClr val="bg1"/>
                </a:solidFill>
                <a:latin typeface="Roboto"/>
                <a:ea typeface="Roboto"/>
                <a:cs typeface="Roboto"/>
              </a:rPr>
              <a:t>WIDAG</a:t>
            </a:r>
            <a:endParaRPr sz="3600">
              <a:solidFill>
                <a:schemeClr val="bg1"/>
              </a:solidFill>
              <a:latin typeface="Roboto"/>
              <a:cs typeface="Roboto"/>
            </a:endParaRPr>
          </a:p>
        </p:txBody>
      </p:sp>
      <p:sp>
        <p:nvSpPr>
          <p:cNvPr id="893624841" name=""/>
          <p:cNvSpPr/>
          <p:nvPr/>
        </p:nvSpPr>
        <p:spPr bwMode="auto">
          <a:xfrm rot="0" flipH="0" flipV="0">
            <a:off x="23421211" y="21043871"/>
            <a:ext cx="2876549" cy="1726444"/>
          </a:xfrm>
          <a:prstGeom prst="roundRect">
            <a:avLst>
              <a:gd name="adj" fmla="val 16667"/>
            </a:avLst>
          </a:prstGeom>
          <a:solidFill>
            <a:srgbClr val="A1DAE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l">
              <a:defRPr/>
            </a:pPr>
            <a:endParaRPr lang="en-US" sz="2800">
              <a:solidFill>
                <a:schemeClr val="tx1"/>
              </a:solidFill>
              <a:latin typeface="Roboto"/>
              <a:ea typeface="Roboto"/>
              <a:cs typeface="Roboto"/>
            </a:endParaRPr>
          </a:p>
          <a:p>
            <a:pPr algn="l">
              <a:defRPr/>
            </a:pPr>
            <a:endParaRPr lang="en-US" sz="2800">
              <a:solidFill>
                <a:schemeClr val="tx1"/>
              </a:solidFill>
              <a:latin typeface="Roboto"/>
              <a:ea typeface="Roboto"/>
              <a:cs typeface="Roboto"/>
            </a:endParaRPr>
          </a:p>
          <a:p>
            <a:pPr algn="l">
              <a:defRPr/>
            </a:pPr>
            <a:r>
              <a:rPr lang="en-US" sz="2800">
                <a:solidFill>
                  <a:schemeClr val="tx1"/>
                </a:solidFill>
                <a:latin typeface="Roboto"/>
                <a:ea typeface="Roboto"/>
                <a:cs typeface="Roboto"/>
              </a:rPr>
              <a:t>ACTION</a:t>
            </a:r>
            <a:endParaRPr lang="en-US" sz="2800">
              <a:solidFill>
                <a:schemeClr val="tx1"/>
              </a:solidFill>
              <a:latin typeface="Roboto"/>
              <a:ea typeface="Roboto"/>
              <a:cs typeface="Roboto"/>
            </a:endParaRPr>
          </a:p>
          <a:p>
            <a:pPr algn="l">
              <a:defRPr/>
            </a:pPr>
            <a:r>
              <a:rPr lang="ru-RU" sz="2800">
                <a:solidFill>
                  <a:schemeClr val="tx1"/>
                </a:solidFill>
                <a:latin typeface="Roboto"/>
                <a:ea typeface="Roboto"/>
                <a:cs typeface="Roboto"/>
              </a:rPr>
              <a:t>Автор: </a:t>
            </a:r>
            <a:r>
              <a:rPr lang="en-US" sz="2800">
                <a:solidFill>
                  <a:schemeClr val="tx1"/>
                </a:solidFill>
                <a:latin typeface="Roboto"/>
                <a:ea typeface="Roboto"/>
                <a:cs typeface="Roboto"/>
              </a:rPr>
              <a:t>DID_A</a:t>
            </a:r>
            <a:endParaRPr lang="en-US" sz="2800">
              <a:solidFill>
                <a:schemeClr val="tx1"/>
              </a:solidFill>
              <a:latin typeface="Roboto"/>
              <a:ea typeface="Roboto"/>
              <a:cs typeface="Roboto"/>
            </a:endParaRPr>
          </a:p>
          <a:p>
            <a:pPr algn="l">
              <a:defRPr/>
            </a:pPr>
            <a:endParaRPr sz="1400">
              <a:solidFill>
                <a:schemeClr val="tx1"/>
              </a:solidFill>
              <a:latin typeface="Roboto"/>
              <a:cs typeface="Roboto"/>
            </a:endParaRPr>
          </a:p>
        </p:txBody>
      </p:sp>
      <p:sp>
        <p:nvSpPr>
          <p:cNvPr id="839446687" name=""/>
          <p:cNvSpPr/>
          <p:nvPr/>
        </p:nvSpPr>
        <p:spPr bwMode="auto">
          <a:xfrm rot="0" flipH="0" flipV="0">
            <a:off x="23421211" y="21043871"/>
            <a:ext cx="2876549" cy="640594"/>
          </a:xfrm>
          <a:prstGeom prst="roundRect">
            <a:avLst>
              <a:gd name="adj" fmla="val 28248"/>
            </a:avLst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l">
              <a:defRPr/>
            </a:pPr>
            <a:r>
              <a:rPr lang="en-US" sz="2800">
                <a:latin typeface="Roboto"/>
                <a:ea typeface="Roboto"/>
                <a:cs typeface="Roboto"/>
              </a:rPr>
              <a:t>A2</a:t>
            </a:r>
            <a:endParaRPr sz="2800">
              <a:latin typeface="Roboto"/>
              <a:cs typeface="Roboto"/>
            </a:endParaRPr>
          </a:p>
        </p:txBody>
      </p:sp>
      <p:sp>
        <p:nvSpPr>
          <p:cNvPr id="1946057736" name=""/>
          <p:cNvSpPr/>
          <p:nvPr/>
        </p:nvSpPr>
        <p:spPr bwMode="auto">
          <a:xfrm rot="0" flipH="0" flipV="0">
            <a:off x="26066284" y="23418333"/>
            <a:ext cx="2876549" cy="1726443"/>
          </a:xfrm>
          <a:prstGeom prst="roundRect">
            <a:avLst>
              <a:gd name="adj" fmla="val 16667"/>
            </a:avLst>
          </a:prstGeom>
          <a:solidFill>
            <a:srgbClr val="A1DAE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l">
              <a:defRPr/>
            </a:pPr>
            <a:endParaRPr lang="en-US" sz="2800">
              <a:solidFill>
                <a:schemeClr val="tx1"/>
              </a:solidFill>
              <a:latin typeface="Roboto"/>
              <a:ea typeface="Roboto"/>
              <a:cs typeface="Roboto"/>
            </a:endParaRPr>
          </a:p>
          <a:p>
            <a:pPr algn="l">
              <a:defRPr/>
            </a:pPr>
            <a:endParaRPr lang="en-US" sz="2800">
              <a:solidFill>
                <a:schemeClr val="tx1"/>
              </a:solidFill>
              <a:latin typeface="Roboto"/>
              <a:ea typeface="Roboto"/>
              <a:cs typeface="Roboto"/>
            </a:endParaRPr>
          </a:p>
          <a:p>
            <a:pPr algn="l">
              <a:defRPr/>
            </a:pPr>
            <a:r>
              <a:rPr lang="en-US" sz="2800">
                <a:solidFill>
                  <a:schemeClr val="tx1"/>
                </a:solidFill>
                <a:latin typeface="Roboto"/>
                <a:ea typeface="Roboto"/>
                <a:cs typeface="Roboto"/>
              </a:rPr>
              <a:t>ACTION</a:t>
            </a:r>
            <a:endParaRPr lang="en-US" sz="2800">
              <a:solidFill>
                <a:schemeClr val="tx1"/>
              </a:solidFill>
              <a:latin typeface="Roboto"/>
              <a:ea typeface="Roboto"/>
              <a:cs typeface="Roboto"/>
            </a:endParaRPr>
          </a:p>
          <a:p>
            <a:pPr algn="l">
              <a:defRPr/>
            </a:pPr>
            <a:r>
              <a:rPr lang="ru-RU" sz="2800">
                <a:solidFill>
                  <a:schemeClr val="tx1"/>
                </a:solidFill>
                <a:latin typeface="Roboto"/>
                <a:ea typeface="Roboto"/>
                <a:cs typeface="Roboto"/>
              </a:rPr>
              <a:t>Автор: </a:t>
            </a:r>
            <a:r>
              <a:rPr lang="en-US" sz="2800">
                <a:solidFill>
                  <a:schemeClr val="tx1"/>
                </a:solidFill>
                <a:latin typeface="Roboto"/>
                <a:ea typeface="Roboto"/>
                <a:cs typeface="Roboto"/>
              </a:rPr>
              <a:t>DID_B</a:t>
            </a:r>
            <a:endParaRPr lang="en-US" sz="2800">
              <a:solidFill>
                <a:schemeClr val="tx1"/>
              </a:solidFill>
              <a:latin typeface="Roboto"/>
              <a:ea typeface="Roboto"/>
              <a:cs typeface="Roboto"/>
            </a:endParaRPr>
          </a:p>
          <a:p>
            <a:pPr algn="l">
              <a:defRPr/>
            </a:pPr>
            <a:endParaRPr sz="1400">
              <a:solidFill>
                <a:schemeClr val="tx1"/>
              </a:solidFill>
              <a:latin typeface="Roboto"/>
              <a:cs typeface="Roboto"/>
            </a:endParaRPr>
          </a:p>
        </p:txBody>
      </p:sp>
      <p:sp>
        <p:nvSpPr>
          <p:cNvPr id="1114823671" name=""/>
          <p:cNvSpPr/>
          <p:nvPr/>
        </p:nvSpPr>
        <p:spPr bwMode="auto">
          <a:xfrm rot="0" flipH="0" flipV="0">
            <a:off x="26066284" y="23418333"/>
            <a:ext cx="2876548" cy="640593"/>
          </a:xfrm>
          <a:prstGeom prst="roundRect">
            <a:avLst>
              <a:gd name="adj" fmla="val 28248"/>
            </a:avLst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l">
              <a:defRPr/>
            </a:pPr>
            <a:r>
              <a:rPr lang="en-US" sz="2800">
                <a:latin typeface="Roboto"/>
                <a:ea typeface="Roboto"/>
                <a:cs typeface="Roboto"/>
              </a:rPr>
              <a:t>B1</a:t>
            </a:r>
            <a:endParaRPr sz="2800">
              <a:latin typeface="Roboto"/>
              <a:cs typeface="Roboto"/>
            </a:endParaRPr>
          </a:p>
        </p:txBody>
      </p:sp>
      <p:sp>
        <p:nvSpPr>
          <p:cNvPr id="646571305" name=""/>
          <p:cNvSpPr/>
          <p:nvPr/>
        </p:nvSpPr>
        <p:spPr bwMode="auto">
          <a:xfrm rot="0" flipH="0" flipV="0">
            <a:off x="21200362" y="18928562"/>
            <a:ext cx="2876549" cy="1311093"/>
          </a:xfrm>
          <a:prstGeom prst="roundRect">
            <a:avLst>
              <a:gd name="adj" fmla="val 16667"/>
            </a:avLst>
          </a:prstGeom>
          <a:blipFill rotWithShape="1">
            <a:blip r:embed="rId3"/>
            <a:tile/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l">
              <a:defRPr/>
            </a:pPr>
            <a:endParaRPr lang="en-US" sz="2800">
              <a:solidFill>
                <a:schemeClr val="tx1"/>
              </a:solidFill>
              <a:latin typeface="Roboto"/>
              <a:ea typeface="Roboto"/>
              <a:cs typeface="Roboto"/>
            </a:endParaRPr>
          </a:p>
          <a:p>
            <a:pPr algn="l">
              <a:defRPr/>
            </a:pPr>
            <a:endParaRPr lang="en-US" sz="2800">
              <a:solidFill>
                <a:schemeClr val="tx1"/>
              </a:solidFill>
              <a:latin typeface="Roboto"/>
              <a:ea typeface="Roboto"/>
              <a:cs typeface="Roboto"/>
            </a:endParaRPr>
          </a:p>
          <a:p>
            <a:pPr algn="l">
              <a:defRPr/>
            </a:pPr>
            <a:r>
              <a:rPr lang="en-US" sz="2800">
                <a:solidFill>
                  <a:schemeClr val="tx1"/>
                </a:solidFill>
                <a:latin typeface="Roboto"/>
                <a:ea typeface="Roboto"/>
                <a:cs typeface="Roboto"/>
              </a:rPr>
              <a:t>RECEIPT</a:t>
            </a:r>
            <a:endParaRPr lang="en-US" sz="2800">
              <a:solidFill>
                <a:schemeClr val="tx1"/>
              </a:solidFill>
              <a:latin typeface="Roboto"/>
              <a:ea typeface="Roboto"/>
              <a:cs typeface="Roboto"/>
            </a:endParaRPr>
          </a:p>
          <a:p>
            <a:pPr algn="l">
              <a:defRPr/>
            </a:pPr>
            <a:endParaRPr sz="1400">
              <a:solidFill>
                <a:schemeClr val="tx1"/>
              </a:solidFill>
              <a:latin typeface="Roboto"/>
              <a:cs typeface="Roboto"/>
            </a:endParaRPr>
          </a:p>
        </p:txBody>
      </p:sp>
      <p:sp>
        <p:nvSpPr>
          <p:cNvPr id="690619549" name=""/>
          <p:cNvSpPr/>
          <p:nvPr/>
        </p:nvSpPr>
        <p:spPr bwMode="auto">
          <a:xfrm rot="0" flipH="0" flipV="0">
            <a:off x="21200362" y="18928562"/>
            <a:ext cx="2876548" cy="640593"/>
          </a:xfrm>
          <a:prstGeom prst="roundRect">
            <a:avLst>
              <a:gd name="adj" fmla="val 28248"/>
            </a:avLst>
          </a:prstGeom>
          <a:solidFill>
            <a:srgbClr val="F7C864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l">
              <a:defRPr/>
            </a:pPr>
            <a:r>
              <a:rPr lang="en-US" sz="2800">
                <a:solidFill>
                  <a:schemeClr val="tx1"/>
                </a:solidFill>
                <a:latin typeface="Roboto"/>
                <a:cs typeface="Roboto"/>
              </a:rPr>
              <a:t>R1</a:t>
            </a:r>
            <a:endParaRPr sz="2800">
              <a:solidFill>
                <a:schemeClr val="tx1"/>
              </a:solidFill>
              <a:latin typeface="Roboto"/>
              <a:cs typeface="Roboto"/>
            </a:endParaRPr>
          </a:p>
        </p:txBody>
      </p:sp>
      <p:sp>
        <p:nvSpPr>
          <p:cNvPr id="1342055441" name=""/>
          <p:cNvSpPr/>
          <p:nvPr/>
        </p:nvSpPr>
        <p:spPr bwMode="auto">
          <a:xfrm rot="0" flipH="0" flipV="0">
            <a:off x="25662305" y="16316768"/>
            <a:ext cx="2876549" cy="1338574"/>
          </a:xfrm>
          <a:prstGeom prst="roundRect">
            <a:avLst>
              <a:gd name="adj" fmla="val 16667"/>
            </a:avLst>
          </a:prstGeom>
          <a:solidFill>
            <a:srgbClr val="D9605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l">
              <a:defRPr/>
            </a:pPr>
            <a:endParaRPr lang="en-US" sz="2800">
              <a:solidFill>
                <a:schemeClr val="tx1"/>
              </a:solidFill>
              <a:latin typeface="Roboto"/>
              <a:ea typeface="Roboto"/>
              <a:cs typeface="Roboto"/>
            </a:endParaRPr>
          </a:p>
          <a:p>
            <a:pPr algn="l">
              <a:defRPr/>
            </a:pPr>
            <a:endParaRPr lang="en-US" sz="2800">
              <a:solidFill>
                <a:schemeClr val="tx1"/>
              </a:solidFill>
              <a:latin typeface="Roboto"/>
              <a:ea typeface="Roboto"/>
              <a:cs typeface="Roboto"/>
            </a:endParaRPr>
          </a:p>
          <a:p>
            <a:pPr algn="l">
              <a:defRPr/>
            </a:pPr>
            <a:r>
              <a:rPr lang="en-US" sz="2800">
                <a:solidFill>
                  <a:schemeClr val="tx1"/>
                </a:solidFill>
                <a:latin typeface="Roboto"/>
                <a:ea typeface="Roboto"/>
                <a:cs typeface="Roboto"/>
              </a:rPr>
              <a:t>DECISION</a:t>
            </a:r>
            <a:endParaRPr lang="en-US" sz="2800">
              <a:solidFill>
                <a:schemeClr val="tx1"/>
              </a:solidFill>
              <a:latin typeface="Roboto"/>
              <a:ea typeface="Roboto"/>
              <a:cs typeface="Roboto"/>
            </a:endParaRPr>
          </a:p>
          <a:p>
            <a:pPr algn="l">
              <a:defRPr/>
            </a:pPr>
            <a:endParaRPr sz="1400">
              <a:solidFill>
                <a:schemeClr val="tx1"/>
              </a:solidFill>
              <a:latin typeface="Roboto"/>
              <a:cs typeface="Roboto"/>
            </a:endParaRPr>
          </a:p>
        </p:txBody>
      </p:sp>
      <p:sp>
        <p:nvSpPr>
          <p:cNvPr id="1679010636" name=""/>
          <p:cNvSpPr/>
          <p:nvPr/>
        </p:nvSpPr>
        <p:spPr bwMode="auto">
          <a:xfrm rot="0" flipH="0" flipV="0">
            <a:off x="25662305" y="16316768"/>
            <a:ext cx="2876548" cy="640593"/>
          </a:xfrm>
          <a:prstGeom prst="roundRect">
            <a:avLst>
              <a:gd name="adj" fmla="val 28248"/>
            </a:avLst>
          </a:prstGeom>
          <a:solidFill>
            <a:srgbClr val="ED331B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l">
              <a:defRPr/>
            </a:pPr>
            <a:r>
              <a:rPr lang="en-US" sz="2800">
                <a:latin typeface="Roboto"/>
                <a:ea typeface="Roboto"/>
                <a:cs typeface="Roboto"/>
              </a:rPr>
              <a:t>D1</a:t>
            </a:r>
            <a:endParaRPr sz="2800">
              <a:latin typeface="Roboto"/>
              <a:cs typeface="Roboto"/>
            </a:endParaRPr>
          </a:p>
        </p:txBody>
      </p:sp>
      <p:sp>
        <p:nvSpPr>
          <p:cNvPr id="264636197" name=""/>
          <p:cNvSpPr/>
          <p:nvPr/>
        </p:nvSpPr>
        <p:spPr bwMode="auto">
          <a:xfrm rot="0" flipH="0" flipV="0">
            <a:off x="21200362" y="16345461"/>
            <a:ext cx="2876549" cy="1308365"/>
          </a:xfrm>
          <a:prstGeom prst="roundRect">
            <a:avLst>
              <a:gd name="adj" fmla="val 16667"/>
            </a:avLst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en-US" sz="2800">
              <a:solidFill>
                <a:schemeClr val="tx1"/>
              </a:solidFill>
              <a:latin typeface="Roboto"/>
              <a:ea typeface="Roboto"/>
              <a:cs typeface="Roboto"/>
            </a:endParaRPr>
          </a:p>
          <a:p>
            <a:pPr algn="ctr">
              <a:defRPr/>
            </a:pPr>
            <a:endParaRPr lang="en-US" sz="2800">
              <a:solidFill>
                <a:schemeClr val="tx1"/>
              </a:solidFill>
              <a:latin typeface="Roboto"/>
              <a:ea typeface="Roboto"/>
              <a:cs typeface="Roboto"/>
            </a:endParaRPr>
          </a:p>
          <a:p>
            <a:pPr algn="ctr">
              <a:defRPr/>
            </a:pPr>
            <a:r>
              <a:rPr lang="en-US" sz="2800">
                <a:solidFill>
                  <a:schemeClr val="tx1"/>
                </a:solidFill>
                <a:latin typeface="Roboto"/>
                <a:ea typeface="Roboto"/>
                <a:cs typeface="Roboto"/>
              </a:rPr>
              <a:t>CHECKPOINT</a:t>
            </a:r>
            <a:endParaRPr lang="en-US" sz="2800">
              <a:solidFill>
                <a:schemeClr val="tx1"/>
              </a:solidFill>
              <a:latin typeface="Roboto"/>
              <a:ea typeface="Roboto"/>
              <a:cs typeface="Roboto"/>
            </a:endParaRPr>
          </a:p>
          <a:p>
            <a:pPr algn="ctr">
              <a:defRPr/>
            </a:pPr>
            <a:endParaRPr sz="1400">
              <a:solidFill>
                <a:schemeClr val="tx1"/>
              </a:solidFill>
              <a:latin typeface="Roboto"/>
              <a:cs typeface="Roboto"/>
            </a:endParaRPr>
          </a:p>
        </p:txBody>
      </p:sp>
      <p:sp>
        <p:nvSpPr>
          <p:cNvPr id="563054437" name=""/>
          <p:cNvSpPr/>
          <p:nvPr/>
        </p:nvSpPr>
        <p:spPr bwMode="auto">
          <a:xfrm rot="0" flipH="0" flipV="0">
            <a:off x="21200362" y="16345461"/>
            <a:ext cx="2876548" cy="640593"/>
          </a:xfrm>
          <a:prstGeom prst="roundRect">
            <a:avLst>
              <a:gd name="adj" fmla="val 28248"/>
            </a:avLst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en-US" sz="2800">
                <a:solidFill>
                  <a:schemeClr val="tx1"/>
                </a:solidFill>
                <a:latin typeface="Roboto"/>
                <a:ea typeface="Roboto"/>
                <a:cs typeface="Roboto"/>
              </a:rPr>
              <a:t>CP1</a:t>
            </a:r>
            <a:endParaRPr sz="2800">
              <a:solidFill>
                <a:schemeClr val="tx1"/>
              </a:solidFill>
              <a:latin typeface="Roboto"/>
              <a:cs typeface="Roboto"/>
            </a:endParaRPr>
          </a:p>
        </p:txBody>
      </p:sp>
      <p:sp>
        <p:nvSpPr>
          <p:cNvPr id="1271258850" name=""/>
          <p:cNvSpPr/>
          <p:nvPr/>
        </p:nvSpPr>
        <p:spPr bwMode="auto">
          <a:xfrm rot="0" flipH="0" flipV="0">
            <a:off x="25662305" y="18928562"/>
            <a:ext cx="2876549" cy="1311093"/>
          </a:xfrm>
          <a:prstGeom prst="roundRect">
            <a:avLst>
              <a:gd name="adj" fmla="val 16667"/>
            </a:avLst>
          </a:prstGeom>
          <a:blipFill rotWithShape="1">
            <a:blip r:embed="rId4"/>
            <a:tile/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l">
              <a:defRPr/>
            </a:pPr>
            <a:endParaRPr lang="en-US" sz="2800">
              <a:solidFill>
                <a:schemeClr val="tx1"/>
              </a:solidFill>
              <a:latin typeface="Roboto"/>
              <a:ea typeface="Roboto"/>
              <a:cs typeface="Roboto"/>
            </a:endParaRPr>
          </a:p>
          <a:p>
            <a:pPr algn="l">
              <a:defRPr/>
            </a:pPr>
            <a:endParaRPr lang="en-US" sz="2800">
              <a:solidFill>
                <a:schemeClr val="tx1"/>
              </a:solidFill>
              <a:latin typeface="Roboto"/>
              <a:ea typeface="Roboto"/>
              <a:cs typeface="Roboto"/>
            </a:endParaRPr>
          </a:p>
          <a:p>
            <a:pPr algn="l">
              <a:defRPr/>
            </a:pPr>
            <a:r>
              <a:rPr lang="en-US" sz="2800">
                <a:solidFill>
                  <a:schemeClr val="tx1"/>
                </a:solidFill>
                <a:latin typeface="Roboto"/>
                <a:ea typeface="Roboto"/>
                <a:cs typeface="Roboto"/>
              </a:rPr>
              <a:t>RECEIPT</a:t>
            </a:r>
            <a:endParaRPr lang="en-US" sz="2800">
              <a:solidFill>
                <a:schemeClr val="tx1"/>
              </a:solidFill>
              <a:latin typeface="Roboto"/>
              <a:ea typeface="Roboto"/>
              <a:cs typeface="Roboto"/>
            </a:endParaRPr>
          </a:p>
          <a:p>
            <a:pPr algn="l">
              <a:defRPr/>
            </a:pPr>
            <a:endParaRPr sz="1400">
              <a:solidFill>
                <a:schemeClr val="tx1"/>
              </a:solidFill>
              <a:latin typeface="Roboto"/>
              <a:cs typeface="Roboto"/>
            </a:endParaRPr>
          </a:p>
        </p:txBody>
      </p:sp>
      <p:sp>
        <p:nvSpPr>
          <p:cNvPr id="590121065" name=""/>
          <p:cNvSpPr/>
          <p:nvPr/>
        </p:nvSpPr>
        <p:spPr bwMode="auto">
          <a:xfrm rot="0" flipH="0" flipV="0">
            <a:off x="25662305" y="18928562"/>
            <a:ext cx="2876548" cy="640593"/>
          </a:xfrm>
          <a:prstGeom prst="roundRect">
            <a:avLst>
              <a:gd name="adj" fmla="val 28248"/>
            </a:avLst>
          </a:prstGeom>
          <a:solidFill>
            <a:srgbClr val="F7C864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l">
              <a:defRPr/>
            </a:pPr>
            <a:r>
              <a:rPr lang="en-US" sz="2800">
                <a:solidFill>
                  <a:schemeClr val="tx1"/>
                </a:solidFill>
                <a:latin typeface="Roboto"/>
                <a:cs typeface="Roboto"/>
              </a:rPr>
              <a:t>R2</a:t>
            </a:r>
            <a:endParaRPr sz="2800">
              <a:solidFill>
                <a:schemeClr val="tx1"/>
              </a:solidFill>
              <a:latin typeface="Roboto"/>
              <a:cs typeface="Roboto"/>
            </a:endParaRPr>
          </a:p>
        </p:txBody>
      </p:sp>
      <p:cxnSp>
        <p:nvCxnSpPr>
          <p:cNvPr id="1035250037" name=""/>
          <p:cNvCxnSpPr>
            <a:stCxn id="264636197" idx="3"/>
            <a:endCxn id="1342055441" idx="1"/>
          </p:cNvCxnSpPr>
          <p:nvPr/>
        </p:nvCxnSpPr>
        <p:spPr bwMode="auto">
          <a:xfrm rot="0" flipH="0" flipV="1">
            <a:off x="24076912" y="16992850"/>
            <a:ext cx="1585392" cy="0"/>
          </a:xfrm>
          <a:prstGeom prst="curvedConnector3">
            <a:avLst>
              <a:gd name="adj1" fmla="val 50000"/>
            </a:avLst>
          </a:prstGeom>
          <a:ln w="57150" cap="flat" cmpd="sng" algn="ctr">
            <a:solidFill>
              <a:schemeClr val="accent1">
                <a:shade val="50000"/>
              </a:schemeClr>
            </a:solidFill>
            <a:prstDash val="solid"/>
            <a:miter lim="800000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8145419" name=""/>
          <p:cNvCxnSpPr>
            <a:endCxn id="893624841" idx="1"/>
          </p:cNvCxnSpPr>
          <p:nvPr/>
        </p:nvCxnSpPr>
        <p:spPr bwMode="auto">
          <a:xfrm rot="5400000" flipH="0" flipV="1">
            <a:off x="22162928" y="20648810"/>
            <a:ext cx="1667078" cy="849488"/>
          </a:xfrm>
          <a:prstGeom prst="curvedConnector2">
            <a:avLst/>
          </a:prstGeom>
          <a:ln w="57150" cap="flat" cmpd="sng" algn="ctr">
            <a:solidFill>
              <a:schemeClr val="accent1">
                <a:shade val="50000"/>
              </a:schemeClr>
            </a:solidFill>
            <a:prstDash val="solid"/>
            <a:miter lim="800000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0810416" name=""/>
          <p:cNvCxnSpPr>
            <a:stCxn id="1271258850" idx="2"/>
            <a:endCxn id="893624841" idx="3"/>
          </p:cNvCxnSpPr>
          <p:nvPr/>
        </p:nvCxnSpPr>
        <p:spPr bwMode="auto">
          <a:xfrm rot="5400000" flipH="0" flipV="0">
            <a:off x="25865451" y="20671965"/>
            <a:ext cx="1667438" cy="802818"/>
          </a:xfrm>
          <a:prstGeom prst="curvedConnector2">
            <a:avLst/>
          </a:prstGeom>
          <a:ln w="57150" cap="flat" cmpd="sng" algn="ctr">
            <a:solidFill>
              <a:schemeClr val="accent1">
                <a:shade val="50000"/>
              </a:schemeClr>
            </a:solidFill>
            <a:prstDash val="solid"/>
            <a:miter lim="800000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4375558" name=""/>
          <p:cNvCxnSpPr>
            <a:stCxn id="264636197" idx="2"/>
            <a:endCxn id="839446687" idx="0"/>
          </p:cNvCxnSpPr>
          <p:nvPr/>
        </p:nvCxnSpPr>
        <p:spPr bwMode="auto">
          <a:xfrm rot="5400000" flipH="0" flipV="1">
            <a:off x="22054040" y="18238425"/>
            <a:ext cx="3390044" cy="2220848"/>
          </a:xfrm>
          <a:prstGeom prst="curvedConnector3">
            <a:avLst>
              <a:gd name="adj1" fmla="val 23786"/>
            </a:avLst>
          </a:prstGeom>
          <a:ln w="57150" cap="flat" cmpd="sng" algn="ctr">
            <a:solidFill>
              <a:schemeClr val="accent1">
                <a:shade val="50000"/>
              </a:schemeClr>
            </a:solidFill>
            <a:prstDash val="solid"/>
            <a:miter lim="800000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0519387" name=""/>
          <p:cNvCxnSpPr/>
          <p:nvPr/>
        </p:nvCxnSpPr>
        <p:spPr bwMode="auto">
          <a:xfrm rot="5400000" flipH="0" flipV="0">
            <a:off x="24204126" y="18181268"/>
            <a:ext cx="3540926" cy="2088694"/>
          </a:xfrm>
          <a:prstGeom prst="curvedConnector3">
            <a:avLst>
              <a:gd name="adj1" fmla="val 32226"/>
            </a:avLst>
          </a:prstGeom>
          <a:ln w="57150" cap="flat" cmpd="sng" algn="ctr">
            <a:solidFill>
              <a:schemeClr val="accent1">
                <a:shade val="50000"/>
              </a:schemeClr>
            </a:solidFill>
            <a:prstDash val="solid"/>
            <a:miter lim="800000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77735055" name=""/>
          <p:cNvSpPr/>
          <p:nvPr/>
        </p:nvSpPr>
        <p:spPr bwMode="auto">
          <a:xfrm rot="0" flipH="0" flipV="0">
            <a:off x="21200362" y="24672957"/>
            <a:ext cx="2876549" cy="1726443"/>
          </a:xfrm>
          <a:prstGeom prst="roundRect">
            <a:avLst>
              <a:gd name="adj" fmla="val 16667"/>
            </a:avLst>
          </a:prstGeom>
          <a:solidFill>
            <a:srgbClr val="A1DAE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l">
              <a:defRPr/>
            </a:pPr>
            <a:endParaRPr lang="en-US" sz="2800">
              <a:solidFill>
                <a:schemeClr val="tx1"/>
              </a:solidFill>
              <a:latin typeface="Roboto"/>
              <a:ea typeface="Roboto"/>
              <a:cs typeface="Roboto"/>
            </a:endParaRPr>
          </a:p>
          <a:p>
            <a:pPr algn="l">
              <a:defRPr/>
            </a:pPr>
            <a:endParaRPr lang="en-US" sz="2800">
              <a:solidFill>
                <a:schemeClr val="tx1"/>
              </a:solidFill>
              <a:latin typeface="Roboto"/>
              <a:ea typeface="Roboto"/>
              <a:cs typeface="Roboto"/>
            </a:endParaRPr>
          </a:p>
          <a:p>
            <a:pPr algn="l">
              <a:defRPr/>
            </a:pPr>
            <a:r>
              <a:rPr lang="en-US" sz="2800">
                <a:solidFill>
                  <a:schemeClr val="tx1"/>
                </a:solidFill>
                <a:latin typeface="Roboto"/>
                <a:ea typeface="Roboto"/>
                <a:cs typeface="Roboto"/>
              </a:rPr>
              <a:t>ACTION</a:t>
            </a:r>
            <a:endParaRPr lang="en-US" sz="2800">
              <a:solidFill>
                <a:schemeClr val="tx1"/>
              </a:solidFill>
              <a:latin typeface="Roboto"/>
              <a:ea typeface="Roboto"/>
              <a:cs typeface="Roboto"/>
            </a:endParaRPr>
          </a:p>
          <a:p>
            <a:pPr algn="l">
              <a:defRPr/>
            </a:pPr>
            <a:r>
              <a:rPr lang="ru-RU" sz="2800">
                <a:solidFill>
                  <a:schemeClr val="tx1"/>
                </a:solidFill>
                <a:latin typeface="Roboto"/>
                <a:ea typeface="Roboto"/>
                <a:cs typeface="Roboto"/>
              </a:rPr>
              <a:t>Автор: </a:t>
            </a:r>
            <a:r>
              <a:rPr lang="en-US" sz="2800">
                <a:solidFill>
                  <a:schemeClr val="tx1"/>
                </a:solidFill>
                <a:latin typeface="Roboto"/>
                <a:ea typeface="Roboto"/>
                <a:cs typeface="Roboto"/>
              </a:rPr>
              <a:t>DID_A</a:t>
            </a:r>
            <a:endParaRPr lang="en-US" sz="2800">
              <a:solidFill>
                <a:schemeClr val="tx1"/>
              </a:solidFill>
              <a:latin typeface="Roboto"/>
              <a:ea typeface="Roboto"/>
              <a:cs typeface="Roboto"/>
            </a:endParaRPr>
          </a:p>
          <a:p>
            <a:pPr algn="l">
              <a:defRPr/>
            </a:pPr>
            <a:endParaRPr sz="1400">
              <a:solidFill>
                <a:schemeClr val="tx1"/>
              </a:solidFill>
              <a:latin typeface="Roboto"/>
              <a:cs typeface="Roboto"/>
            </a:endParaRPr>
          </a:p>
        </p:txBody>
      </p:sp>
      <p:sp>
        <p:nvSpPr>
          <p:cNvPr id="695073650" name=""/>
          <p:cNvSpPr/>
          <p:nvPr/>
        </p:nvSpPr>
        <p:spPr bwMode="auto">
          <a:xfrm rot="0" flipH="0" flipV="0">
            <a:off x="21200362" y="24672957"/>
            <a:ext cx="2876548" cy="640593"/>
          </a:xfrm>
          <a:prstGeom prst="roundRect">
            <a:avLst>
              <a:gd name="adj" fmla="val 28248"/>
            </a:avLst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l">
              <a:defRPr/>
            </a:pPr>
            <a:r>
              <a:rPr lang="en-US" sz="2800">
                <a:latin typeface="Roboto"/>
                <a:ea typeface="Roboto"/>
                <a:cs typeface="Roboto"/>
              </a:rPr>
              <a:t>A1</a:t>
            </a:r>
            <a:endParaRPr sz="2800">
              <a:latin typeface="Roboto"/>
              <a:cs typeface="Roboto"/>
            </a:endParaRPr>
          </a:p>
        </p:txBody>
      </p:sp>
      <p:cxnSp>
        <p:nvCxnSpPr>
          <p:cNvPr id="60343735" name=""/>
          <p:cNvCxnSpPr>
            <a:stCxn id="893624841" idx="2"/>
            <a:endCxn id="1946057736" idx="1"/>
          </p:cNvCxnSpPr>
          <p:nvPr/>
        </p:nvCxnSpPr>
        <p:spPr bwMode="auto">
          <a:xfrm rot="5400000" flipH="0" flipV="1">
            <a:off x="24707265" y="22922537"/>
            <a:ext cx="1511239" cy="1206797"/>
          </a:xfrm>
          <a:prstGeom prst="curvedConnector2">
            <a:avLst/>
          </a:prstGeom>
          <a:ln w="57150" cap="flat" cmpd="sng" algn="ctr">
            <a:solidFill>
              <a:schemeClr val="accent1">
                <a:shade val="50000"/>
              </a:schemeClr>
            </a:solidFill>
            <a:prstDash val="solid"/>
            <a:miter lim="800000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4776259" name=""/>
          <p:cNvCxnSpPr>
            <a:stCxn id="893624841" idx="2"/>
            <a:endCxn id="695073650" idx="0"/>
          </p:cNvCxnSpPr>
          <p:nvPr/>
        </p:nvCxnSpPr>
        <p:spPr bwMode="auto">
          <a:xfrm rot="5400000" flipH="0" flipV="0">
            <a:off x="22797741" y="22611212"/>
            <a:ext cx="1902640" cy="2220849"/>
          </a:xfrm>
          <a:prstGeom prst="curvedConnector3">
            <a:avLst>
              <a:gd name="adj1" fmla="val 50000"/>
            </a:avLst>
          </a:prstGeom>
          <a:ln w="57150" cap="flat" cmpd="sng" algn="ctr">
            <a:solidFill>
              <a:schemeClr val="accent1">
                <a:shade val="50000"/>
              </a:schemeClr>
            </a:solidFill>
            <a:prstDash val="solid"/>
            <a:miter lim="800000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513709" name=""/>
          <p:cNvCxnSpPr>
            <a:stCxn id="1946057736" idx="2"/>
          </p:cNvCxnSpPr>
          <p:nvPr/>
        </p:nvCxnSpPr>
        <p:spPr bwMode="auto">
          <a:xfrm rot="5400000" flipH="0" flipV="0">
            <a:off x="25533819" y="23720288"/>
            <a:ext cx="546249" cy="3395229"/>
          </a:xfrm>
          <a:prstGeom prst="curvedConnector2">
            <a:avLst/>
          </a:prstGeom>
          <a:ln w="57150" cap="flat" cmpd="sng" algn="ctr">
            <a:solidFill>
              <a:schemeClr val="accent1">
                <a:shade val="50000"/>
              </a:schemeClr>
            </a:solidFill>
            <a:prstDash val="solid"/>
            <a:miter lim="800000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76558395" name=""/>
          <p:cNvSpPr txBox="1"/>
          <p:nvPr/>
        </p:nvSpPr>
        <p:spPr bwMode="auto">
          <a:xfrm rot="0" flipH="0" flipV="0">
            <a:off x="23266444" y="23220110"/>
            <a:ext cx="1326012" cy="5185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2800">
                <a:latin typeface="Roboto"/>
                <a:ea typeface="Roboto"/>
                <a:cs typeface="Roboto"/>
              </a:rPr>
              <a:t>self</a:t>
            </a:r>
            <a:endParaRPr sz="2800">
              <a:latin typeface="Roboto"/>
              <a:cs typeface="Roboto"/>
            </a:endParaRPr>
          </a:p>
        </p:txBody>
      </p:sp>
      <p:sp>
        <p:nvSpPr>
          <p:cNvPr id="1505732284" name=""/>
          <p:cNvSpPr txBox="1"/>
          <p:nvPr/>
        </p:nvSpPr>
        <p:spPr bwMode="auto">
          <a:xfrm rot="0" flipH="0" flipV="0">
            <a:off x="24363100" y="25134723"/>
            <a:ext cx="1619643" cy="5185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2800">
                <a:latin typeface="Roboto"/>
                <a:ea typeface="Roboto"/>
                <a:cs typeface="Roboto"/>
              </a:rPr>
              <a:t>context</a:t>
            </a:r>
            <a:endParaRPr sz="2800">
              <a:latin typeface="Roboto"/>
              <a:cs typeface="Roboto"/>
            </a:endParaRPr>
          </a:p>
        </p:txBody>
      </p:sp>
      <p:sp>
        <p:nvSpPr>
          <p:cNvPr id="733433514" name=""/>
          <p:cNvSpPr txBox="1"/>
          <p:nvPr/>
        </p:nvSpPr>
        <p:spPr bwMode="auto">
          <a:xfrm rot="0" flipH="0" flipV="0">
            <a:off x="24930243" y="22928039"/>
            <a:ext cx="1622523" cy="5185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2800">
                <a:latin typeface="Roboto"/>
                <a:ea typeface="Roboto"/>
                <a:cs typeface="Roboto"/>
              </a:rPr>
              <a:t>anchor</a:t>
            </a:r>
            <a:endParaRPr sz="2800">
              <a:latin typeface="Roboto"/>
              <a:cs typeface="Roboto"/>
            </a:endParaRPr>
          </a:p>
        </p:txBody>
      </p:sp>
      <p:sp>
        <p:nvSpPr>
          <p:cNvPr id="352913174" name="Shape 28"/>
          <p:cNvSpPr/>
          <p:nvPr/>
        </p:nvSpPr>
        <p:spPr bwMode="auto">
          <a:xfrm rot="17697684" flipH="1" flipV="0">
            <a:off x="25964974" y="20954212"/>
            <a:ext cx="2675190" cy="1690870"/>
          </a:xfrm>
          <a:prstGeom prst="line">
            <a:avLst/>
          </a:prstGeom>
          <a:noFill/>
          <a:ln w="57150">
            <a:solidFill>
              <a:srgbClr val="355792"/>
            </a:solidFill>
            <a:prstDash val="solid"/>
            <a:tailEnd type="triangle"/>
          </a:ln>
        </p:spPr>
      </p:sp>
      <p:sp>
        <p:nvSpPr>
          <p:cNvPr id="399470489" name="Text 97"/>
          <p:cNvSpPr/>
          <p:nvPr/>
        </p:nvSpPr>
        <p:spPr bwMode="auto">
          <a:xfrm flipH="0" flipV="0">
            <a:off x="1325389" y="12302951"/>
            <a:ext cx="8284887" cy="2366812"/>
          </a:xfrm>
          <a:prstGeom prst="rect">
            <a:avLst/>
          </a:prstGeom>
          <a:noFill/>
          <a:ln/>
        </p:spPr>
        <p:txBody>
          <a:bodyPr vertOverflow="overflow" horzOverflow="overflow" vert="horz" wrap="square" lIns="760" tIns="760" rIns="760" bIns="760" numCol="1" spcCol="0" rtlCol="0" fromWordArt="0" anchor="t" anchorCtr="0" forceAA="0" upright="0" compatLnSpc="0">
            <a:normAutofit/>
          </a:bodyPr>
          <a:lstStyle/>
          <a:p>
            <a:pPr marL="0" indent="0" algn="l">
              <a:buNone/>
              <a:defRPr/>
            </a:pPr>
            <a:endParaRPr sz="1200" b="1">
              <a:latin typeface="Roboto"/>
              <a:cs typeface="Roboto"/>
            </a:endParaRPr>
          </a:p>
          <a:p>
            <a:pPr marL="0" indent="0" algn="l">
              <a:buNone/>
              <a:defRPr/>
            </a:pPr>
            <a:r>
              <a:rPr lang="ru-RU" sz="3200" b="1" i="0" u="none" strike="noStrike" cap="none" spc="0">
                <a:solidFill>
                  <a:srgbClr val="0F172A"/>
                </a:solidFill>
                <a:latin typeface="Roboto"/>
                <a:ea typeface="Roboto"/>
                <a:cs typeface="Roboto"/>
              </a:rPr>
              <a:t>Web3-подход</a:t>
            </a:r>
            <a:r>
              <a:rPr lang="ru-RU" sz="3200" b="0" i="0" u="none" strike="noStrike" cap="none" spc="0">
                <a:solidFill>
                  <a:srgbClr val="0F172A"/>
                </a:solidFill>
                <a:latin typeface="Roboto"/>
                <a:ea typeface="Roboto"/>
                <a:cs typeface="Roboto"/>
              </a:rPr>
              <a:t> переводит взаимодействие в p2p-среду, снижает зависимость от центра и делает инфраструктуру устойчивее к отказам и захвату контроля. </a:t>
            </a:r>
            <a:endParaRPr lang="ru-RU" sz="3200" b="0" i="0" u="none" strike="noStrike" cap="none" spc="0">
              <a:solidFill>
                <a:srgbClr val="0F172A"/>
              </a:solidFill>
              <a:latin typeface="Times New Roman"/>
              <a:cs typeface="Times New Roman"/>
            </a:endParaRPr>
          </a:p>
          <a:p>
            <a:pPr algn="l">
              <a:defRPr/>
            </a:pPr>
            <a:endParaRPr/>
          </a:p>
        </p:txBody>
      </p:sp>
      <p:sp>
        <p:nvSpPr>
          <p:cNvPr id="155786299" name="Text 97"/>
          <p:cNvSpPr/>
          <p:nvPr/>
        </p:nvSpPr>
        <p:spPr bwMode="auto">
          <a:xfrm flipH="0" flipV="0">
            <a:off x="1363447" y="5348001"/>
            <a:ext cx="8284887" cy="5700143"/>
          </a:xfrm>
          <a:prstGeom prst="rect">
            <a:avLst/>
          </a:prstGeom>
          <a:noFill/>
          <a:ln/>
        </p:spPr>
        <p:txBody>
          <a:bodyPr wrap="square" lIns="760" tIns="760" rIns="760" bIns="760" rtlCol="0" anchor="t">
            <a:normAutofit/>
          </a:bodyPr>
          <a:lstStyle/>
          <a:p>
            <a:pPr marL="0" indent="0" algn="l">
              <a:buNone/>
              <a:defRPr/>
            </a:pPr>
            <a:r>
              <a:rPr lang="ru-RU" sz="3200" b="0" i="0" u="none" strike="noStrike" cap="none" spc="0">
                <a:solidFill>
                  <a:srgbClr val="0F172A"/>
                </a:solidFill>
                <a:latin typeface="Roboto"/>
                <a:ea typeface="Roboto"/>
                <a:cs typeface="Roboto"/>
              </a:rPr>
              <a:t>Сегодня интернет </a:t>
            </a:r>
            <a:r>
              <a:rPr lang="ru-RU" sz="3200" b="1" i="0" u="none" strike="noStrike" cap="none" spc="0">
                <a:solidFill>
                  <a:srgbClr val="0F172A"/>
                </a:solidFill>
                <a:latin typeface="Roboto"/>
                <a:ea typeface="Roboto"/>
                <a:cs typeface="Roboto"/>
              </a:rPr>
              <a:t>централизован</a:t>
            </a:r>
            <a:r>
              <a:rPr lang="ru-RU" sz="3200" b="0" i="0" u="none" strike="noStrike" cap="none" spc="0">
                <a:solidFill>
                  <a:srgbClr val="0F172A"/>
                </a:solidFill>
                <a:latin typeface="Roboto"/>
                <a:ea typeface="Roboto"/>
                <a:cs typeface="Roboto"/>
              </a:rPr>
              <a:t>: сервер хранит данные, управляет доступом и маршрутизацией.</a:t>
            </a:r>
            <a:endParaRPr sz="3200">
              <a:latin typeface="Roboto"/>
              <a:cs typeface="Roboto"/>
            </a:endParaRPr>
          </a:p>
          <a:p>
            <a:pPr marL="0" indent="0" algn="l">
              <a:buNone/>
              <a:defRPr/>
            </a:pPr>
            <a:r>
              <a:rPr lang="ru-RU" sz="3200" b="1" i="0" u="none" strike="noStrike" cap="none" spc="0">
                <a:solidFill>
                  <a:srgbClr val="0F172A"/>
                </a:solidFill>
                <a:latin typeface="Roboto"/>
                <a:ea typeface="Roboto"/>
                <a:cs typeface="Roboto"/>
              </a:rPr>
              <a:t>Минусы централизации:</a:t>
            </a:r>
            <a:endParaRPr sz="3200">
              <a:latin typeface="Roboto"/>
              <a:cs typeface="Roboto"/>
            </a:endParaRPr>
          </a:p>
          <a:p>
            <a:pPr marL="400050" lvl="1" indent="0" algn="l">
              <a:buNone/>
              <a:defRPr/>
            </a:pPr>
            <a:r>
              <a:rPr lang="ru-RU" sz="3200" b="0" i="0" u="none" strike="noStrike" cap="none" spc="0">
                <a:solidFill>
                  <a:srgbClr val="0F172A"/>
                </a:solidFill>
                <a:latin typeface="Roboto"/>
                <a:ea typeface="Roboto"/>
                <a:cs typeface="Roboto"/>
              </a:rPr>
              <a:t>• единая точка отказа</a:t>
            </a:r>
            <a:r>
              <a:rPr lang="en-US" sz="3200" b="0" i="0" u="none" strike="noStrike" cap="none" spc="0">
                <a:solidFill>
                  <a:srgbClr val="0F172A"/>
                </a:solidFill>
                <a:latin typeface="Roboto"/>
                <a:ea typeface="Roboto"/>
                <a:cs typeface="Roboto"/>
              </a:rPr>
              <a:t>;</a:t>
            </a:r>
            <a:endParaRPr sz="3200">
              <a:latin typeface="Roboto"/>
              <a:cs typeface="Roboto"/>
            </a:endParaRPr>
          </a:p>
          <a:p>
            <a:pPr marL="400050" lvl="1" indent="0" algn="l">
              <a:buNone/>
              <a:defRPr/>
            </a:pPr>
            <a:r>
              <a:rPr lang="ru-RU" sz="3200" b="0" i="0" u="none" strike="noStrike" cap="none" spc="0">
                <a:solidFill>
                  <a:srgbClr val="0F172A"/>
                </a:solidFill>
                <a:latin typeface="Roboto"/>
                <a:ea typeface="Roboto"/>
                <a:cs typeface="Roboto"/>
              </a:rPr>
              <a:t>• утечки и компрометация данных</a:t>
            </a:r>
            <a:r>
              <a:rPr lang="en-US" sz="3200" b="0" i="0" u="none" strike="noStrike" cap="none" spc="0">
                <a:solidFill>
                  <a:srgbClr val="0F172A"/>
                </a:solidFill>
                <a:latin typeface="Roboto"/>
                <a:ea typeface="Roboto"/>
                <a:cs typeface="Roboto"/>
              </a:rPr>
              <a:t>;</a:t>
            </a:r>
            <a:endParaRPr sz="3200">
              <a:latin typeface="Roboto"/>
              <a:cs typeface="Roboto"/>
            </a:endParaRPr>
          </a:p>
          <a:p>
            <a:pPr marL="400050" lvl="1" indent="0" algn="l">
              <a:buNone/>
              <a:defRPr/>
            </a:pPr>
            <a:r>
              <a:rPr lang="ru-RU" sz="3200" b="0" i="0" u="none" strike="noStrike" cap="none" spc="0">
                <a:solidFill>
                  <a:srgbClr val="0F172A"/>
                </a:solidFill>
                <a:latin typeface="Roboto"/>
                <a:ea typeface="Roboto"/>
                <a:cs typeface="Roboto"/>
              </a:rPr>
              <a:t>• зависимость от платформы</a:t>
            </a:r>
            <a:r>
              <a:rPr lang="en-US" sz="3200" b="0" i="0" u="none" strike="noStrike" cap="none" spc="0">
                <a:solidFill>
                  <a:srgbClr val="0F172A"/>
                </a:solidFill>
                <a:latin typeface="Roboto"/>
                <a:ea typeface="Roboto"/>
                <a:cs typeface="Roboto"/>
              </a:rPr>
              <a:t>;</a:t>
            </a:r>
            <a:endParaRPr sz="3200">
              <a:latin typeface="Roboto"/>
              <a:cs typeface="Roboto"/>
            </a:endParaRPr>
          </a:p>
          <a:p>
            <a:pPr marL="400050" lvl="1" indent="0" algn="l">
              <a:buNone/>
              <a:defRPr/>
            </a:pPr>
            <a:r>
              <a:rPr lang="ru-RU" sz="3200" b="0" i="0" u="none" strike="noStrike" cap="none" spc="0">
                <a:solidFill>
                  <a:srgbClr val="0F172A"/>
                </a:solidFill>
                <a:latin typeface="Roboto"/>
                <a:ea typeface="Roboto"/>
                <a:cs typeface="Roboto"/>
              </a:rPr>
              <a:t>• риски MITM и подмены</a:t>
            </a:r>
            <a:r>
              <a:rPr lang="en-US" sz="3200" b="0" i="0" u="none" strike="noStrike" cap="none" spc="0">
                <a:solidFill>
                  <a:srgbClr val="0F172A"/>
                </a:solidFill>
                <a:latin typeface="Roboto"/>
                <a:ea typeface="Roboto"/>
                <a:cs typeface="Roboto"/>
              </a:rPr>
              <a:t>.</a:t>
            </a:r>
            <a:endParaRPr sz="3200">
              <a:latin typeface="Roboto"/>
              <a:cs typeface="Roboto"/>
            </a:endParaRPr>
          </a:p>
          <a:p>
            <a:pPr algn="l">
              <a:defRPr/>
            </a:pPr>
            <a:endParaRPr/>
          </a:p>
        </p:txBody>
      </p:sp>
      <p:sp>
        <p:nvSpPr>
          <p:cNvPr id="1882100490" name="Text 97"/>
          <p:cNvSpPr/>
          <p:nvPr/>
        </p:nvSpPr>
        <p:spPr bwMode="auto">
          <a:xfrm flipH="0" flipV="0">
            <a:off x="10981418" y="12221053"/>
            <a:ext cx="8284887" cy="2547136"/>
          </a:xfrm>
          <a:prstGeom prst="rect">
            <a:avLst/>
          </a:prstGeom>
          <a:noFill/>
          <a:ln/>
        </p:spPr>
        <p:txBody>
          <a:bodyPr vertOverflow="overflow" horzOverflow="overflow" vert="horz" wrap="square" lIns="760" tIns="760" rIns="760" bIns="760" numCol="1" spcCol="0" rtlCol="0" fromWordArt="0" anchor="t" anchorCtr="0" forceAA="0" upright="0" compatLnSpc="0">
            <a:normAutofit/>
          </a:bodyPr>
          <a:lstStyle/>
          <a:p>
            <a:pPr algn="l">
              <a:defRPr/>
            </a:pPr>
            <a:endParaRPr sz="1200">
              <a:latin typeface="Roboto"/>
              <a:cs typeface="Roboto"/>
            </a:endParaRPr>
          </a:p>
          <a:p>
            <a:pPr algn="l">
              <a:defRPr/>
            </a:pPr>
            <a:r>
              <a:rPr lang="ru-RU" sz="3200" b="0" i="0" u="none" strike="noStrike" cap="none" spc="0">
                <a:solidFill>
                  <a:srgbClr val="000000"/>
                </a:solidFill>
                <a:latin typeface="Roboto"/>
                <a:ea typeface="Roboto"/>
                <a:cs typeface="Roboto"/>
              </a:rPr>
              <a:t>Архитектура построена по </a:t>
            </a:r>
            <a:r>
              <a:rPr lang="ru-RU" sz="3200" b="1" i="0" u="none" strike="noStrike" cap="none" spc="0">
                <a:solidFill>
                  <a:srgbClr val="000000"/>
                </a:solidFill>
                <a:latin typeface="Roboto"/>
                <a:ea typeface="Roboto"/>
                <a:cs typeface="Roboto"/>
              </a:rPr>
              <a:t>модульному </a:t>
            </a:r>
            <a:r>
              <a:rPr lang="ru-RU" sz="3200" b="0" i="0" u="none" strike="noStrike" cap="none" spc="0">
                <a:solidFill>
                  <a:srgbClr val="000000"/>
                </a:solidFill>
                <a:latin typeface="Roboto"/>
                <a:ea typeface="Roboto"/>
                <a:cs typeface="Roboto"/>
              </a:rPr>
              <a:t>принципу, обеспечивая </a:t>
            </a:r>
            <a:r>
              <a:rPr lang="ru-RU" sz="3200" b="0" i="0" u="none" strike="noStrike" cap="none" spc="0">
                <a:solidFill>
                  <a:srgbClr val="000000"/>
                </a:solidFill>
                <a:latin typeface="Roboto"/>
                <a:ea typeface="Roboto"/>
                <a:cs typeface="Roboto"/>
              </a:rPr>
              <a:t>расширяемость </a:t>
            </a:r>
            <a:br>
              <a:rPr lang="ru-RU" sz="3200" b="0" i="0" u="none" strike="noStrike" cap="none" spc="0">
                <a:solidFill>
                  <a:srgbClr val="000000"/>
                </a:solidFill>
                <a:latin typeface="Roboto"/>
                <a:ea typeface="Roboto"/>
                <a:cs typeface="Roboto"/>
              </a:rPr>
            </a:br>
            <a:r>
              <a:rPr lang="ru-RU" sz="3200" b="0" i="0" u="none" strike="noStrike" cap="none" spc="0">
                <a:solidFill>
                  <a:srgbClr val="000000"/>
                </a:solidFill>
                <a:latin typeface="Roboto"/>
                <a:ea typeface="Roboto"/>
                <a:cs typeface="Roboto"/>
              </a:rPr>
              <a:t>и масштабируемость системы.</a:t>
            </a:r>
            <a:r>
              <a:rPr lang="ru-RU" sz="3200" b="0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 </a:t>
            </a:r>
            <a:r>
              <a:rPr lang="ru-RU" sz="3200" b="0" i="0" u="none" strike="noStrike" cap="none" spc="0">
                <a:solidFill>
                  <a:srgbClr val="000000"/>
                </a:solidFill>
                <a:latin typeface="Roboto"/>
                <a:ea typeface="Roboto"/>
                <a:cs typeface="Roboto"/>
              </a:rPr>
              <a:t>Узел объединяет DID, DHT и DAG</a:t>
            </a:r>
            <a:r>
              <a:rPr lang="ru-RU" sz="3200" b="0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.</a:t>
            </a:r>
            <a:endParaRPr lang="ru-RU" sz="32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 algn="l">
              <a:defRPr/>
            </a:pPr>
            <a:endParaRPr/>
          </a:p>
        </p:txBody>
      </p:sp>
      <p:sp>
        <p:nvSpPr>
          <p:cNvPr id="1420096807" name="Text 97"/>
          <p:cNvSpPr/>
          <p:nvPr/>
        </p:nvSpPr>
        <p:spPr bwMode="auto">
          <a:xfrm flipH="0" flipV="0">
            <a:off x="10907946" y="16319618"/>
            <a:ext cx="8284887" cy="8266123"/>
          </a:xfrm>
          <a:prstGeom prst="rect">
            <a:avLst/>
          </a:prstGeom>
          <a:noFill/>
          <a:ln/>
        </p:spPr>
        <p:txBody>
          <a:bodyPr vertOverflow="overflow" horzOverflow="overflow" vert="horz" wrap="square" lIns="760" tIns="760" rIns="760" bIns="760" numCol="1" spcCol="0" rtlCol="0" fromWordArt="0" anchor="t" anchorCtr="0" forceAA="0" upright="0" compatLnSpc="0">
            <a:normAutofit/>
          </a:bodyPr>
          <a:lstStyle/>
          <a:p>
            <a:pPr marL="0" indent="0">
              <a:buNone/>
              <a:defRPr/>
            </a:pPr>
            <a:r>
              <a:rPr lang="ru-RU" sz="3200" b="1" i="0" u="none" strike="noStrike" cap="none" spc="0">
                <a:solidFill>
                  <a:srgbClr val="0F172A"/>
                </a:solidFill>
                <a:latin typeface="Roboto"/>
                <a:ea typeface="Roboto"/>
                <a:cs typeface="Roboto"/>
              </a:rPr>
              <a:t>Цель:</a:t>
            </a:r>
            <a:r>
              <a:rPr lang="ru-RU" sz="3200" b="0" i="0" u="none" strike="noStrike" cap="none" spc="0">
                <a:solidFill>
                  <a:srgbClr val="0F172A"/>
                </a:solidFill>
                <a:latin typeface="Roboto"/>
                <a:ea typeface="Roboto"/>
                <a:cs typeface="Roboto"/>
              </a:rPr>
              <a:t> разработать архитектуру P2P-сети для пользовательской идентификации и dApps без центрального сервера.</a:t>
            </a:r>
            <a:endParaRPr sz="3200">
              <a:latin typeface="Roboto"/>
              <a:cs typeface="Roboto"/>
            </a:endParaRPr>
          </a:p>
          <a:p>
            <a:pPr marL="0" indent="0">
              <a:buNone/>
              <a:defRPr/>
            </a:pPr>
            <a:endParaRPr sz="1200">
              <a:latin typeface="Roboto"/>
              <a:cs typeface="Roboto"/>
            </a:endParaRPr>
          </a:p>
          <a:p>
            <a:pPr marL="0" indent="0">
              <a:buNone/>
              <a:defRPr/>
            </a:pPr>
            <a:r>
              <a:rPr lang="ru-RU" sz="3200" b="1" i="0" u="none" strike="noStrike" cap="none" spc="0">
                <a:solidFill>
                  <a:srgbClr val="0F172A"/>
                </a:solidFill>
                <a:latin typeface="Roboto"/>
                <a:ea typeface="Roboto"/>
                <a:cs typeface="Roboto"/>
              </a:rPr>
              <a:t>Задачи:</a:t>
            </a:r>
            <a:endParaRPr sz="3200">
              <a:latin typeface="Roboto"/>
              <a:cs typeface="Roboto"/>
            </a:endParaRPr>
          </a:p>
          <a:p>
            <a:pPr marL="400050" lvl="1" indent="0">
              <a:buNone/>
              <a:defRPr/>
            </a:pPr>
            <a:r>
              <a:rPr lang="ru-RU" sz="3200" b="0" i="0" u="none" strike="noStrike" cap="none" spc="0">
                <a:solidFill>
                  <a:srgbClr val="0F172A"/>
                </a:solidFill>
                <a:latin typeface="Roboto"/>
                <a:ea typeface="Roboto"/>
                <a:cs typeface="Roboto"/>
              </a:rPr>
              <a:t>• DID-идентификация;</a:t>
            </a:r>
            <a:endParaRPr sz="3200">
              <a:latin typeface="Roboto"/>
              <a:cs typeface="Roboto"/>
            </a:endParaRPr>
          </a:p>
          <a:p>
            <a:pPr marL="400050" lvl="1" indent="0">
              <a:buNone/>
              <a:defRPr/>
            </a:pPr>
            <a:r>
              <a:rPr lang="ru-RU" sz="3200" b="0" i="0" u="none" strike="noStrike" cap="none" spc="0">
                <a:solidFill>
                  <a:srgbClr val="0F172A"/>
                </a:solidFill>
                <a:latin typeface="Roboto"/>
                <a:ea typeface="Roboto"/>
                <a:cs typeface="Roboto"/>
              </a:rPr>
              <a:t>• поиск узлов через DHT;</a:t>
            </a:r>
            <a:endParaRPr sz="3200">
              <a:latin typeface="Roboto"/>
              <a:cs typeface="Roboto"/>
            </a:endParaRPr>
          </a:p>
          <a:p>
            <a:pPr marL="400050" lvl="1" indent="0">
              <a:buNone/>
              <a:defRPr/>
            </a:pPr>
            <a:r>
              <a:rPr lang="ru-RU" sz="3200" b="0" i="0" u="none" strike="noStrike" cap="none" spc="0">
                <a:solidFill>
                  <a:srgbClr val="0F172A"/>
                </a:solidFill>
                <a:latin typeface="Roboto"/>
                <a:ea typeface="Roboto"/>
                <a:cs typeface="Roboto"/>
              </a:rPr>
              <a:t>• DAG-хранение событий;</a:t>
            </a:r>
            <a:endParaRPr sz="3200">
              <a:latin typeface="Roboto"/>
              <a:cs typeface="Roboto"/>
            </a:endParaRPr>
          </a:p>
          <a:p>
            <a:pPr marL="400050" lvl="1" indent="0">
              <a:buNone/>
              <a:defRPr/>
            </a:pPr>
            <a:r>
              <a:rPr lang="ru-RU" sz="3200" b="0" i="0" u="none" strike="noStrike" cap="none" spc="0">
                <a:solidFill>
                  <a:srgbClr val="0F172A"/>
                </a:solidFill>
                <a:latin typeface="Roboto"/>
                <a:ea typeface="Roboto"/>
                <a:cs typeface="Roboto"/>
              </a:rPr>
              <a:t>• разработка WIDAG;</a:t>
            </a:r>
            <a:endParaRPr sz="3200">
              <a:latin typeface="Roboto"/>
              <a:cs typeface="Roboto"/>
            </a:endParaRPr>
          </a:p>
          <a:p>
            <a:pPr marL="400050" lvl="1" indent="0">
              <a:buNone/>
              <a:defRPr/>
            </a:pPr>
            <a:r>
              <a:rPr lang="ru-RU" sz="3200" b="0" i="0" u="none" strike="noStrike" cap="none" spc="0">
                <a:solidFill>
                  <a:srgbClr val="0F172A"/>
                </a:solidFill>
                <a:latin typeface="Roboto"/>
                <a:ea typeface="Roboto"/>
                <a:cs typeface="Roboto"/>
              </a:rPr>
              <a:t>• прототип и тестирование.</a:t>
            </a:r>
            <a:endParaRPr sz="3200">
              <a:latin typeface="Roboto"/>
              <a:cs typeface="Roboto"/>
            </a:endParaRPr>
          </a:p>
          <a:p>
            <a:pPr marL="0" indent="0">
              <a:buNone/>
              <a:defRPr/>
            </a:pPr>
            <a:endParaRPr sz="1200">
              <a:latin typeface="Roboto"/>
              <a:cs typeface="Roboto"/>
            </a:endParaRPr>
          </a:p>
          <a:p>
            <a:pPr marL="0" indent="0">
              <a:buNone/>
              <a:defRPr/>
            </a:pPr>
            <a:r>
              <a:rPr lang="ru-RU" sz="3200" b="1" i="0" u="none" strike="noStrike" cap="none" spc="0">
                <a:solidFill>
                  <a:srgbClr val="0F172A"/>
                </a:solidFill>
                <a:latin typeface="Roboto"/>
                <a:ea typeface="Roboto"/>
                <a:cs typeface="Roboto"/>
              </a:rPr>
              <a:t>Модель угроз:</a:t>
            </a:r>
            <a:endParaRPr lang="en-US" sz="3200" b="1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 marL="400050" lvl="1" indent="0">
              <a:buNone/>
              <a:defRPr/>
            </a:pPr>
            <a:r>
              <a:rPr lang="ru-RU" sz="3200" b="0" i="0" u="none" strike="noStrike" cap="none" spc="0">
                <a:solidFill>
                  <a:srgbClr val="0F172A"/>
                </a:solidFill>
                <a:latin typeface="Roboto"/>
                <a:ea typeface="Roboto"/>
                <a:cs typeface="Roboto"/>
              </a:rPr>
              <a:t>• </a:t>
            </a:r>
            <a:r>
              <a:rPr lang="ru-RU" sz="3200" b="0" i="0" u="none" strike="noStrike" cap="none" spc="0">
                <a:solidFill>
                  <a:srgbClr val="0F172A"/>
                </a:solidFill>
                <a:latin typeface="Roboto"/>
                <a:ea typeface="Roboto"/>
                <a:cs typeface="Roboto"/>
              </a:rPr>
              <a:t>частичная недоступность узлов</a:t>
            </a:r>
            <a:r>
              <a:rPr lang="ru-RU" sz="3200" b="0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;</a:t>
            </a:r>
            <a:endParaRPr lang="ru-RU" sz="32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 marL="400050" lvl="1" indent="0">
              <a:buNone/>
              <a:defRPr/>
            </a:pPr>
            <a:r>
              <a:rPr lang="ru-RU" sz="3200" b="0" i="0" u="none" strike="noStrike" cap="none" spc="0">
                <a:solidFill>
                  <a:srgbClr val="0F172A"/>
                </a:solidFill>
                <a:latin typeface="Roboto"/>
                <a:ea typeface="Roboto"/>
                <a:cs typeface="Roboto"/>
              </a:rPr>
              <a:t>• </a:t>
            </a:r>
            <a:r>
              <a:rPr lang="ru-RU" sz="3200" b="0" i="0" u="none" strike="noStrike" cap="none" spc="0">
                <a:solidFill>
                  <a:srgbClr val="0F172A"/>
                </a:solidFill>
                <a:latin typeface="Roboto"/>
                <a:ea typeface="Roboto"/>
                <a:cs typeface="Roboto"/>
              </a:rPr>
              <a:t>ложные данные</a:t>
            </a:r>
            <a:r>
              <a:rPr lang="en-US" sz="3200" b="0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;</a:t>
            </a:r>
            <a:endParaRPr sz="3200">
              <a:latin typeface="Roboto"/>
              <a:cs typeface="Roboto"/>
            </a:endParaRPr>
          </a:p>
          <a:p>
            <a:pPr marL="400050" lvl="1" indent="0">
              <a:buNone/>
              <a:defRPr/>
            </a:pPr>
            <a:r>
              <a:rPr lang="ru-RU" sz="3200" b="0" i="0" u="none" strike="noStrike" cap="none" spc="0">
                <a:solidFill>
                  <a:srgbClr val="0F172A"/>
                </a:solidFill>
                <a:latin typeface="Roboto"/>
                <a:ea typeface="Roboto"/>
                <a:cs typeface="Roboto"/>
              </a:rPr>
              <a:t>• replay</a:t>
            </a:r>
            <a:r>
              <a:rPr lang="en-US" sz="3200" b="0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;</a:t>
            </a:r>
            <a:endParaRPr sz="3200">
              <a:latin typeface="Roboto"/>
              <a:cs typeface="Roboto"/>
            </a:endParaRPr>
          </a:p>
          <a:p>
            <a:pPr marL="400050" lvl="1" indent="0">
              <a:buNone/>
              <a:defRPr/>
            </a:pPr>
            <a:r>
              <a:rPr lang="ru-RU" sz="3200" b="0" i="0" u="none" strike="noStrike" cap="none" spc="0">
                <a:solidFill>
                  <a:srgbClr val="0F172A"/>
                </a:solidFill>
                <a:latin typeface="Roboto"/>
                <a:ea typeface="Roboto"/>
                <a:cs typeface="Roboto"/>
              </a:rPr>
              <a:t>• </a:t>
            </a:r>
            <a:r>
              <a:rPr lang="ru-RU" sz="3200" b="0" i="0" u="none" strike="noStrike" cap="none" spc="0">
                <a:solidFill>
                  <a:srgbClr val="0F172A"/>
                </a:solidFill>
                <a:latin typeface="Roboto"/>
                <a:ea typeface="Roboto"/>
                <a:cs typeface="Roboto"/>
              </a:rPr>
              <a:t>MITM</a:t>
            </a:r>
            <a:r>
              <a:rPr lang="en-US" sz="3200" b="0" i="0" u="none" strike="noStrike" cap="none" spc="0">
                <a:solidFill>
                  <a:schemeClr val="tx1"/>
                </a:solidFill>
                <a:latin typeface="Roboto"/>
                <a:ea typeface="Roboto"/>
                <a:cs typeface="Roboto"/>
              </a:rPr>
              <a:t>;</a:t>
            </a:r>
            <a:endParaRPr sz="3200">
              <a:latin typeface="Roboto"/>
              <a:cs typeface="Roboto"/>
            </a:endParaRPr>
          </a:p>
          <a:p>
            <a:pPr marL="400050" lvl="1" indent="0">
              <a:buNone/>
              <a:defRPr/>
            </a:pPr>
            <a:r>
              <a:rPr lang="ru-RU" sz="3200" b="0" i="0" u="none" strike="noStrike" cap="none" spc="0">
                <a:solidFill>
                  <a:srgbClr val="0F172A"/>
                </a:solidFill>
                <a:latin typeface="Roboto"/>
                <a:ea typeface="Roboto"/>
                <a:cs typeface="Roboto"/>
              </a:rPr>
              <a:t>• </a:t>
            </a:r>
            <a:r>
              <a:rPr lang="ru-RU" sz="3200" b="0" i="0" u="none" strike="noStrike" cap="none" spc="0">
                <a:solidFill>
                  <a:srgbClr val="0F172A"/>
                </a:solidFill>
                <a:latin typeface="Roboto"/>
                <a:ea typeface="Roboto"/>
                <a:cs typeface="Roboto"/>
              </a:rPr>
              <a:t>Sybil</a:t>
            </a:r>
            <a:r>
              <a:rPr lang="en-US" sz="3200" b="0" i="0" u="none" strike="noStrike" cap="none" spc="0">
                <a:solidFill>
                  <a:srgbClr val="0F172A"/>
                </a:solidFill>
                <a:latin typeface="Roboto"/>
                <a:ea typeface="Roboto"/>
                <a:cs typeface="Roboto"/>
              </a:rPr>
              <a:t>.</a:t>
            </a:r>
            <a:endParaRPr sz="3200">
              <a:latin typeface="Roboto"/>
              <a:cs typeface="Roboto"/>
            </a:endParaRPr>
          </a:p>
        </p:txBody>
      </p:sp>
      <p:sp>
        <p:nvSpPr>
          <p:cNvPr id="626233744" name="Text 97"/>
          <p:cNvSpPr/>
          <p:nvPr/>
        </p:nvSpPr>
        <p:spPr bwMode="auto">
          <a:xfrm flipH="0" flipV="0">
            <a:off x="10907946" y="28280549"/>
            <a:ext cx="8284887" cy="5459445"/>
          </a:xfrm>
          <a:prstGeom prst="rect">
            <a:avLst/>
          </a:prstGeom>
          <a:noFill/>
          <a:ln/>
        </p:spPr>
        <p:txBody>
          <a:bodyPr vertOverflow="overflow" horzOverflow="overflow" vert="horz" wrap="square" lIns="760" tIns="760" rIns="760" bIns="760" numCol="1" spcCol="0" rtlCol="0" fromWordArt="0" anchor="t" anchorCtr="0" forceAA="0" upright="0" compatLnSpc="0">
            <a:normAutofit/>
          </a:bodyPr>
          <a:lstStyle/>
          <a:p>
            <a:pPr marL="0" indent="0">
              <a:buNone/>
              <a:defRPr/>
            </a:pPr>
            <a:r>
              <a:rPr lang="ru-RU" sz="3200" b="1" i="0" u="none" strike="noStrike" cap="none" spc="0">
                <a:solidFill>
                  <a:srgbClr val="0F172A"/>
                </a:solidFill>
                <a:latin typeface="Roboto"/>
                <a:ea typeface="Roboto"/>
                <a:cs typeface="Roboto"/>
              </a:rPr>
              <a:t>Проведены:</a:t>
            </a:r>
            <a:endParaRPr sz="3200">
              <a:latin typeface="Roboto"/>
              <a:cs typeface="Roboto"/>
            </a:endParaRPr>
          </a:p>
          <a:p>
            <a:pPr marL="400050" lvl="1" indent="0">
              <a:buNone/>
              <a:defRPr/>
            </a:pPr>
            <a:r>
              <a:rPr lang="ru-RU" sz="3200" b="0" i="0" u="none" strike="noStrike" cap="none" spc="0">
                <a:solidFill>
                  <a:srgbClr val="0F172A"/>
                </a:solidFill>
                <a:latin typeface="Roboto"/>
                <a:ea typeface="Roboto"/>
                <a:cs typeface="Roboto"/>
              </a:rPr>
              <a:t>• модульное тестирование;</a:t>
            </a:r>
            <a:endParaRPr sz="3200">
              <a:latin typeface="Roboto"/>
              <a:cs typeface="Roboto"/>
            </a:endParaRPr>
          </a:p>
          <a:p>
            <a:pPr marL="400050" lvl="1" indent="0">
              <a:buNone/>
              <a:defRPr/>
            </a:pPr>
            <a:r>
              <a:rPr lang="ru-RU" sz="3200" b="0" i="0" u="none" strike="noStrike" cap="none" spc="0">
                <a:solidFill>
                  <a:srgbClr val="0F172A"/>
                </a:solidFill>
                <a:latin typeface="Roboto"/>
                <a:ea typeface="Roboto"/>
                <a:cs typeface="Roboto"/>
              </a:rPr>
              <a:t>• интеграционное тестирование;</a:t>
            </a:r>
            <a:endParaRPr sz="3200">
              <a:latin typeface="Roboto"/>
              <a:cs typeface="Roboto"/>
            </a:endParaRPr>
          </a:p>
          <a:p>
            <a:pPr marL="400050" lvl="1" indent="0">
              <a:buNone/>
              <a:defRPr/>
            </a:pPr>
            <a:r>
              <a:rPr lang="ru-RU" sz="3200" b="0" i="0" u="none" strike="noStrike" cap="none" spc="0">
                <a:solidFill>
                  <a:srgbClr val="0F172A"/>
                </a:solidFill>
                <a:latin typeface="Roboto"/>
                <a:ea typeface="Roboto"/>
                <a:cs typeface="Roboto"/>
              </a:rPr>
              <a:t>• нагрузочное тестирование;</a:t>
            </a:r>
            <a:endParaRPr sz="3200">
              <a:latin typeface="Roboto"/>
              <a:cs typeface="Roboto"/>
            </a:endParaRPr>
          </a:p>
          <a:p>
            <a:pPr marL="400050" lvl="1" indent="0">
              <a:buNone/>
              <a:defRPr/>
            </a:pPr>
            <a:r>
              <a:rPr lang="ru-RU" sz="3200" b="0" i="0" u="none" strike="noStrike" cap="none" spc="0">
                <a:solidFill>
                  <a:srgbClr val="0F172A"/>
                </a:solidFill>
                <a:latin typeface="Roboto"/>
                <a:ea typeface="Roboto"/>
                <a:cs typeface="Roboto"/>
              </a:rPr>
              <a:t>• тестирование безопасности </a:t>
            </a:r>
            <a:r>
              <a:rPr lang="ru-RU" sz="3200" b="0" i="0" u="none" strike="noStrike" cap="none" spc="0">
                <a:solidFill>
                  <a:srgbClr val="0F172A"/>
                </a:solidFill>
                <a:latin typeface="Roboto"/>
                <a:ea typeface="Roboto"/>
                <a:cs typeface="Roboto"/>
              </a:rPr>
              <a:t>и</a:t>
            </a:r>
            <a:r>
              <a:rPr lang="en-US" sz="3200" b="0" i="0" u="none" strike="noStrike" cap="none" spc="0">
                <a:solidFill>
                  <a:srgbClr val="0F172A"/>
                </a:solidFill>
                <a:latin typeface="Roboto"/>
                <a:ea typeface="Roboto"/>
                <a:cs typeface="Roboto"/>
              </a:rPr>
              <a:t> </a:t>
            </a:r>
            <a:r>
              <a:rPr lang="ru-RU" sz="3200" b="0" i="0" u="none" strike="noStrike" cap="none" spc="0">
                <a:solidFill>
                  <a:srgbClr val="F8FAFC"/>
                </a:solidFill>
                <a:latin typeface="Roboto"/>
                <a:ea typeface="Roboto"/>
                <a:cs typeface="Roboto"/>
              </a:rPr>
              <a:t>и</a:t>
            </a:r>
            <a:r>
              <a:rPr lang="ru-RU" sz="3200" b="0" i="0" u="none" strike="noStrike" cap="none" spc="0">
                <a:solidFill>
                  <a:srgbClr val="0F172A"/>
                </a:solidFill>
                <a:latin typeface="Roboto"/>
                <a:ea typeface="Roboto"/>
                <a:cs typeface="Roboto"/>
              </a:rPr>
              <a:t>отказоустойчивости.</a:t>
            </a:r>
            <a:endParaRPr sz="3200">
              <a:latin typeface="Roboto"/>
              <a:cs typeface="Roboto"/>
            </a:endParaRPr>
          </a:p>
          <a:p>
            <a:pPr marL="0" indent="0">
              <a:buNone/>
              <a:defRPr/>
            </a:pPr>
            <a:endParaRPr sz="3200">
              <a:latin typeface="Roboto"/>
              <a:cs typeface="Roboto"/>
            </a:endParaRPr>
          </a:p>
        </p:txBody>
      </p:sp>
      <p:sp>
        <p:nvSpPr>
          <p:cNvPr id="1733536030" name=""/>
          <p:cNvSpPr txBox="1"/>
          <p:nvPr/>
        </p:nvSpPr>
        <p:spPr bwMode="auto">
          <a:xfrm rot="0" flipH="0" flipV="0">
            <a:off x="20680764" y="26681696"/>
            <a:ext cx="8461618" cy="740700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r>
              <a:rPr lang="ru-RU" sz="3200" b="1">
                <a:solidFill>
                  <a:schemeClr val="tx1"/>
                </a:solidFill>
                <a:latin typeface="Roboto"/>
                <a:ea typeface="Roboto"/>
                <a:cs typeface="Roboto"/>
              </a:rPr>
              <a:t>Типы вершин:</a:t>
            </a:r>
            <a:endParaRPr sz="3200">
              <a:solidFill>
                <a:schemeClr val="tx1"/>
              </a:solidFill>
              <a:latin typeface="Roboto"/>
              <a:ea typeface="Roboto"/>
              <a:cs typeface="Roboto"/>
            </a:endParaRPr>
          </a:p>
          <a:p>
            <a:pPr marL="838129" lvl="1" indent="-438079" algn="l">
              <a:buAutoNum type="arabicPeriod"/>
              <a:defRPr/>
            </a:pPr>
            <a:r>
              <a:rPr lang="en-US" sz="3200">
                <a:solidFill>
                  <a:srgbClr val="0070C0"/>
                </a:solidFill>
                <a:latin typeface="Roboto"/>
                <a:ea typeface="Roboto"/>
                <a:cs typeface="Roboto"/>
              </a:rPr>
              <a:t>Action</a:t>
            </a:r>
            <a:r>
              <a:rPr lang="ru-RU" sz="3200">
                <a:solidFill>
                  <a:srgbClr val="0070C0"/>
                </a:solidFill>
                <a:latin typeface="Roboto"/>
                <a:ea typeface="Roboto"/>
                <a:cs typeface="Roboto"/>
              </a:rPr>
              <a:t> </a:t>
            </a:r>
            <a:r>
              <a:rPr lang="ru-RU" sz="3200">
                <a:solidFill>
                  <a:schemeClr val="tx1"/>
                </a:solidFill>
                <a:latin typeface="Roboto"/>
                <a:ea typeface="Roboto"/>
                <a:cs typeface="Roboto"/>
              </a:rPr>
              <a:t>– действие пользователя</a:t>
            </a:r>
            <a:endParaRPr sz="3200">
              <a:solidFill>
                <a:schemeClr val="tx1"/>
              </a:solidFill>
              <a:latin typeface="Roboto"/>
              <a:ea typeface="Roboto"/>
              <a:cs typeface="Roboto"/>
            </a:endParaRPr>
          </a:p>
          <a:p>
            <a:pPr marL="838129" lvl="1" indent="-438079" algn="l">
              <a:buAutoNum type="arabicPeriod"/>
              <a:defRPr/>
            </a:pPr>
            <a:r>
              <a:rPr lang="en-US" sz="3200">
                <a:solidFill>
                  <a:schemeClr val="accent2"/>
                </a:solidFill>
                <a:latin typeface="Roboto"/>
                <a:ea typeface="Roboto"/>
                <a:cs typeface="Roboto"/>
              </a:rPr>
              <a:t>Receipt</a:t>
            </a:r>
            <a:r>
              <a:rPr lang="ru-RU" sz="3200">
                <a:solidFill>
                  <a:schemeClr val="tx1"/>
                </a:solidFill>
                <a:latin typeface="Roboto"/>
                <a:ea typeface="Roboto"/>
                <a:cs typeface="Roboto"/>
              </a:rPr>
              <a:t> - подтверждение</a:t>
            </a:r>
            <a:endParaRPr sz="3200">
              <a:solidFill>
                <a:schemeClr val="tx1"/>
              </a:solidFill>
              <a:latin typeface="Roboto"/>
              <a:ea typeface="Roboto"/>
              <a:cs typeface="Roboto"/>
            </a:endParaRPr>
          </a:p>
          <a:p>
            <a:pPr marL="838129" lvl="1" indent="-438079" algn="l">
              <a:buAutoNum type="arabicPeriod"/>
              <a:defRPr/>
            </a:pPr>
            <a:r>
              <a:rPr lang="en-US" sz="3200">
                <a:solidFill>
                  <a:srgbClr val="ED331B"/>
                </a:solidFill>
                <a:latin typeface="Roboto"/>
                <a:ea typeface="Roboto"/>
                <a:cs typeface="Roboto"/>
              </a:rPr>
              <a:t>Decision</a:t>
            </a:r>
            <a:r>
              <a:rPr lang="ru-RU" sz="3200">
                <a:solidFill>
                  <a:schemeClr val="tx1"/>
                </a:solidFill>
                <a:latin typeface="Roboto"/>
                <a:ea typeface="Roboto"/>
                <a:cs typeface="Roboto"/>
              </a:rPr>
              <a:t> – решение конфликтов</a:t>
            </a:r>
            <a:endParaRPr sz="3200">
              <a:solidFill>
                <a:schemeClr val="tx1"/>
              </a:solidFill>
              <a:latin typeface="Roboto"/>
              <a:ea typeface="Roboto"/>
              <a:cs typeface="Roboto"/>
            </a:endParaRPr>
          </a:p>
          <a:p>
            <a:pPr marL="838129" lvl="1" indent="-438079" algn="l">
              <a:buAutoNum type="arabicPeriod"/>
              <a:defRPr/>
            </a:pPr>
            <a:r>
              <a:rPr lang="en-US" sz="3200">
                <a:solidFill>
                  <a:srgbClr val="808080"/>
                </a:solidFill>
                <a:latin typeface="Roboto"/>
                <a:ea typeface="Roboto"/>
                <a:cs typeface="Roboto"/>
              </a:rPr>
              <a:t>Checkpoint</a:t>
            </a:r>
            <a:r>
              <a:rPr lang="ru-RU" sz="3200">
                <a:solidFill>
                  <a:schemeClr val="tx1"/>
                </a:solidFill>
                <a:latin typeface="Roboto"/>
                <a:ea typeface="Roboto"/>
                <a:cs typeface="Roboto"/>
              </a:rPr>
              <a:t> – контрольная точка</a:t>
            </a:r>
            <a:endParaRPr sz="3200">
              <a:solidFill>
                <a:schemeClr val="tx1"/>
              </a:solidFill>
              <a:latin typeface="Roboto"/>
              <a:ea typeface="Roboto"/>
              <a:cs typeface="Roboto"/>
            </a:endParaRPr>
          </a:p>
          <a:p>
            <a:pPr algn="l">
              <a:defRPr/>
            </a:pPr>
            <a:r>
              <a:rPr lang="ru-RU" sz="3200" b="1">
                <a:solidFill>
                  <a:schemeClr val="tx1"/>
                </a:solidFill>
                <a:latin typeface="Roboto"/>
                <a:ea typeface="Roboto"/>
                <a:cs typeface="Roboto"/>
              </a:rPr>
              <a:t>Типы связей:</a:t>
            </a:r>
            <a:endParaRPr sz="3200">
              <a:solidFill>
                <a:schemeClr val="tx1"/>
              </a:solidFill>
              <a:latin typeface="Roboto"/>
              <a:ea typeface="Roboto"/>
              <a:cs typeface="Roboto"/>
            </a:endParaRPr>
          </a:p>
          <a:p>
            <a:pPr marL="838129" lvl="1" indent="-438079" algn="l">
              <a:buAutoNum type="arabicPeriod"/>
              <a:defRPr/>
            </a:pPr>
            <a:r>
              <a:rPr lang="en-US" sz="3200">
                <a:solidFill>
                  <a:schemeClr val="tx1"/>
                </a:solidFill>
                <a:latin typeface="Roboto"/>
                <a:ea typeface="Roboto"/>
                <a:cs typeface="Roboto"/>
              </a:rPr>
              <a:t>self</a:t>
            </a:r>
            <a:r>
              <a:rPr lang="ru-RU" sz="3200">
                <a:solidFill>
                  <a:schemeClr val="tx1"/>
                </a:solidFill>
                <a:latin typeface="Roboto"/>
                <a:ea typeface="Roboto"/>
                <a:cs typeface="Roboto"/>
              </a:rPr>
              <a:t> – предыдущее действие автора</a:t>
            </a:r>
            <a:endParaRPr sz="3200">
              <a:solidFill>
                <a:schemeClr val="tx1"/>
              </a:solidFill>
              <a:latin typeface="Roboto"/>
              <a:ea typeface="Roboto"/>
              <a:cs typeface="Roboto"/>
            </a:endParaRPr>
          </a:p>
          <a:p>
            <a:pPr marL="838129" lvl="1" indent="-438079" algn="l">
              <a:buAutoNum type="arabicPeriod"/>
              <a:defRPr/>
            </a:pPr>
            <a:r>
              <a:rPr lang="en-US" sz="3200">
                <a:solidFill>
                  <a:schemeClr val="tx1"/>
                </a:solidFill>
                <a:latin typeface="Roboto"/>
                <a:ea typeface="Roboto"/>
                <a:cs typeface="Roboto"/>
              </a:rPr>
              <a:t>context</a:t>
            </a:r>
            <a:r>
              <a:rPr lang="ru-RU" sz="3200">
                <a:solidFill>
                  <a:schemeClr val="tx1"/>
                </a:solidFill>
                <a:latin typeface="Roboto"/>
                <a:ea typeface="Roboto"/>
                <a:cs typeface="Roboto"/>
              </a:rPr>
              <a:t> – предыдущее событие</a:t>
            </a:r>
            <a:endParaRPr sz="3200">
              <a:solidFill>
                <a:schemeClr val="tx1"/>
              </a:solidFill>
              <a:latin typeface="Roboto"/>
              <a:ea typeface="Roboto"/>
              <a:cs typeface="Roboto"/>
            </a:endParaRPr>
          </a:p>
          <a:p>
            <a:pPr marL="838129" lvl="1" indent="-438079" algn="l">
              <a:buAutoNum type="arabicPeriod"/>
              <a:defRPr/>
            </a:pPr>
            <a:r>
              <a:rPr lang="en-US" sz="3200">
                <a:solidFill>
                  <a:schemeClr val="tx1"/>
                </a:solidFill>
                <a:latin typeface="Roboto"/>
                <a:ea typeface="Roboto"/>
                <a:cs typeface="Roboto"/>
              </a:rPr>
              <a:t>anchor</a:t>
            </a:r>
            <a:r>
              <a:rPr lang="ru-RU" sz="3200">
                <a:solidFill>
                  <a:schemeClr val="tx1"/>
                </a:solidFill>
                <a:latin typeface="Roboto"/>
                <a:ea typeface="Roboto"/>
                <a:cs typeface="Roboto"/>
              </a:rPr>
              <a:t> – случайная стаб. вершина</a:t>
            </a:r>
            <a:endParaRPr/>
          </a:p>
          <a:p>
            <a:pPr lvl="0" algn="l">
              <a:defRPr/>
            </a:pPr>
            <a:endParaRPr lang="ru-RU" sz="3200">
              <a:latin typeface="Roboto"/>
              <a:ea typeface="Roboto"/>
              <a:cs typeface="Roboto"/>
            </a:endParaRPr>
          </a:p>
          <a:p>
            <a:pPr lvl="0" algn="l">
              <a:defRPr/>
            </a:pPr>
            <a:r>
              <a:rPr lang="ru-RU" sz="3200">
                <a:latin typeface="Roboto"/>
                <a:ea typeface="Roboto"/>
                <a:cs typeface="Roboto"/>
              </a:rPr>
              <a:t>Проверяемая и связанная структура</a:t>
            </a:r>
            <a:endParaRPr lang="ru-RU" sz="3200">
              <a:latin typeface="Roboto"/>
              <a:ea typeface="Roboto"/>
              <a:cs typeface="Roboto"/>
            </a:endParaRPr>
          </a:p>
          <a:p>
            <a:pPr lvl="0" algn="l">
              <a:defRPr/>
            </a:pPr>
            <a:r>
              <a:rPr lang="ru-RU" sz="3200">
                <a:latin typeface="Roboto"/>
                <a:ea typeface="Roboto"/>
                <a:cs typeface="Roboto"/>
              </a:rPr>
              <a:t>Параллельная обработка событий сети</a:t>
            </a:r>
            <a:endParaRPr lang="ru-RU" sz="3200">
              <a:latin typeface="Roboto"/>
              <a:ea typeface="Roboto"/>
              <a:cs typeface="Roboto"/>
            </a:endParaRPr>
          </a:p>
          <a:p>
            <a:pPr lvl="0" algn="l">
              <a:defRPr/>
            </a:pPr>
            <a:r>
              <a:rPr lang="ru-RU" sz="3200">
                <a:latin typeface="Roboto"/>
                <a:ea typeface="Roboto"/>
                <a:cs typeface="Roboto"/>
              </a:rPr>
              <a:t>Локализует конфликты</a:t>
            </a:r>
            <a:endParaRPr lang="ru-RU" sz="3200">
              <a:latin typeface="Roboto"/>
              <a:ea typeface="Roboto"/>
              <a:cs typeface="Roboto"/>
            </a:endParaRPr>
          </a:p>
          <a:p>
            <a:pPr lvl="0" algn="l">
              <a:defRPr/>
            </a:pPr>
            <a:r>
              <a:rPr lang="ru-RU" sz="3200">
                <a:latin typeface="Roboto"/>
                <a:ea typeface="Roboto"/>
                <a:cs typeface="Roboto"/>
              </a:rPr>
              <a:t>Эффективно синхронизируется</a:t>
            </a:r>
            <a:endParaRPr lang="ru-RU" sz="3200">
              <a:latin typeface="Roboto"/>
              <a:ea typeface="Roboto"/>
              <a:cs typeface="Roboto"/>
            </a:endParaRPr>
          </a:p>
          <a:p>
            <a:pPr lvl="0" algn="l">
              <a:defRPr/>
            </a:pPr>
            <a:endParaRPr sz="3200">
              <a:solidFill>
                <a:schemeClr val="tx1"/>
              </a:solidFill>
              <a:latin typeface="Roboto"/>
              <a:cs typeface="Roboto"/>
            </a:endParaRPr>
          </a:p>
        </p:txBody>
      </p:sp>
      <p:sp>
        <p:nvSpPr>
          <p:cNvPr id="1231359540" name="Text 134"/>
          <p:cNvSpPr/>
          <p:nvPr/>
        </p:nvSpPr>
        <p:spPr bwMode="auto">
          <a:xfrm>
            <a:off x="11191665" y="31888334"/>
            <a:ext cx="7927848" cy="1463040"/>
          </a:xfrm>
          <a:prstGeom prst="rect">
            <a:avLst/>
          </a:prstGeom>
          <a:noFill/>
          <a:ln/>
        </p:spPr>
        <p:txBody>
          <a:bodyPr vertOverflow="overflow" horzOverflow="overflow" vert="horz" wrap="square" lIns="761" tIns="761" rIns="761" bIns="761" numCol="1" spcCol="0" rtlCol="0" fromWordArt="0" anchor="ctr" anchorCtr="0" forceAA="0" upright="0" compatLnSpc="0">
            <a:normAutofit fontScale="85000" lnSpcReduction="3000"/>
          </a:bodyPr>
          <a:lstStyle/>
          <a:p>
            <a:pPr marL="0" indent="0" algn="ctr">
              <a:buNone/>
              <a:defRPr/>
            </a:pPr>
            <a:r>
              <a:rPr lang="ru-RU" sz="3600" b="1">
                <a:solidFill>
                  <a:srgbClr val="166534"/>
                </a:solidFill>
                <a:latin typeface="Roboto"/>
                <a:ea typeface="Roboto"/>
                <a:cs typeface="Roboto"/>
              </a:rPr>
              <a:t>Продукт обеспечивает функциональную достаточность противодействия описанным угрозам на уровне прототипа</a:t>
            </a:r>
            <a:endParaRPr sz="3600">
              <a:latin typeface="Roboto"/>
              <a:cs typeface="Roboto"/>
            </a:endParaRPr>
          </a:p>
        </p:txBody>
      </p:sp>
      <p:sp>
        <p:nvSpPr>
          <p:cNvPr id="716246688" name="Shape 28"/>
          <p:cNvSpPr/>
          <p:nvPr/>
        </p:nvSpPr>
        <p:spPr bwMode="auto">
          <a:xfrm flipH="0" flipV="1">
            <a:off x="2522836" y="10379322"/>
            <a:ext cx="158983" cy="920208"/>
          </a:xfrm>
          <a:prstGeom prst="line">
            <a:avLst/>
          </a:prstGeom>
          <a:noFill/>
          <a:ln w="38100">
            <a:solidFill>
              <a:srgbClr val="2F528F"/>
            </a:solidFill>
            <a:prstDash val="solid"/>
            <a:tailEnd type="triangle"/>
          </a:ln>
        </p:spPr>
      </p:sp>
      <p:sp>
        <p:nvSpPr>
          <p:cNvPr id="1548430032" name=""/>
          <p:cNvSpPr/>
          <p:nvPr/>
        </p:nvSpPr>
        <p:spPr bwMode="auto">
          <a:xfrm rot="19752489" flipH="1" flipV="0">
            <a:off x="3106560" y="11179524"/>
            <a:ext cx="1983881" cy="738185"/>
          </a:xfrm>
          <a:prstGeom prst="ellipse">
            <a:avLst/>
          </a:prstGeom>
          <a:solidFill>
            <a:srgbClr val="1D939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ru-RU" sz="2800">
                <a:solidFill>
                  <a:schemeClr val="bg1"/>
                </a:solidFill>
                <a:latin typeface="Roboto"/>
                <a:ea typeface="Roboto"/>
                <a:cs typeface="Roboto"/>
              </a:rPr>
              <a:t>Клиент</a:t>
            </a:r>
            <a:endParaRPr sz="2800">
              <a:solidFill>
                <a:schemeClr val="bg1"/>
              </a:solidFill>
              <a:latin typeface="Roboto"/>
              <a:cs typeface="Roboto"/>
            </a:endParaRPr>
          </a:p>
        </p:txBody>
      </p:sp>
      <p:sp>
        <p:nvSpPr>
          <p:cNvPr id="1142260938" name=""/>
          <p:cNvSpPr/>
          <p:nvPr/>
        </p:nvSpPr>
        <p:spPr bwMode="auto">
          <a:xfrm rot="0" flipH="0" flipV="0">
            <a:off x="7596913" y="11311806"/>
            <a:ext cx="1826128" cy="738185"/>
          </a:xfrm>
          <a:prstGeom prst="ellipse">
            <a:avLst/>
          </a:prstGeom>
          <a:solidFill>
            <a:srgbClr val="149BB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ru-RU" sz="2800">
                <a:solidFill>
                  <a:schemeClr val="bg1"/>
                </a:solidFill>
                <a:latin typeface="Roboto"/>
                <a:ea typeface="Roboto"/>
                <a:cs typeface="Roboto"/>
              </a:rPr>
              <a:t>Узел</a:t>
            </a:r>
            <a:endParaRPr sz="2800">
              <a:solidFill>
                <a:schemeClr val="bg1"/>
              </a:solidFill>
              <a:latin typeface="Roboto"/>
              <a:cs typeface="Roboto"/>
            </a:endParaRPr>
          </a:p>
        </p:txBody>
      </p:sp>
      <p:sp>
        <p:nvSpPr>
          <p:cNvPr id="2106351909" name=""/>
          <p:cNvSpPr/>
          <p:nvPr/>
        </p:nvSpPr>
        <p:spPr bwMode="auto">
          <a:xfrm rot="0" flipH="0" flipV="0">
            <a:off x="5482685" y="9644283"/>
            <a:ext cx="1826128" cy="738185"/>
          </a:xfrm>
          <a:prstGeom prst="ellipse">
            <a:avLst/>
          </a:prstGeom>
          <a:solidFill>
            <a:srgbClr val="149BB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ru-RU" sz="2800">
                <a:solidFill>
                  <a:schemeClr val="bg1"/>
                </a:solidFill>
                <a:latin typeface="Roboto"/>
                <a:ea typeface="Roboto"/>
                <a:cs typeface="Roboto"/>
              </a:rPr>
              <a:t>Узел</a:t>
            </a:r>
            <a:endParaRPr sz="2800">
              <a:solidFill>
                <a:schemeClr val="bg1"/>
              </a:solidFill>
              <a:latin typeface="Roboto"/>
              <a:cs typeface="Roboto"/>
            </a:endParaRPr>
          </a:p>
        </p:txBody>
      </p:sp>
      <p:sp>
        <p:nvSpPr>
          <p:cNvPr id="88690078" name=""/>
          <p:cNvSpPr/>
          <p:nvPr/>
        </p:nvSpPr>
        <p:spPr bwMode="auto">
          <a:xfrm rot="0" flipH="0" flipV="0">
            <a:off x="7596913" y="9650937"/>
            <a:ext cx="1826128" cy="738185"/>
          </a:xfrm>
          <a:prstGeom prst="ellipse">
            <a:avLst/>
          </a:prstGeom>
          <a:solidFill>
            <a:srgbClr val="149BB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ru-RU" sz="2800">
                <a:solidFill>
                  <a:schemeClr val="bg1"/>
                </a:solidFill>
                <a:latin typeface="Roboto"/>
                <a:ea typeface="Roboto"/>
                <a:cs typeface="Roboto"/>
              </a:rPr>
              <a:t>Узел</a:t>
            </a:r>
            <a:endParaRPr sz="2800">
              <a:solidFill>
                <a:schemeClr val="bg1"/>
              </a:solidFill>
              <a:latin typeface="Roboto"/>
              <a:cs typeface="Roboto"/>
            </a:endParaRPr>
          </a:p>
        </p:txBody>
      </p:sp>
      <p:sp>
        <p:nvSpPr>
          <p:cNvPr id="992424738" name="Shape 28"/>
          <p:cNvSpPr/>
          <p:nvPr/>
        </p:nvSpPr>
        <p:spPr bwMode="auto">
          <a:xfrm rot="6897683" flipH="0" flipV="1">
            <a:off x="5851358" y="10647198"/>
            <a:ext cx="830464" cy="386570"/>
          </a:xfrm>
          <a:prstGeom prst="line">
            <a:avLst/>
          </a:prstGeom>
          <a:noFill/>
          <a:ln w="38100">
            <a:solidFill>
              <a:srgbClr val="2F528F"/>
            </a:solidFill>
            <a:prstDash val="solid"/>
            <a:tailEnd type="triangle"/>
          </a:ln>
        </p:spPr>
      </p:sp>
      <p:sp>
        <p:nvSpPr>
          <p:cNvPr id="1967229890" name="Shape 28"/>
          <p:cNvSpPr/>
          <p:nvPr/>
        </p:nvSpPr>
        <p:spPr bwMode="auto">
          <a:xfrm rot="17697684" flipH="0" flipV="0">
            <a:off x="6570569" y="10158428"/>
            <a:ext cx="1636783" cy="1367984"/>
          </a:xfrm>
          <a:prstGeom prst="line">
            <a:avLst/>
          </a:prstGeom>
          <a:noFill/>
          <a:ln w="38100">
            <a:solidFill>
              <a:srgbClr val="2F528F"/>
            </a:solidFill>
            <a:prstDash val="solid"/>
            <a:tailEnd type="triangle"/>
          </a:ln>
        </p:spPr>
      </p:sp>
      <p:sp>
        <p:nvSpPr>
          <p:cNvPr id="96304877" name="Shape 28"/>
          <p:cNvSpPr/>
          <p:nvPr/>
        </p:nvSpPr>
        <p:spPr bwMode="auto">
          <a:xfrm rot="17697684" flipH="1" flipV="0">
            <a:off x="7388073" y="9765663"/>
            <a:ext cx="0" cy="2157327"/>
          </a:xfrm>
          <a:prstGeom prst="line">
            <a:avLst/>
          </a:prstGeom>
          <a:noFill/>
          <a:ln w="38100">
            <a:solidFill>
              <a:srgbClr val="2F528F"/>
            </a:solidFill>
            <a:prstDash val="solid"/>
            <a:tailEnd type="triangle"/>
          </a:ln>
        </p:spPr>
      </p:sp>
      <p:sp>
        <p:nvSpPr>
          <p:cNvPr id="1679585256" name="Text 97"/>
          <p:cNvSpPr/>
          <p:nvPr/>
        </p:nvSpPr>
        <p:spPr bwMode="auto">
          <a:xfrm flipH="0" flipV="0">
            <a:off x="1319797" y="31634735"/>
            <a:ext cx="8328537" cy="2105259"/>
          </a:xfrm>
          <a:prstGeom prst="rect">
            <a:avLst/>
          </a:prstGeom>
          <a:noFill/>
          <a:ln/>
        </p:spPr>
        <p:txBody>
          <a:bodyPr vertOverflow="overflow" horzOverflow="overflow" vert="horz" wrap="square" lIns="760" tIns="760" rIns="760" bIns="76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lang="ru-RU" sz="3200">
                <a:latin typeface="Roboto"/>
                <a:ea typeface="Roboto"/>
                <a:cs typeface="Roboto"/>
              </a:rPr>
              <a:t>Проверка без глобального консенсуса</a:t>
            </a:r>
            <a:endParaRPr lang="ru-RU" sz="3200">
              <a:latin typeface="Roboto"/>
              <a:ea typeface="Roboto"/>
              <a:cs typeface="Roboto"/>
            </a:endParaRPr>
          </a:p>
          <a:p>
            <a:pPr>
              <a:defRPr/>
            </a:pPr>
            <a:r>
              <a:rPr lang="ru-RU" sz="3200">
                <a:latin typeface="Roboto"/>
                <a:ea typeface="Roboto"/>
                <a:cs typeface="Roboto"/>
              </a:rPr>
              <a:t>Снижает нагрузку на узлы</a:t>
            </a:r>
            <a:endParaRPr lang="ru-RU" sz="3200">
              <a:latin typeface="Roboto"/>
              <a:ea typeface="Roboto"/>
              <a:cs typeface="Roboto"/>
            </a:endParaRPr>
          </a:p>
          <a:p>
            <a:pPr>
              <a:defRPr/>
            </a:pPr>
            <a:r>
              <a:rPr lang="ru-RU" sz="3200">
                <a:latin typeface="Roboto"/>
                <a:ea typeface="Roboto"/>
                <a:cs typeface="Roboto"/>
              </a:rPr>
              <a:t>Повышает масштабируемость</a:t>
            </a:r>
            <a:endParaRPr lang="ru-RU" sz="3200">
              <a:latin typeface="Roboto"/>
              <a:ea typeface="Roboto"/>
              <a:cs typeface="Roboto"/>
            </a:endParaRPr>
          </a:p>
          <a:p>
            <a:pPr>
              <a:defRPr/>
            </a:pPr>
            <a:r>
              <a:rPr lang="ru-RU" sz="3200">
                <a:latin typeface="Roboto"/>
                <a:ea typeface="Roboto"/>
                <a:cs typeface="Roboto"/>
              </a:rPr>
              <a:t>Гарантирует</a:t>
            </a:r>
            <a:r>
              <a:rPr lang="ru-RU" sz="3200">
                <a:latin typeface="Roboto"/>
                <a:ea typeface="Roboto"/>
                <a:cs typeface="Roboto"/>
              </a:rPr>
              <a:t> проверяемость действий</a:t>
            </a:r>
            <a:endParaRPr sz="3200">
              <a:latin typeface="Roboto"/>
              <a:cs typeface="Roboto"/>
            </a:endParaRPr>
          </a:p>
        </p:txBody>
      </p:sp>
      <p:sp>
        <p:nvSpPr>
          <p:cNvPr id="478348195" name=""/>
          <p:cNvSpPr txBox="1"/>
          <p:nvPr/>
        </p:nvSpPr>
        <p:spPr bwMode="auto">
          <a:xfrm rot="0" flipH="0" flipV="0">
            <a:off x="-32939" y="41702271"/>
            <a:ext cx="30311963" cy="8233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lang="ru-RU" sz="4800" b="1">
                <a:solidFill>
                  <a:srgbClr val="F8FAFC"/>
                </a:solidFill>
                <a:latin typeface="Roboto"/>
                <a:ea typeface="Roboto"/>
                <a:cs typeface="Roboto"/>
              </a:rPr>
              <a:t>ВСОШ — ИНФОРМАЦИОННАЯ БЕЗОПАСНОСТЬ — ЗАКЛЮЧИТЕЛЬНЫЙ ЭТАП</a:t>
            </a:r>
            <a:endParaRPr sz="4800" b="1">
              <a:solidFill>
                <a:srgbClr val="F8FAFC"/>
              </a:solidFill>
              <a:latin typeface="Roboto"/>
              <a:cs typeface="Roboto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Times New Roman"/>
        <a:ea typeface="Arial"/>
        <a:cs typeface="Arial"/>
      </a:majorFont>
      <a:minorFont>
        <a:latin typeface="Times New Roman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ONLYOFFICE/9.3.1.8</Application>
  <PresentationFormat>On-screen Show (4:3)</PresentationFormat>
  <Paragraphs>0</Paragraphs>
  <Slides>1</Slides>
  <Notes>1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2" baseType="lpstr">
      <vt:lpstr>Theme 1</vt:lpstr>
      <vt:lpstr>Slide 1</vt:lpstr>
    </vt:vector>
  </TitlesOfParts>
  <Company>PptxGenJS</Company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P2P-сеть нового поколения для dApps и пользовательской идентификации</dc:title>
  <dc:subject>PptxGenJS Presentation</dc:subject>
  <dc:creator>Брылёв Альберт</dc:creator>
  <cp:lastModifiedBy/>
  <cp:revision>4</cp:revision>
  <dcterms:created xsi:type="dcterms:W3CDTF">2026-03-19T09:20:35Z</dcterms:created>
  <dcterms:modified xsi:type="dcterms:W3CDTF">2026-03-20T18:50:31Z</dcterms:modified>
</cp:coreProperties>
</file>